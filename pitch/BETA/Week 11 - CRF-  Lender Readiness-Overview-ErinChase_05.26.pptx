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4"/>
    <p:sldMasterId id="2147483713" r:id="rId5"/>
    <p:sldMasterId id="2147483682" r:id="rId6"/>
  </p:sldMasterIdLst>
  <p:notesMasterIdLst>
    <p:notesMasterId r:id="rId18"/>
  </p:notesMasterIdLst>
  <p:sldIdLst>
    <p:sldId id="3494" r:id="rId7"/>
    <p:sldId id="3496" r:id="rId8"/>
    <p:sldId id="3514" r:id="rId9"/>
    <p:sldId id="3497" r:id="rId10"/>
    <p:sldId id="3706" r:id="rId11"/>
    <p:sldId id="3515" r:id="rId12"/>
    <p:sldId id="3530" r:id="rId13"/>
    <p:sldId id="3704" r:id="rId14"/>
    <p:sldId id="3647" r:id="rId15"/>
    <p:sldId id="3521" r:id="rId16"/>
    <p:sldId id="84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D3CF"/>
    <a:srgbClr val="FE3D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26"/>
    <p:restoredTop sz="60558" autoAdjust="0"/>
  </p:normalViewPr>
  <p:slideViewPr>
    <p:cSldViewPr snapToGrid="0">
      <p:cViewPr varScale="1">
        <p:scale>
          <a:sx n="48" d="100"/>
          <a:sy n="48" d="100"/>
        </p:scale>
        <p:origin x="204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Chase" userId="74dcbca2-3119-4fb7-9f50-aa075bdbdcf0" providerId="ADAL" clId="{EE28BB09-09D4-455E-A0BE-E91410856879}"/>
    <pc:docChg chg="delSld modSld">
      <pc:chgData name="Erin Chase" userId="74dcbca2-3119-4fb7-9f50-aa075bdbdcf0" providerId="ADAL" clId="{EE28BB09-09D4-455E-A0BE-E91410856879}" dt="2026-07-21T13:56:00.668" v="19" actId="20577"/>
      <pc:docMkLst>
        <pc:docMk/>
      </pc:docMkLst>
      <pc:sldChg chg="modSp mod">
        <pc:chgData name="Erin Chase" userId="74dcbca2-3119-4fb7-9f50-aa075bdbdcf0" providerId="ADAL" clId="{EE28BB09-09D4-455E-A0BE-E91410856879}" dt="2026-07-21T13:56:00.668" v="19" actId="20577"/>
        <pc:sldMkLst>
          <pc:docMk/>
          <pc:sldMk cId="2170358305" sldId="3521"/>
        </pc:sldMkLst>
        <pc:spChg chg="mod">
          <ac:chgData name="Erin Chase" userId="74dcbca2-3119-4fb7-9f50-aa075bdbdcf0" providerId="ADAL" clId="{EE28BB09-09D4-455E-A0BE-E91410856879}" dt="2026-07-21T13:56:00.668" v="19" actId="20577"/>
          <ac:spMkLst>
            <pc:docMk/>
            <pc:sldMk cId="2170358305" sldId="3521"/>
            <ac:spMk id="5" creationId="{00000000-0000-0000-0000-000000000000}"/>
          </ac:spMkLst>
        </pc:spChg>
      </pc:sldChg>
      <pc:sldChg chg="modSp mod">
        <pc:chgData name="Erin Chase" userId="74dcbca2-3119-4fb7-9f50-aa075bdbdcf0" providerId="ADAL" clId="{EE28BB09-09D4-455E-A0BE-E91410856879}" dt="2026-07-21T13:53:32.858" v="0" actId="6549"/>
        <pc:sldMkLst>
          <pc:docMk/>
          <pc:sldMk cId="1184774004" sldId="3647"/>
        </pc:sldMkLst>
        <pc:spChg chg="mod">
          <ac:chgData name="Erin Chase" userId="74dcbca2-3119-4fb7-9f50-aa075bdbdcf0" providerId="ADAL" clId="{EE28BB09-09D4-455E-A0BE-E91410856879}" dt="2026-07-21T13:53:32.858" v="0" actId="6549"/>
          <ac:spMkLst>
            <pc:docMk/>
            <pc:sldMk cId="1184774004" sldId="3647"/>
            <ac:spMk id="2" creationId="{00000000-0000-0000-0000-000000000000}"/>
          </ac:spMkLst>
        </pc:spChg>
      </pc:sldChg>
      <pc:sldChg chg="del">
        <pc:chgData name="Erin Chase" userId="74dcbca2-3119-4fb7-9f50-aa075bdbdcf0" providerId="ADAL" clId="{EE28BB09-09D4-455E-A0BE-E91410856879}" dt="2026-07-21T13:55:54.355" v="18" actId="2696"/>
        <pc:sldMkLst>
          <pc:docMk/>
          <pc:sldMk cId="2623555478" sldId="370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4EAF8F-34D2-46F7-A4F2-9536B1B78625}"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B5D6E357-E2D3-48D3-9A5D-9F62D1900750}">
      <dgm:prSet/>
      <dgm:spPr/>
      <dgm:t>
        <a:bodyPr/>
        <a:lstStyle/>
        <a:p>
          <a:r>
            <a:rPr lang="en-US" b="1" dirty="0"/>
            <a:t>Power of Self Awareness</a:t>
          </a:r>
        </a:p>
      </dgm:t>
    </dgm:pt>
    <dgm:pt modelId="{686CF867-499A-4C55-BDF0-CFBB5959F0C4}" type="parTrans" cxnId="{25755A2F-59EB-4D4C-938F-7E3D750B96F4}">
      <dgm:prSet/>
      <dgm:spPr/>
      <dgm:t>
        <a:bodyPr/>
        <a:lstStyle/>
        <a:p>
          <a:endParaRPr lang="en-US"/>
        </a:p>
      </dgm:t>
    </dgm:pt>
    <dgm:pt modelId="{AA0FEFE3-FE80-4833-9E7A-2DE55015AEC8}" type="sibTrans" cxnId="{25755A2F-59EB-4D4C-938F-7E3D750B96F4}">
      <dgm:prSet/>
      <dgm:spPr/>
      <dgm:t>
        <a:bodyPr/>
        <a:lstStyle/>
        <a:p>
          <a:endParaRPr lang="en-US"/>
        </a:p>
      </dgm:t>
    </dgm:pt>
    <dgm:pt modelId="{DA9EC3D3-3B55-4DCC-B739-75106BDEB9E6}">
      <dgm:prSet/>
      <dgm:spPr/>
      <dgm:t>
        <a:bodyPr/>
        <a:lstStyle/>
        <a:p>
          <a:r>
            <a:rPr lang="en-US" b="1" dirty="0"/>
            <a:t>What’s the Difference? Bank vs. CDFI</a:t>
          </a:r>
        </a:p>
      </dgm:t>
    </dgm:pt>
    <dgm:pt modelId="{4B18232F-57A4-4E40-AF09-BEC31EC79B15}" type="parTrans" cxnId="{D541364A-E79D-4189-8421-88C98E0F0ACD}">
      <dgm:prSet/>
      <dgm:spPr/>
      <dgm:t>
        <a:bodyPr/>
        <a:lstStyle/>
        <a:p>
          <a:endParaRPr lang="en-US"/>
        </a:p>
      </dgm:t>
    </dgm:pt>
    <dgm:pt modelId="{5C1D1D0D-0625-4BFC-BA12-60F247DDCCEA}" type="sibTrans" cxnId="{D541364A-E79D-4189-8421-88C98E0F0ACD}">
      <dgm:prSet/>
      <dgm:spPr/>
      <dgm:t>
        <a:bodyPr/>
        <a:lstStyle/>
        <a:p>
          <a:endParaRPr lang="en-US"/>
        </a:p>
      </dgm:t>
    </dgm:pt>
    <dgm:pt modelId="{5F5CA68B-2876-495C-B9CD-9DD776BA6032}">
      <dgm:prSet/>
      <dgm:spPr/>
      <dgm:t>
        <a:bodyPr/>
        <a:lstStyle/>
        <a:p>
          <a:r>
            <a:rPr lang="en-US" b="1" dirty="0">
              <a:effectLst>
                <a:outerShdw blurRad="38100" dist="38100" dir="2700000" algn="tl">
                  <a:srgbClr val="000000">
                    <a:alpha val="43137"/>
                  </a:srgbClr>
                </a:outerShdw>
              </a:effectLst>
            </a:rPr>
            <a:t>Tell Your Story</a:t>
          </a:r>
          <a:endParaRPr lang="en-US" b="1" dirty="0"/>
        </a:p>
      </dgm:t>
    </dgm:pt>
    <dgm:pt modelId="{A295F318-B540-4D98-A95F-61A0B497AAF1}" type="parTrans" cxnId="{D6783DBA-AD29-45D4-B83C-A52762E47912}">
      <dgm:prSet/>
      <dgm:spPr/>
      <dgm:t>
        <a:bodyPr/>
        <a:lstStyle/>
        <a:p>
          <a:endParaRPr lang="en-US"/>
        </a:p>
      </dgm:t>
    </dgm:pt>
    <dgm:pt modelId="{0569B163-7D64-415D-945D-0BE24E5206A8}" type="sibTrans" cxnId="{D6783DBA-AD29-45D4-B83C-A52762E47912}">
      <dgm:prSet/>
      <dgm:spPr/>
      <dgm:t>
        <a:bodyPr/>
        <a:lstStyle/>
        <a:p>
          <a:endParaRPr lang="en-US"/>
        </a:p>
      </dgm:t>
    </dgm:pt>
    <dgm:pt modelId="{6E9E2F64-44FF-47B8-A8D0-0F5621D2DB84}">
      <dgm:prSet/>
      <dgm:spPr/>
      <dgm:t>
        <a:bodyPr/>
        <a:lstStyle/>
        <a:p>
          <a:r>
            <a:rPr lang="en-US" b="1" dirty="0"/>
            <a:t>Term Loans </a:t>
          </a:r>
        </a:p>
      </dgm:t>
    </dgm:pt>
    <dgm:pt modelId="{6B7F207B-55F9-4860-BD3D-BE945FFB77C8}" type="parTrans" cxnId="{4D477E3A-9C02-4D37-890B-7012E83FF5B2}">
      <dgm:prSet/>
      <dgm:spPr/>
      <dgm:t>
        <a:bodyPr/>
        <a:lstStyle/>
        <a:p>
          <a:endParaRPr lang="en-US"/>
        </a:p>
      </dgm:t>
    </dgm:pt>
    <dgm:pt modelId="{80B0160A-B9CB-4B04-BB3F-1CD5A49A1C30}" type="sibTrans" cxnId="{4D477E3A-9C02-4D37-890B-7012E83FF5B2}">
      <dgm:prSet/>
      <dgm:spPr/>
      <dgm:t>
        <a:bodyPr/>
        <a:lstStyle/>
        <a:p>
          <a:endParaRPr lang="en-US"/>
        </a:p>
      </dgm:t>
    </dgm:pt>
    <dgm:pt modelId="{D129470C-D880-4237-A59E-68FEAE810A73}">
      <dgm:prSet/>
      <dgm:spPr/>
      <dgm:t>
        <a:bodyPr/>
        <a:lstStyle/>
        <a:p>
          <a:r>
            <a:rPr lang="en-US" b="1" dirty="0"/>
            <a:t>Lines of Credit</a:t>
          </a:r>
        </a:p>
      </dgm:t>
    </dgm:pt>
    <dgm:pt modelId="{6F93A37E-D7A6-402D-8C56-904AD5624822}" type="parTrans" cxnId="{8C3B2B4F-BFC6-4B19-9979-9F0B3D9B718F}">
      <dgm:prSet/>
      <dgm:spPr/>
      <dgm:t>
        <a:bodyPr/>
        <a:lstStyle/>
        <a:p>
          <a:endParaRPr lang="en-US"/>
        </a:p>
      </dgm:t>
    </dgm:pt>
    <dgm:pt modelId="{CA6B75BC-7A5E-4E9D-8A22-2BAE7114FF9F}" type="sibTrans" cxnId="{8C3B2B4F-BFC6-4B19-9979-9F0B3D9B718F}">
      <dgm:prSet/>
      <dgm:spPr/>
      <dgm:t>
        <a:bodyPr/>
        <a:lstStyle/>
        <a:p>
          <a:endParaRPr lang="en-US"/>
        </a:p>
      </dgm:t>
    </dgm:pt>
    <dgm:pt modelId="{0FC65305-BE49-4C5B-AABC-0EA22247A03F}">
      <dgm:prSet/>
      <dgm:spPr/>
      <dgm:t>
        <a:bodyPr/>
        <a:lstStyle/>
        <a:p>
          <a:r>
            <a:rPr lang="en-US" b="1" dirty="0"/>
            <a:t>Get Lender Ready</a:t>
          </a:r>
        </a:p>
      </dgm:t>
    </dgm:pt>
    <dgm:pt modelId="{AFA12B72-5707-44A3-8DA2-D79DD65C23D4}" type="parTrans" cxnId="{CFC7329A-7617-49F8-B5B1-1E0B66E356AC}">
      <dgm:prSet/>
      <dgm:spPr/>
      <dgm:t>
        <a:bodyPr/>
        <a:lstStyle/>
        <a:p>
          <a:endParaRPr lang="en-US"/>
        </a:p>
      </dgm:t>
    </dgm:pt>
    <dgm:pt modelId="{B253106B-4D85-48A1-9581-B73DA9092837}" type="sibTrans" cxnId="{CFC7329A-7617-49F8-B5B1-1E0B66E356AC}">
      <dgm:prSet/>
      <dgm:spPr/>
      <dgm:t>
        <a:bodyPr/>
        <a:lstStyle/>
        <a:p>
          <a:endParaRPr lang="en-US"/>
        </a:p>
      </dgm:t>
    </dgm:pt>
    <dgm:pt modelId="{065252F5-27AB-4E47-91CF-C79FDA557285}">
      <dgm:prSet/>
      <dgm:spPr/>
      <dgm:t>
        <a:bodyPr/>
        <a:lstStyle/>
        <a:p>
          <a:r>
            <a:rPr lang="en-US" b="1" dirty="0"/>
            <a:t>Success Stories</a:t>
          </a:r>
        </a:p>
      </dgm:t>
    </dgm:pt>
    <dgm:pt modelId="{E7C1A8C8-661F-440F-9CF0-52530C8D12CE}" type="parTrans" cxnId="{7175E163-14DB-495F-9967-695C23E5D701}">
      <dgm:prSet/>
      <dgm:spPr/>
      <dgm:t>
        <a:bodyPr/>
        <a:lstStyle/>
        <a:p>
          <a:endParaRPr lang="en-US"/>
        </a:p>
      </dgm:t>
    </dgm:pt>
    <dgm:pt modelId="{FD091B46-11B8-4730-9758-296A060AB20E}" type="sibTrans" cxnId="{7175E163-14DB-495F-9967-695C23E5D701}">
      <dgm:prSet/>
      <dgm:spPr/>
      <dgm:t>
        <a:bodyPr/>
        <a:lstStyle/>
        <a:p>
          <a:endParaRPr lang="en-US"/>
        </a:p>
      </dgm:t>
    </dgm:pt>
    <dgm:pt modelId="{57BB0757-DF64-4653-B7F8-9C26C2AF71C5}">
      <dgm:prSet/>
      <dgm:spPr/>
      <dgm:t>
        <a:bodyPr/>
        <a:lstStyle/>
        <a:p>
          <a:r>
            <a:rPr lang="en-US" b="1" dirty="0"/>
            <a:t>Q&amp;A</a:t>
          </a:r>
        </a:p>
      </dgm:t>
    </dgm:pt>
    <dgm:pt modelId="{D84CD334-F063-4220-82C9-15E4EEF979C9}" type="parTrans" cxnId="{3337F083-DEFE-47E8-BE02-66A3139D1664}">
      <dgm:prSet/>
      <dgm:spPr/>
      <dgm:t>
        <a:bodyPr/>
        <a:lstStyle/>
        <a:p>
          <a:endParaRPr lang="en-US"/>
        </a:p>
      </dgm:t>
    </dgm:pt>
    <dgm:pt modelId="{AA2BECB8-465A-45A9-A54E-3C8CB49059F5}" type="sibTrans" cxnId="{3337F083-DEFE-47E8-BE02-66A3139D1664}">
      <dgm:prSet/>
      <dgm:spPr/>
      <dgm:t>
        <a:bodyPr/>
        <a:lstStyle/>
        <a:p>
          <a:endParaRPr lang="en-US"/>
        </a:p>
      </dgm:t>
    </dgm:pt>
    <dgm:pt modelId="{B9AC8143-F0C3-4E23-B23F-CB1A052842A3}" type="pres">
      <dgm:prSet presAssocID="{B14EAF8F-34D2-46F7-A4F2-9536B1B78625}" presName="linear" presStyleCnt="0">
        <dgm:presLayoutVars>
          <dgm:animLvl val="lvl"/>
          <dgm:resizeHandles val="exact"/>
        </dgm:presLayoutVars>
      </dgm:prSet>
      <dgm:spPr/>
    </dgm:pt>
    <dgm:pt modelId="{FBF20A74-3183-4F23-A52F-A75B918AF436}" type="pres">
      <dgm:prSet presAssocID="{B5D6E357-E2D3-48D3-9A5D-9F62D1900750}" presName="parentText" presStyleLbl="node1" presStyleIdx="0" presStyleCnt="8">
        <dgm:presLayoutVars>
          <dgm:chMax val="0"/>
          <dgm:bulletEnabled val="1"/>
        </dgm:presLayoutVars>
      </dgm:prSet>
      <dgm:spPr/>
    </dgm:pt>
    <dgm:pt modelId="{D9E57725-F2B4-4F01-B1CB-B4D4E8216F12}" type="pres">
      <dgm:prSet presAssocID="{AA0FEFE3-FE80-4833-9E7A-2DE55015AEC8}" presName="spacer" presStyleCnt="0"/>
      <dgm:spPr/>
    </dgm:pt>
    <dgm:pt modelId="{8DBF7E5E-EB4E-4CB8-ACC3-3C7C2662BA4E}" type="pres">
      <dgm:prSet presAssocID="{DA9EC3D3-3B55-4DCC-B739-75106BDEB9E6}" presName="parentText" presStyleLbl="node1" presStyleIdx="1" presStyleCnt="8">
        <dgm:presLayoutVars>
          <dgm:chMax val="0"/>
          <dgm:bulletEnabled val="1"/>
        </dgm:presLayoutVars>
      </dgm:prSet>
      <dgm:spPr/>
    </dgm:pt>
    <dgm:pt modelId="{4FD43459-A8F8-4F08-8F14-CDDF7C351760}" type="pres">
      <dgm:prSet presAssocID="{5C1D1D0D-0625-4BFC-BA12-60F247DDCCEA}" presName="spacer" presStyleCnt="0"/>
      <dgm:spPr/>
    </dgm:pt>
    <dgm:pt modelId="{5B3E1D55-ED19-4605-841F-0D44B76AA323}" type="pres">
      <dgm:prSet presAssocID="{5F5CA68B-2876-495C-B9CD-9DD776BA6032}" presName="parentText" presStyleLbl="node1" presStyleIdx="2" presStyleCnt="8">
        <dgm:presLayoutVars>
          <dgm:chMax val="0"/>
          <dgm:bulletEnabled val="1"/>
        </dgm:presLayoutVars>
      </dgm:prSet>
      <dgm:spPr/>
    </dgm:pt>
    <dgm:pt modelId="{5A205E18-DA12-4E2D-8DA8-E60CDD4D2FA9}" type="pres">
      <dgm:prSet presAssocID="{0569B163-7D64-415D-945D-0BE24E5206A8}" presName="spacer" presStyleCnt="0"/>
      <dgm:spPr/>
    </dgm:pt>
    <dgm:pt modelId="{0E895A00-61BA-4DE4-BD71-1B0387170570}" type="pres">
      <dgm:prSet presAssocID="{6E9E2F64-44FF-47B8-A8D0-0F5621D2DB84}" presName="parentText" presStyleLbl="node1" presStyleIdx="3" presStyleCnt="8">
        <dgm:presLayoutVars>
          <dgm:chMax val="0"/>
          <dgm:bulletEnabled val="1"/>
        </dgm:presLayoutVars>
      </dgm:prSet>
      <dgm:spPr/>
    </dgm:pt>
    <dgm:pt modelId="{74B13CDE-EB85-486F-9B5D-F300488E9033}" type="pres">
      <dgm:prSet presAssocID="{80B0160A-B9CB-4B04-BB3F-1CD5A49A1C30}" presName="spacer" presStyleCnt="0"/>
      <dgm:spPr/>
    </dgm:pt>
    <dgm:pt modelId="{E29C9570-0EA1-4154-B0D8-CDDE56228518}" type="pres">
      <dgm:prSet presAssocID="{D129470C-D880-4237-A59E-68FEAE810A73}" presName="parentText" presStyleLbl="node1" presStyleIdx="4" presStyleCnt="8">
        <dgm:presLayoutVars>
          <dgm:chMax val="0"/>
          <dgm:bulletEnabled val="1"/>
        </dgm:presLayoutVars>
      </dgm:prSet>
      <dgm:spPr/>
    </dgm:pt>
    <dgm:pt modelId="{A5D7069D-EA51-4C9D-B106-BB4CF5737A24}" type="pres">
      <dgm:prSet presAssocID="{CA6B75BC-7A5E-4E9D-8A22-2BAE7114FF9F}" presName="spacer" presStyleCnt="0"/>
      <dgm:spPr/>
    </dgm:pt>
    <dgm:pt modelId="{5850DDD0-33C5-4937-AF70-3A0E4F213C4E}" type="pres">
      <dgm:prSet presAssocID="{0FC65305-BE49-4C5B-AABC-0EA22247A03F}" presName="parentText" presStyleLbl="node1" presStyleIdx="5" presStyleCnt="8">
        <dgm:presLayoutVars>
          <dgm:chMax val="0"/>
          <dgm:bulletEnabled val="1"/>
        </dgm:presLayoutVars>
      </dgm:prSet>
      <dgm:spPr/>
    </dgm:pt>
    <dgm:pt modelId="{5BB11B35-46F1-41FB-B1A6-902A599F6BA5}" type="pres">
      <dgm:prSet presAssocID="{B253106B-4D85-48A1-9581-B73DA9092837}" presName="spacer" presStyleCnt="0"/>
      <dgm:spPr/>
    </dgm:pt>
    <dgm:pt modelId="{6D771469-BCF9-4871-8E15-79EE96CBCC07}" type="pres">
      <dgm:prSet presAssocID="{065252F5-27AB-4E47-91CF-C79FDA557285}" presName="parentText" presStyleLbl="node1" presStyleIdx="6" presStyleCnt="8">
        <dgm:presLayoutVars>
          <dgm:chMax val="0"/>
          <dgm:bulletEnabled val="1"/>
        </dgm:presLayoutVars>
      </dgm:prSet>
      <dgm:spPr/>
    </dgm:pt>
    <dgm:pt modelId="{11192559-294D-4C8F-9AB8-B81BB46FEA2D}" type="pres">
      <dgm:prSet presAssocID="{FD091B46-11B8-4730-9758-296A060AB20E}" presName="spacer" presStyleCnt="0"/>
      <dgm:spPr/>
    </dgm:pt>
    <dgm:pt modelId="{09CBE1A6-5D42-45E2-A6D5-71267C514F1D}" type="pres">
      <dgm:prSet presAssocID="{57BB0757-DF64-4653-B7F8-9C26C2AF71C5}" presName="parentText" presStyleLbl="node1" presStyleIdx="7" presStyleCnt="8">
        <dgm:presLayoutVars>
          <dgm:chMax val="0"/>
          <dgm:bulletEnabled val="1"/>
        </dgm:presLayoutVars>
      </dgm:prSet>
      <dgm:spPr/>
    </dgm:pt>
  </dgm:ptLst>
  <dgm:cxnLst>
    <dgm:cxn modelId="{96AB882D-E8BE-4641-B32A-49D0AC6D22D5}" type="presOf" srcId="{DA9EC3D3-3B55-4DCC-B739-75106BDEB9E6}" destId="{8DBF7E5E-EB4E-4CB8-ACC3-3C7C2662BA4E}" srcOrd="0" destOrd="0" presId="urn:microsoft.com/office/officeart/2005/8/layout/vList2"/>
    <dgm:cxn modelId="{25755A2F-59EB-4D4C-938F-7E3D750B96F4}" srcId="{B14EAF8F-34D2-46F7-A4F2-9536B1B78625}" destId="{B5D6E357-E2D3-48D3-9A5D-9F62D1900750}" srcOrd="0" destOrd="0" parTransId="{686CF867-499A-4C55-BDF0-CFBB5959F0C4}" sibTransId="{AA0FEFE3-FE80-4833-9E7A-2DE55015AEC8}"/>
    <dgm:cxn modelId="{0F637D34-9003-453A-BC73-AD25E14D03EA}" type="presOf" srcId="{065252F5-27AB-4E47-91CF-C79FDA557285}" destId="{6D771469-BCF9-4871-8E15-79EE96CBCC07}" srcOrd="0" destOrd="0" presId="urn:microsoft.com/office/officeart/2005/8/layout/vList2"/>
    <dgm:cxn modelId="{4D477E3A-9C02-4D37-890B-7012E83FF5B2}" srcId="{B14EAF8F-34D2-46F7-A4F2-9536B1B78625}" destId="{6E9E2F64-44FF-47B8-A8D0-0F5621D2DB84}" srcOrd="3" destOrd="0" parTransId="{6B7F207B-55F9-4860-BD3D-BE945FFB77C8}" sibTransId="{80B0160A-B9CB-4B04-BB3F-1CD5A49A1C30}"/>
    <dgm:cxn modelId="{7175E163-14DB-495F-9967-695C23E5D701}" srcId="{B14EAF8F-34D2-46F7-A4F2-9536B1B78625}" destId="{065252F5-27AB-4E47-91CF-C79FDA557285}" srcOrd="6" destOrd="0" parTransId="{E7C1A8C8-661F-440F-9CF0-52530C8D12CE}" sibTransId="{FD091B46-11B8-4730-9758-296A060AB20E}"/>
    <dgm:cxn modelId="{EDF5DE64-20BB-448E-BFCA-7A407D97A616}" type="presOf" srcId="{B5D6E357-E2D3-48D3-9A5D-9F62D1900750}" destId="{FBF20A74-3183-4F23-A52F-A75B918AF436}" srcOrd="0" destOrd="0" presId="urn:microsoft.com/office/officeart/2005/8/layout/vList2"/>
    <dgm:cxn modelId="{CDE00347-F300-4ECC-8769-09377669F3BF}" type="presOf" srcId="{0FC65305-BE49-4C5B-AABC-0EA22247A03F}" destId="{5850DDD0-33C5-4937-AF70-3A0E4F213C4E}" srcOrd="0" destOrd="0" presId="urn:microsoft.com/office/officeart/2005/8/layout/vList2"/>
    <dgm:cxn modelId="{D541364A-E79D-4189-8421-88C98E0F0ACD}" srcId="{B14EAF8F-34D2-46F7-A4F2-9536B1B78625}" destId="{DA9EC3D3-3B55-4DCC-B739-75106BDEB9E6}" srcOrd="1" destOrd="0" parTransId="{4B18232F-57A4-4E40-AF09-BEC31EC79B15}" sibTransId="{5C1D1D0D-0625-4BFC-BA12-60F247DDCCEA}"/>
    <dgm:cxn modelId="{9637FF6C-6374-4DA3-BB39-BC4CC7F6BF4A}" type="presOf" srcId="{D129470C-D880-4237-A59E-68FEAE810A73}" destId="{E29C9570-0EA1-4154-B0D8-CDDE56228518}" srcOrd="0" destOrd="0" presId="urn:microsoft.com/office/officeart/2005/8/layout/vList2"/>
    <dgm:cxn modelId="{8C3B2B4F-BFC6-4B19-9979-9F0B3D9B718F}" srcId="{B14EAF8F-34D2-46F7-A4F2-9536B1B78625}" destId="{D129470C-D880-4237-A59E-68FEAE810A73}" srcOrd="4" destOrd="0" parTransId="{6F93A37E-D7A6-402D-8C56-904AD5624822}" sibTransId="{CA6B75BC-7A5E-4E9D-8A22-2BAE7114FF9F}"/>
    <dgm:cxn modelId="{3337F083-DEFE-47E8-BE02-66A3139D1664}" srcId="{B14EAF8F-34D2-46F7-A4F2-9536B1B78625}" destId="{57BB0757-DF64-4653-B7F8-9C26C2AF71C5}" srcOrd="7" destOrd="0" parTransId="{D84CD334-F063-4220-82C9-15E4EEF979C9}" sibTransId="{AA2BECB8-465A-45A9-A54E-3C8CB49059F5}"/>
    <dgm:cxn modelId="{CFC7329A-7617-49F8-B5B1-1E0B66E356AC}" srcId="{B14EAF8F-34D2-46F7-A4F2-9536B1B78625}" destId="{0FC65305-BE49-4C5B-AABC-0EA22247A03F}" srcOrd="5" destOrd="0" parTransId="{AFA12B72-5707-44A3-8DA2-D79DD65C23D4}" sibTransId="{B253106B-4D85-48A1-9581-B73DA9092837}"/>
    <dgm:cxn modelId="{48B1D8B7-82C8-4AB9-BECC-960C670956CA}" type="presOf" srcId="{57BB0757-DF64-4653-B7F8-9C26C2AF71C5}" destId="{09CBE1A6-5D42-45E2-A6D5-71267C514F1D}" srcOrd="0" destOrd="0" presId="urn:microsoft.com/office/officeart/2005/8/layout/vList2"/>
    <dgm:cxn modelId="{D6783DBA-AD29-45D4-B83C-A52762E47912}" srcId="{B14EAF8F-34D2-46F7-A4F2-9536B1B78625}" destId="{5F5CA68B-2876-495C-B9CD-9DD776BA6032}" srcOrd="2" destOrd="0" parTransId="{A295F318-B540-4D98-A95F-61A0B497AAF1}" sibTransId="{0569B163-7D64-415D-945D-0BE24E5206A8}"/>
    <dgm:cxn modelId="{56049AD6-517B-4B2A-89C0-3076BF8FC681}" type="presOf" srcId="{B14EAF8F-34D2-46F7-A4F2-9536B1B78625}" destId="{B9AC8143-F0C3-4E23-B23F-CB1A052842A3}" srcOrd="0" destOrd="0" presId="urn:microsoft.com/office/officeart/2005/8/layout/vList2"/>
    <dgm:cxn modelId="{72008CDE-0F8D-4633-A24B-B929D9952437}" type="presOf" srcId="{5F5CA68B-2876-495C-B9CD-9DD776BA6032}" destId="{5B3E1D55-ED19-4605-841F-0D44B76AA323}" srcOrd="0" destOrd="0" presId="urn:microsoft.com/office/officeart/2005/8/layout/vList2"/>
    <dgm:cxn modelId="{9D7CD5E0-D718-47E6-9741-D02463496A54}" type="presOf" srcId="{6E9E2F64-44FF-47B8-A8D0-0F5621D2DB84}" destId="{0E895A00-61BA-4DE4-BD71-1B0387170570}" srcOrd="0" destOrd="0" presId="urn:microsoft.com/office/officeart/2005/8/layout/vList2"/>
    <dgm:cxn modelId="{E2DF7B46-D79F-49B3-A1B3-8448512AA112}" type="presParOf" srcId="{B9AC8143-F0C3-4E23-B23F-CB1A052842A3}" destId="{FBF20A74-3183-4F23-A52F-A75B918AF436}" srcOrd="0" destOrd="0" presId="urn:microsoft.com/office/officeart/2005/8/layout/vList2"/>
    <dgm:cxn modelId="{FD762CB0-CE3D-4484-B0EE-54AC85449DFF}" type="presParOf" srcId="{B9AC8143-F0C3-4E23-B23F-CB1A052842A3}" destId="{D9E57725-F2B4-4F01-B1CB-B4D4E8216F12}" srcOrd="1" destOrd="0" presId="urn:microsoft.com/office/officeart/2005/8/layout/vList2"/>
    <dgm:cxn modelId="{75C2D479-E79B-41AE-BABE-F5667EE07352}" type="presParOf" srcId="{B9AC8143-F0C3-4E23-B23F-CB1A052842A3}" destId="{8DBF7E5E-EB4E-4CB8-ACC3-3C7C2662BA4E}" srcOrd="2" destOrd="0" presId="urn:microsoft.com/office/officeart/2005/8/layout/vList2"/>
    <dgm:cxn modelId="{FF8B741A-5182-4411-80C1-2E8EC5AC9E23}" type="presParOf" srcId="{B9AC8143-F0C3-4E23-B23F-CB1A052842A3}" destId="{4FD43459-A8F8-4F08-8F14-CDDF7C351760}" srcOrd="3" destOrd="0" presId="urn:microsoft.com/office/officeart/2005/8/layout/vList2"/>
    <dgm:cxn modelId="{2DD7D427-0B6D-4611-B9F6-A9352AEA5AB1}" type="presParOf" srcId="{B9AC8143-F0C3-4E23-B23F-CB1A052842A3}" destId="{5B3E1D55-ED19-4605-841F-0D44B76AA323}" srcOrd="4" destOrd="0" presId="urn:microsoft.com/office/officeart/2005/8/layout/vList2"/>
    <dgm:cxn modelId="{B6EC1E63-16D8-4577-9DFB-1CDEDFB835FD}" type="presParOf" srcId="{B9AC8143-F0C3-4E23-B23F-CB1A052842A3}" destId="{5A205E18-DA12-4E2D-8DA8-E60CDD4D2FA9}" srcOrd="5" destOrd="0" presId="urn:microsoft.com/office/officeart/2005/8/layout/vList2"/>
    <dgm:cxn modelId="{39A38DA7-B7F4-4A4A-9417-9F1D8A0F73BB}" type="presParOf" srcId="{B9AC8143-F0C3-4E23-B23F-CB1A052842A3}" destId="{0E895A00-61BA-4DE4-BD71-1B0387170570}" srcOrd="6" destOrd="0" presId="urn:microsoft.com/office/officeart/2005/8/layout/vList2"/>
    <dgm:cxn modelId="{40212CA1-10D8-4C51-A02B-7A3A8950E5CD}" type="presParOf" srcId="{B9AC8143-F0C3-4E23-B23F-CB1A052842A3}" destId="{74B13CDE-EB85-486F-9B5D-F300488E9033}" srcOrd="7" destOrd="0" presId="urn:microsoft.com/office/officeart/2005/8/layout/vList2"/>
    <dgm:cxn modelId="{3195492B-0581-41D3-8A31-28CE339FAA47}" type="presParOf" srcId="{B9AC8143-F0C3-4E23-B23F-CB1A052842A3}" destId="{E29C9570-0EA1-4154-B0D8-CDDE56228518}" srcOrd="8" destOrd="0" presId="urn:microsoft.com/office/officeart/2005/8/layout/vList2"/>
    <dgm:cxn modelId="{C0DD994E-87ED-47D8-A6AD-7A4C37B69F83}" type="presParOf" srcId="{B9AC8143-F0C3-4E23-B23F-CB1A052842A3}" destId="{A5D7069D-EA51-4C9D-B106-BB4CF5737A24}" srcOrd="9" destOrd="0" presId="urn:microsoft.com/office/officeart/2005/8/layout/vList2"/>
    <dgm:cxn modelId="{BD3B7FC6-4796-4F71-A945-A664D59AC725}" type="presParOf" srcId="{B9AC8143-F0C3-4E23-B23F-CB1A052842A3}" destId="{5850DDD0-33C5-4937-AF70-3A0E4F213C4E}" srcOrd="10" destOrd="0" presId="urn:microsoft.com/office/officeart/2005/8/layout/vList2"/>
    <dgm:cxn modelId="{C651E04C-97E1-480D-9107-DC9C22FBBF2D}" type="presParOf" srcId="{B9AC8143-F0C3-4E23-B23F-CB1A052842A3}" destId="{5BB11B35-46F1-41FB-B1A6-902A599F6BA5}" srcOrd="11" destOrd="0" presId="urn:microsoft.com/office/officeart/2005/8/layout/vList2"/>
    <dgm:cxn modelId="{437FFDE3-C652-4DC3-A2D1-7D8D78728A55}" type="presParOf" srcId="{B9AC8143-F0C3-4E23-B23F-CB1A052842A3}" destId="{6D771469-BCF9-4871-8E15-79EE96CBCC07}" srcOrd="12" destOrd="0" presId="urn:microsoft.com/office/officeart/2005/8/layout/vList2"/>
    <dgm:cxn modelId="{35020918-AC9D-4B9E-9C67-FA957E1F4BDB}" type="presParOf" srcId="{B9AC8143-F0C3-4E23-B23F-CB1A052842A3}" destId="{11192559-294D-4C8F-9AB8-B81BB46FEA2D}" srcOrd="13" destOrd="0" presId="urn:microsoft.com/office/officeart/2005/8/layout/vList2"/>
    <dgm:cxn modelId="{E249C9A7-7ED6-4DC7-8F84-D986060FFF31}" type="presParOf" srcId="{B9AC8143-F0C3-4E23-B23F-CB1A052842A3}" destId="{09CBE1A6-5D42-45E2-A6D5-71267C514F1D}"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F20A74-3183-4F23-A52F-A75B918AF436}">
      <dsp:nvSpPr>
        <dsp:cNvPr id="0" name=""/>
        <dsp:cNvSpPr/>
      </dsp:nvSpPr>
      <dsp:spPr>
        <a:xfrm>
          <a:off x="0" y="54341"/>
          <a:ext cx="11087101"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Power of Self Awareness</a:t>
          </a:r>
        </a:p>
      </dsp:txBody>
      <dsp:txXfrm>
        <a:off x="24588" y="78929"/>
        <a:ext cx="11037925" cy="454509"/>
      </dsp:txXfrm>
    </dsp:sp>
    <dsp:sp modelId="{8DBF7E5E-EB4E-4CB8-ACC3-3C7C2662BA4E}">
      <dsp:nvSpPr>
        <dsp:cNvPr id="0" name=""/>
        <dsp:cNvSpPr/>
      </dsp:nvSpPr>
      <dsp:spPr>
        <a:xfrm>
          <a:off x="0" y="618506"/>
          <a:ext cx="11087101"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What’s the Difference? Bank vs. CDFI</a:t>
          </a:r>
        </a:p>
      </dsp:txBody>
      <dsp:txXfrm>
        <a:off x="24588" y="643094"/>
        <a:ext cx="11037925" cy="454509"/>
      </dsp:txXfrm>
    </dsp:sp>
    <dsp:sp modelId="{5B3E1D55-ED19-4605-841F-0D44B76AA323}">
      <dsp:nvSpPr>
        <dsp:cNvPr id="0" name=""/>
        <dsp:cNvSpPr/>
      </dsp:nvSpPr>
      <dsp:spPr>
        <a:xfrm>
          <a:off x="0" y="1182671"/>
          <a:ext cx="11087101"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effectLst>
                <a:outerShdw blurRad="38100" dist="38100" dir="2700000" algn="tl">
                  <a:srgbClr val="000000">
                    <a:alpha val="43137"/>
                  </a:srgbClr>
                </a:outerShdw>
              </a:effectLst>
            </a:rPr>
            <a:t>Tell Your Story</a:t>
          </a:r>
          <a:endParaRPr lang="en-US" sz="2100" b="1" kern="1200" dirty="0"/>
        </a:p>
      </dsp:txBody>
      <dsp:txXfrm>
        <a:off x="24588" y="1207259"/>
        <a:ext cx="11037925" cy="454509"/>
      </dsp:txXfrm>
    </dsp:sp>
    <dsp:sp modelId="{0E895A00-61BA-4DE4-BD71-1B0387170570}">
      <dsp:nvSpPr>
        <dsp:cNvPr id="0" name=""/>
        <dsp:cNvSpPr/>
      </dsp:nvSpPr>
      <dsp:spPr>
        <a:xfrm>
          <a:off x="0" y="1746836"/>
          <a:ext cx="11087101"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Term Loans </a:t>
          </a:r>
        </a:p>
      </dsp:txBody>
      <dsp:txXfrm>
        <a:off x="24588" y="1771424"/>
        <a:ext cx="11037925" cy="454509"/>
      </dsp:txXfrm>
    </dsp:sp>
    <dsp:sp modelId="{E29C9570-0EA1-4154-B0D8-CDDE56228518}">
      <dsp:nvSpPr>
        <dsp:cNvPr id="0" name=""/>
        <dsp:cNvSpPr/>
      </dsp:nvSpPr>
      <dsp:spPr>
        <a:xfrm>
          <a:off x="0" y="2311001"/>
          <a:ext cx="11087101"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Lines of Credit</a:t>
          </a:r>
        </a:p>
      </dsp:txBody>
      <dsp:txXfrm>
        <a:off x="24588" y="2335589"/>
        <a:ext cx="11037925" cy="454509"/>
      </dsp:txXfrm>
    </dsp:sp>
    <dsp:sp modelId="{5850DDD0-33C5-4937-AF70-3A0E4F213C4E}">
      <dsp:nvSpPr>
        <dsp:cNvPr id="0" name=""/>
        <dsp:cNvSpPr/>
      </dsp:nvSpPr>
      <dsp:spPr>
        <a:xfrm>
          <a:off x="0" y="2875166"/>
          <a:ext cx="11087101"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Get Lender Ready</a:t>
          </a:r>
        </a:p>
      </dsp:txBody>
      <dsp:txXfrm>
        <a:off x="24588" y="2899754"/>
        <a:ext cx="11037925" cy="454509"/>
      </dsp:txXfrm>
    </dsp:sp>
    <dsp:sp modelId="{6D771469-BCF9-4871-8E15-79EE96CBCC07}">
      <dsp:nvSpPr>
        <dsp:cNvPr id="0" name=""/>
        <dsp:cNvSpPr/>
      </dsp:nvSpPr>
      <dsp:spPr>
        <a:xfrm>
          <a:off x="0" y="3439331"/>
          <a:ext cx="11087101"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Success Stories</a:t>
          </a:r>
        </a:p>
      </dsp:txBody>
      <dsp:txXfrm>
        <a:off x="24588" y="3463919"/>
        <a:ext cx="11037925" cy="454509"/>
      </dsp:txXfrm>
    </dsp:sp>
    <dsp:sp modelId="{09CBE1A6-5D42-45E2-A6D5-71267C514F1D}">
      <dsp:nvSpPr>
        <dsp:cNvPr id="0" name=""/>
        <dsp:cNvSpPr/>
      </dsp:nvSpPr>
      <dsp:spPr>
        <a:xfrm>
          <a:off x="0" y="4003496"/>
          <a:ext cx="11087101" cy="50368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Q&amp;A</a:t>
          </a:r>
        </a:p>
      </dsp:txBody>
      <dsp:txXfrm>
        <a:off x="24588" y="4028084"/>
        <a:ext cx="11037925" cy="45450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ontserrat SemiBold" panose="00000700000000000000"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ontserrat SemiBold" panose="00000700000000000000" pitchFamily="2" charset="0"/>
              </a:defRPr>
            </a:lvl1pPr>
          </a:lstStyle>
          <a:p>
            <a:fld id="{F3549397-7F6E-BF44-9C94-87FA17274F22}" type="datetimeFigureOut">
              <a:rPr lang="en-US" smtClean="0"/>
              <a:pPr/>
              <a:t>7/21/2026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ontserrat SemiBold" panose="00000700000000000000"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ontserrat SemiBold" panose="00000700000000000000" pitchFamily="2" charset="0"/>
              </a:defRPr>
            </a:lvl1pPr>
          </a:lstStyle>
          <a:p>
            <a:fld id="{BD822AFC-B4E2-0D4A-A228-717760455FCC}" type="slidenum">
              <a:rPr lang="en-US" smtClean="0"/>
              <a:pPr/>
              <a:t>‹#›</a:t>
            </a:fld>
            <a:endParaRPr lang="en-US" dirty="0"/>
          </a:p>
        </p:txBody>
      </p:sp>
    </p:spTree>
    <p:extLst>
      <p:ext uri="{BB962C8B-B14F-4D97-AF65-F5344CB8AC3E}">
        <p14:creationId xmlns:p14="http://schemas.microsoft.com/office/powerpoint/2010/main" val="976558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SemiBold" panose="00000700000000000000" pitchFamily="2"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216A63-F127-47CD-BF8F-BE88E277D1C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615148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Left column: </a:t>
            </a:r>
            <a:r>
              <a:rPr lang="en-US" sz="1800" i="1" dirty="0">
                <a:effectLst/>
              </a:rPr>
              <a:t>since 1989 which was included on the Community Impact Data Base, SBA, NMTC, BGP, PPP and CSBRF lending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0" dirty="0">
                <a:effectLst/>
              </a:rPr>
              <a:t>Right column: </a:t>
            </a:r>
            <a:r>
              <a:rPr lang="en-US" sz="1800" i="1" dirty="0">
                <a:effectLst/>
              </a:rPr>
              <a:t>ALL C2C funded loans + plus total volume originated through SPARK</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258F2-B2E5-4175-B339-81AEE5988F5F}" type="slidenum">
              <a:rPr kumimoji="0" lang="en-US" sz="1200" b="0" i="0" u="none" strike="noStrike" kern="1200" cap="none" spc="0" normalizeH="0" baseline="0" noProof="0" smtClean="0">
                <a:ln>
                  <a:noFill/>
                </a:ln>
                <a:solidFill>
                  <a:srgbClr val="505050"/>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505050"/>
              </a:solidFill>
              <a:effectLst/>
              <a:uLnTx/>
              <a:uFillTx/>
              <a:ea typeface="+mn-ea"/>
              <a:cs typeface="+mn-cs"/>
            </a:endParaRPr>
          </a:p>
        </p:txBody>
      </p:sp>
    </p:spTree>
    <p:extLst>
      <p:ext uri="{BB962C8B-B14F-4D97-AF65-F5344CB8AC3E}">
        <p14:creationId xmlns:p14="http://schemas.microsoft.com/office/powerpoint/2010/main" val="1130030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5FA612-B2E2-48AD-8965-046A910EC326}" type="slidenum">
              <a:rPr lang="en-US" smtClean="0"/>
              <a:t>3</a:t>
            </a:fld>
            <a:endParaRPr lang="en-US" dirty="0"/>
          </a:p>
        </p:txBody>
      </p:sp>
    </p:spTree>
    <p:extLst>
      <p:ext uri="{BB962C8B-B14F-4D97-AF65-F5344CB8AC3E}">
        <p14:creationId xmlns:p14="http://schemas.microsoft.com/office/powerpoint/2010/main" val="18031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sz="1200" b="1" dirty="0">
                <a:solidFill>
                  <a:schemeClr val="accent2">
                    <a:lumMod val="60000"/>
                    <a:lumOff val="40000"/>
                  </a:schemeClr>
                </a:solidFill>
                <a:effectLst>
                  <a:outerShdw blurRad="38100" dist="38100" dir="2700000" algn="tl">
                    <a:srgbClr val="000000">
                      <a:alpha val="43137"/>
                    </a:srgbClr>
                  </a:outerShdw>
                </a:effectLst>
                <a:latin typeface="Montserrat SemiBold" panose="00000700000000000000" pitchFamily="2" charset="0"/>
              </a:rPr>
              <a:t>Advisors –</a:t>
            </a:r>
            <a:r>
              <a:rPr lang="en-US" sz="1200" dirty="0">
                <a:latin typeface="Montserrat SemiBold" panose="00000700000000000000" pitchFamily="2" charset="0"/>
              </a:rPr>
              <a:t> Tracking industry trends, connecting you with capital partners, identify potential blind spots, and developing a business plan.</a:t>
            </a:r>
          </a:p>
          <a:p>
            <a:pPr marL="0" indent="0">
              <a:lnSpc>
                <a:spcPct val="90000"/>
              </a:lnSpc>
              <a:buNone/>
            </a:pPr>
            <a:endParaRPr lang="en-US" sz="1200" dirty="0">
              <a:latin typeface="Montserrat SemiBold" panose="00000700000000000000" pitchFamily="2" charset="0"/>
            </a:endParaRPr>
          </a:p>
          <a:p>
            <a:pPr>
              <a:lnSpc>
                <a:spcPct val="90000"/>
              </a:lnSpc>
            </a:pPr>
            <a:r>
              <a:rPr lang="en-US" sz="1200" b="1" dirty="0">
                <a:solidFill>
                  <a:schemeClr val="accent2">
                    <a:lumMod val="60000"/>
                    <a:lumOff val="40000"/>
                  </a:schemeClr>
                </a:solidFill>
                <a:effectLst>
                  <a:outerShdw blurRad="38100" dist="38100" dir="2700000" algn="tl">
                    <a:srgbClr val="000000">
                      <a:alpha val="43137"/>
                    </a:srgbClr>
                  </a:outerShdw>
                </a:effectLst>
                <a:latin typeface="Montserrat SemiBold" panose="00000700000000000000" pitchFamily="2" charset="0"/>
              </a:rPr>
              <a:t>CPAs –</a:t>
            </a:r>
            <a:r>
              <a:rPr lang="en-US" sz="1200" dirty="0">
                <a:latin typeface="Montserrat SemiBold" panose="00000700000000000000" pitchFamily="2" charset="0"/>
              </a:rPr>
              <a:t> Beyond tax savings, they offer support in financial reporting, internal cost controls, managing risks, and ensuring compliance.</a:t>
            </a:r>
          </a:p>
          <a:p>
            <a:pPr marL="0" indent="0">
              <a:lnSpc>
                <a:spcPct val="90000"/>
              </a:lnSpc>
              <a:buNone/>
            </a:pPr>
            <a:endParaRPr lang="en-US" sz="1200" dirty="0">
              <a:latin typeface="Montserrat SemiBold" panose="00000700000000000000" pitchFamily="2" charset="0"/>
            </a:endParaRPr>
          </a:p>
          <a:p>
            <a:pPr>
              <a:lnSpc>
                <a:spcPct val="90000"/>
              </a:lnSpc>
            </a:pPr>
            <a:r>
              <a:rPr lang="en-US" sz="1200" b="1" dirty="0">
                <a:solidFill>
                  <a:schemeClr val="accent2">
                    <a:lumMod val="60000"/>
                    <a:lumOff val="40000"/>
                  </a:schemeClr>
                </a:solidFill>
                <a:effectLst>
                  <a:outerShdw blurRad="38100" dist="38100" dir="2700000" algn="tl">
                    <a:srgbClr val="000000">
                      <a:alpha val="43137"/>
                    </a:srgbClr>
                  </a:outerShdw>
                </a:effectLst>
                <a:latin typeface="Montserrat SemiBold" panose="00000700000000000000" pitchFamily="2" charset="0"/>
              </a:rPr>
              <a:t>Attorneys – </a:t>
            </a:r>
            <a:r>
              <a:rPr lang="en-US" sz="1200" dirty="0">
                <a:latin typeface="Montserrat SemiBold" panose="00000700000000000000" pitchFamily="2" charset="0"/>
              </a:rPr>
              <a:t>Safeguard your business with contract management, dispute resolution, licensing, compliance, and insurance matters.</a:t>
            </a:r>
          </a:p>
          <a:p>
            <a:pPr marL="0" indent="0">
              <a:lnSpc>
                <a:spcPct val="90000"/>
              </a:lnSpc>
              <a:buNone/>
            </a:pPr>
            <a:endParaRPr lang="en-US" sz="1200" dirty="0">
              <a:latin typeface="Montserrat SemiBold" panose="00000700000000000000" pitchFamily="2" charset="0"/>
            </a:endParaRPr>
          </a:p>
          <a:p>
            <a:pPr>
              <a:lnSpc>
                <a:spcPct val="90000"/>
              </a:lnSpc>
            </a:pPr>
            <a:r>
              <a:rPr lang="en-US" sz="1200" b="1" dirty="0">
                <a:solidFill>
                  <a:schemeClr val="accent2">
                    <a:lumMod val="60000"/>
                    <a:lumOff val="40000"/>
                  </a:schemeClr>
                </a:solidFill>
                <a:effectLst>
                  <a:outerShdw blurRad="38100" dist="38100" dir="2700000" algn="tl">
                    <a:srgbClr val="000000">
                      <a:alpha val="43137"/>
                    </a:srgbClr>
                  </a:outerShdw>
                </a:effectLst>
                <a:latin typeface="Montserrat SemiBold" panose="00000700000000000000" pitchFamily="2" charset="0"/>
              </a:rPr>
              <a:t>Lenders </a:t>
            </a:r>
            <a:r>
              <a:rPr lang="en-US" sz="1200" b="1" dirty="0">
                <a:effectLst>
                  <a:outerShdw blurRad="38100" dist="38100" dir="2700000" algn="tl">
                    <a:srgbClr val="000000">
                      <a:alpha val="43137"/>
                    </a:srgbClr>
                  </a:outerShdw>
                </a:effectLst>
                <a:latin typeface="Montserrat SemiBold" panose="00000700000000000000" pitchFamily="2" charset="0"/>
              </a:rPr>
              <a:t>– </a:t>
            </a:r>
            <a:r>
              <a:rPr lang="en-US" sz="1200" dirty="0">
                <a:latin typeface="Montserrat SemiBold" panose="00000700000000000000" pitchFamily="2" charset="0"/>
              </a:rPr>
              <a:t>Help optimize cash flow, accelerate business growth, and build business credit.</a:t>
            </a:r>
          </a:p>
          <a:p>
            <a:endParaRPr lang="en-US" dirty="0"/>
          </a:p>
        </p:txBody>
      </p:sp>
      <p:sp>
        <p:nvSpPr>
          <p:cNvPr id="4" name="Slide Number Placeholder 3"/>
          <p:cNvSpPr>
            <a:spLocks noGrp="1"/>
          </p:cNvSpPr>
          <p:nvPr>
            <p:ph type="sldNum" sz="quarter" idx="5"/>
          </p:nvPr>
        </p:nvSpPr>
        <p:spPr/>
        <p:txBody>
          <a:bodyPr/>
          <a:lstStyle/>
          <a:p>
            <a:fld id="{C25FA612-B2E2-48AD-8965-046A910EC326}" type="slidenum">
              <a:rPr lang="en-US" smtClean="0"/>
              <a:t>4</a:t>
            </a:fld>
            <a:endParaRPr lang="en-US" dirty="0"/>
          </a:p>
        </p:txBody>
      </p:sp>
    </p:spTree>
    <p:extLst>
      <p:ext uri="{BB962C8B-B14F-4D97-AF65-F5344CB8AC3E}">
        <p14:creationId xmlns:p14="http://schemas.microsoft.com/office/powerpoint/2010/main" val="3395193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650"/>
              </a:lnSpc>
              <a:spcBef>
                <a:spcPts val="750"/>
              </a:spcBef>
              <a:spcAft>
                <a:spcPts val="600"/>
              </a:spcAft>
              <a:buFont typeface="Arial" panose="020B0604020202020204" pitchFamily="34" charset="0"/>
              <a:buChar char="•"/>
            </a:pPr>
            <a:r>
              <a:rPr lang="en-US" b="1" i="0" dirty="0">
                <a:solidFill>
                  <a:srgbClr val="001D35"/>
                </a:solidFill>
                <a:effectLst/>
                <a:latin typeface="Google Sans"/>
              </a:rPr>
              <a:t>Context and Understanding:</a:t>
            </a:r>
            <a:endParaRPr lang="en-US"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545D7E"/>
                </a:solidFill>
                <a:effectLst/>
                <a:latin typeface="Google Sans"/>
              </a:rPr>
              <a:t>Lenders evaluate loan requests all day long, and a strong narrative helps them understand your business beyond the numbers on your financial statements. It provides context for your financial performance, explains any unusual trends, and demonstrates your understanding of your market. </a:t>
            </a:r>
            <a:endParaRPr lang="en-US" b="0" i="0" dirty="0">
              <a:solidFill>
                <a:srgbClr val="0B57D0"/>
              </a:solidFill>
              <a:effectLst/>
              <a:latin typeface="Google Sans"/>
            </a:endParaRPr>
          </a:p>
          <a:p>
            <a:pPr algn="l">
              <a:lnSpc>
                <a:spcPts val="1650"/>
              </a:lnSpc>
              <a:spcBef>
                <a:spcPts val="750"/>
              </a:spcBef>
              <a:spcAft>
                <a:spcPts val="600"/>
              </a:spcAft>
              <a:buFont typeface="Arial" panose="020B0604020202020204" pitchFamily="34" charset="0"/>
              <a:buChar char="•"/>
            </a:pPr>
            <a:r>
              <a:rPr lang="en-US" b="1" i="0" dirty="0">
                <a:solidFill>
                  <a:srgbClr val="001D35"/>
                </a:solidFill>
                <a:effectLst/>
                <a:latin typeface="Google Sans"/>
              </a:rPr>
              <a:t>Demonstrates Expertise:</a:t>
            </a:r>
            <a:endParaRPr lang="en-US"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545D7E"/>
                </a:solidFill>
                <a:effectLst/>
                <a:latin typeface="Google Sans"/>
              </a:rPr>
              <a:t>A well-crafted story can showcase your experience, knowledge, and passion for your business. It helps lenders understand your vision, your plan for using the loan, and your ability to execute your strategy. </a:t>
            </a:r>
            <a:endParaRPr lang="en-US" b="0" i="0" dirty="0">
              <a:solidFill>
                <a:srgbClr val="0B57D0"/>
              </a:solidFill>
              <a:effectLst/>
              <a:latin typeface="Google Sans"/>
            </a:endParaRPr>
          </a:p>
          <a:p>
            <a:pPr algn="l">
              <a:lnSpc>
                <a:spcPts val="1650"/>
              </a:lnSpc>
              <a:spcBef>
                <a:spcPts val="750"/>
              </a:spcBef>
              <a:spcAft>
                <a:spcPts val="600"/>
              </a:spcAft>
              <a:buFont typeface="Arial" panose="020B0604020202020204" pitchFamily="34" charset="0"/>
              <a:buChar char="•"/>
            </a:pPr>
            <a:r>
              <a:rPr lang="en-US" b="1" i="0" dirty="0">
                <a:solidFill>
                  <a:srgbClr val="001D35"/>
                </a:solidFill>
                <a:effectLst/>
                <a:latin typeface="Google Sans"/>
              </a:rPr>
              <a:t>Humanizes the Loan Request:</a:t>
            </a:r>
            <a:endParaRPr lang="en-US"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545D7E"/>
                </a:solidFill>
                <a:effectLst/>
                <a:latin typeface="Google Sans"/>
              </a:rPr>
              <a:t>Lenders are more likely to approve a loan when they feel connected to the borrower and understand their story. A narrative allows you to build a relationship with the lender and build trust. </a:t>
            </a:r>
            <a:endParaRPr lang="en-US" b="0" i="0" dirty="0">
              <a:solidFill>
                <a:srgbClr val="0B57D0"/>
              </a:solidFill>
              <a:effectLst/>
              <a:latin typeface="Google Sans"/>
            </a:endParaRPr>
          </a:p>
          <a:p>
            <a:pPr algn="l">
              <a:lnSpc>
                <a:spcPts val="1650"/>
              </a:lnSpc>
              <a:spcBef>
                <a:spcPts val="750"/>
              </a:spcBef>
              <a:spcAft>
                <a:spcPts val="600"/>
              </a:spcAft>
              <a:buFont typeface="Arial" panose="020B0604020202020204" pitchFamily="34" charset="0"/>
              <a:buChar char="•"/>
            </a:pPr>
            <a:r>
              <a:rPr lang="en-US" b="1" i="0" dirty="0">
                <a:solidFill>
                  <a:srgbClr val="001D35"/>
                </a:solidFill>
                <a:effectLst/>
                <a:latin typeface="Google Sans"/>
              </a:rPr>
              <a:t>Addresses Potential Concerns:</a:t>
            </a:r>
            <a:endParaRPr lang="en-US"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545D7E"/>
                </a:solidFill>
                <a:effectLst/>
                <a:latin typeface="Google Sans"/>
              </a:rPr>
              <a:t>If there are any red flags in your financials, a narrative can provide context and explain the reasons behind them, alleviating lender concerns. </a:t>
            </a:r>
            <a:endParaRPr lang="en-US" b="0" i="0" dirty="0">
              <a:solidFill>
                <a:srgbClr val="0B57D0"/>
              </a:solidFill>
              <a:effectLst/>
              <a:latin typeface="Google Sans"/>
            </a:endParaRPr>
          </a:p>
          <a:p>
            <a:pPr algn="l">
              <a:lnSpc>
                <a:spcPts val="1650"/>
              </a:lnSpc>
              <a:spcBef>
                <a:spcPts val="750"/>
              </a:spcBef>
              <a:spcAft>
                <a:spcPts val="600"/>
              </a:spcAft>
              <a:buFont typeface="Arial" panose="020B0604020202020204" pitchFamily="34" charset="0"/>
              <a:buChar char="•"/>
            </a:pPr>
            <a:r>
              <a:rPr lang="en-US" b="1" i="0" dirty="0">
                <a:solidFill>
                  <a:srgbClr val="001D35"/>
                </a:solidFill>
                <a:effectLst/>
                <a:latin typeface="Google Sans"/>
              </a:rPr>
              <a:t>Sets You Apart:</a:t>
            </a:r>
            <a:endParaRPr lang="en-US"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545D7E"/>
                </a:solidFill>
                <a:effectLst/>
                <a:latin typeface="Google Sans"/>
              </a:rPr>
              <a:t>In a competitive lending environment, a compelling narrative can make your company stand out and help you secure a loan when others might not. </a:t>
            </a:r>
            <a:endParaRPr lang="en-US" b="0" i="0" dirty="0">
              <a:solidFill>
                <a:srgbClr val="0B57D0"/>
              </a:solidFill>
              <a:effectLst/>
              <a:latin typeface="Google Sans"/>
            </a:endParaRPr>
          </a:p>
          <a:p>
            <a:pPr algn="l">
              <a:lnSpc>
                <a:spcPts val="1650"/>
              </a:lnSpc>
              <a:spcBef>
                <a:spcPts val="750"/>
              </a:spcBef>
              <a:spcAft>
                <a:spcPts val="1500"/>
              </a:spcAft>
              <a:buFont typeface="Arial" panose="020B0604020202020204" pitchFamily="34" charset="0"/>
              <a:buChar char="•"/>
            </a:pPr>
            <a:r>
              <a:rPr lang="en-US" b="1" i="0" dirty="0">
                <a:solidFill>
                  <a:srgbClr val="001D35"/>
                </a:solidFill>
                <a:effectLst/>
                <a:latin typeface="Google Sans"/>
              </a:rPr>
              <a:t>Can Influence Loan Terms:</a:t>
            </a:r>
            <a:endParaRPr lang="en-US" b="0" i="0" dirty="0">
              <a:solidFill>
                <a:srgbClr val="001D35"/>
              </a:solidFill>
              <a:effectLst/>
              <a:latin typeface="Google Sans"/>
            </a:endParaRPr>
          </a:p>
          <a:p>
            <a:pPr algn="l" fontAlgn="ctr">
              <a:lnSpc>
                <a:spcPts val="1650"/>
              </a:lnSpc>
              <a:spcBef>
                <a:spcPts val="750"/>
              </a:spcBef>
              <a:spcAft>
                <a:spcPts val="1500"/>
              </a:spcAft>
              <a:buFont typeface="Arial" panose="020B0604020202020204" pitchFamily="34" charset="0"/>
              <a:buChar char="•"/>
            </a:pPr>
            <a:r>
              <a:rPr lang="en-US" b="0" i="0" dirty="0">
                <a:solidFill>
                  <a:srgbClr val="545D7E"/>
                </a:solidFill>
                <a:effectLst/>
                <a:latin typeface="Google Sans"/>
              </a:rPr>
              <a:t>A strong narrative can influence the lender's assessment of your creditworthiness and can lead to more favorable loan terms, such as lower interest rates or a longer repayment term. </a:t>
            </a:r>
            <a:endParaRPr lang="en-US" b="0" i="0" dirty="0">
              <a:solidFill>
                <a:srgbClr val="0B57D0"/>
              </a:solidFill>
              <a:effectLst/>
              <a:latin typeface="Google Sans"/>
            </a:endParaRPr>
          </a:p>
          <a:p>
            <a:pPr algn="l">
              <a:spcBef>
                <a:spcPts val="750"/>
              </a:spcBef>
              <a:spcAft>
                <a:spcPts val="1500"/>
              </a:spcAft>
            </a:pPr>
            <a:r>
              <a:rPr lang="en-US" b="0" i="0" dirty="0">
                <a:solidFill>
                  <a:srgbClr val="001D35"/>
                </a:solidFill>
                <a:effectLst/>
                <a:latin typeface="Google Sans"/>
              </a:rPr>
              <a:t>In essence, your story is an opportunity to demonstrate your value as a borrower and build a strong relationship with the lender, increasing your chances of securing the loan you need to grow your business. </a:t>
            </a:r>
          </a:p>
          <a:p>
            <a:endParaRPr lang="en-US" dirty="0"/>
          </a:p>
        </p:txBody>
      </p:sp>
      <p:sp>
        <p:nvSpPr>
          <p:cNvPr id="4" name="Slide Number Placeholder 3"/>
          <p:cNvSpPr>
            <a:spLocks noGrp="1"/>
          </p:cNvSpPr>
          <p:nvPr>
            <p:ph type="sldNum" sz="quarter" idx="5"/>
          </p:nvPr>
        </p:nvSpPr>
        <p:spPr/>
        <p:txBody>
          <a:bodyPr/>
          <a:lstStyle/>
          <a:p>
            <a:fld id="{BD822AFC-B4E2-0D4A-A228-717760455FCC}" type="slidenum">
              <a:rPr lang="en-US" smtClean="0"/>
              <a:pPr/>
              <a:t>6</a:t>
            </a:fld>
            <a:endParaRPr lang="en-US" dirty="0"/>
          </a:p>
        </p:txBody>
      </p:sp>
    </p:spTree>
    <p:extLst>
      <p:ext uri="{BB962C8B-B14F-4D97-AF65-F5344CB8AC3E}">
        <p14:creationId xmlns:p14="http://schemas.microsoft.com/office/powerpoint/2010/main" val="1771929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lnSpc>
                <a:spcPct val="90000"/>
              </a:lnSpc>
              <a:buNone/>
            </a:pPr>
            <a:r>
              <a:rPr lang="en-US" sz="1800" b="1" dirty="0">
                <a:solidFill>
                  <a:schemeClr val="accent5">
                    <a:lumMod val="90000"/>
                    <a:lumOff val="10000"/>
                  </a:schemeClr>
                </a:solidFill>
                <a:latin typeface="Montserrat SemiBold" panose="00000700000000000000" pitchFamily="2" charset="0"/>
              </a:rPr>
              <a:t>Longer Repayment Terms</a:t>
            </a:r>
            <a:br>
              <a:rPr lang="en-US" sz="1800" b="1" dirty="0">
                <a:latin typeface="Montserrat SemiBold" panose="00000700000000000000" pitchFamily="2" charset="0"/>
              </a:rPr>
            </a:br>
            <a:r>
              <a:rPr lang="en-US" sz="1800" dirty="0">
                <a:latin typeface="Montserrat SemiBold" panose="00000700000000000000" pitchFamily="2" charset="0"/>
              </a:rPr>
              <a:t>Up to 25 years for real estate and 10 years for non-real estate. Longer repayment terms help businesses manage their cash flow by lowering monthly payments.</a:t>
            </a:r>
          </a:p>
          <a:p>
            <a:pPr marL="457200" lvl="1" indent="0">
              <a:lnSpc>
                <a:spcPct val="90000"/>
              </a:lnSpc>
              <a:buNone/>
            </a:pPr>
            <a:endParaRPr lang="en-US" sz="1800" dirty="0">
              <a:latin typeface="Montserrat SemiBold" panose="00000700000000000000" pitchFamily="2" charset="0"/>
            </a:endParaRPr>
          </a:p>
          <a:p>
            <a:pPr marL="457200" lvl="1" indent="0">
              <a:lnSpc>
                <a:spcPct val="90000"/>
              </a:lnSpc>
              <a:buNone/>
            </a:pPr>
            <a:r>
              <a:rPr lang="en-US" sz="1800" b="1" dirty="0">
                <a:solidFill>
                  <a:schemeClr val="accent5">
                    <a:lumMod val="90000"/>
                    <a:lumOff val="10000"/>
                  </a:schemeClr>
                </a:solidFill>
                <a:latin typeface="Montserrat SemiBold" panose="00000700000000000000" pitchFamily="2" charset="0"/>
              </a:rPr>
              <a:t>Larger Loan Amounts &amp; Smaller Down Payments</a:t>
            </a:r>
            <a:br>
              <a:rPr lang="en-US" sz="1800" b="1" dirty="0">
                <a:latin typeface="Montserrat SemiBold" panose="00000700000000000000" pitchFamily="2" charset="0"/>
              </a:rPr>
            </a:br>
            <a:r>
              <a:rPr lang="en-US" sz="1800" dirty="0">
                <a:latin typeface="Montserrat SemiBold" panose="00000700000000000000" pitchFamily="2" charset="0"/>
              </a:rPr>
              <a:t>Maximum amount of $5 million. SBA loans generally require lower down payments.</a:t>
            </a:r>
          </a:p>
          <a:p>
            <a:pPr marL="457200" lvl="1" indent="0">
              <a:lnSpc>
                <a:spcPct val="90000"/>
              </a:lnSpc>
              <a:buNone/>
            </a:pPr>
            <a:endParaRPr lang="en-US" b="1" dirty="0">
              <a:solidFill>
                <a:schemeClr val="accent5">
                  <a:lumMod val="90000"/>
                  <a:lumOff val="10000"/>
                </a:schemeClr>
              </a:solidFill>
              <a:latin typeface="Montserrat SemiBold" panose="00000700000000000000" pitchFamily="2" charset="0"/>
            </a:endParaRPr>
          </a:p>
          <a:p>
            <a:pPr marL="457200" lvl="1" indent="0">
              <a:lnSpc>
                <a:spcPct val="90000"/>
              </a:lnSpc>
              <a:buNone/>
            </a:pPr>
            <a:r>
              <a:rPr lang="en-US" sz="1800" b="1" dirty="0">
                <a:solidFill>
                  <a:schemeClr val="accent5">
                    <a:lumMod val="90000"/>
                    <a:lumOff val="10000"/>
                  </a:schemeClr>
                </a:solidFill>
                <a:latin typeface="Montserrat SemiBold" panose="00000700000000000000" pitchFamily="2" charset="0"/>
              </a:rPr>
              <a:t>Flexible Use of Funds</a:t>
            </a:r>
            <a:br>
              <a:rPr lang="en-US" sz="1800" b="1" dirty="0">
                <a:latin typeface="Montserrat SemiBold" panose="00000700000000000000" pitchFamily="2" charset="0"/>
              </a:rPr>
            </a:br>
            <a:r>
              <a:rPr lang="en-US" sz="1800" dirty="0">
                <a:latin typeface="Montserrat SemiBold" panose="00000700000000000000" pitchFamily="2" charset="0"/>
              </a:rPr>
              <a:t>Can be used for working capital, equipment, real estate, debt refi, and improvements.</a:t>
            </a:r>
          </a:p>
          <a:p>
            <a:pPr marL="457200" lvl="1" indent="0">
              <a:lnSpc>
                <a:spcPct val="90000"/>
              </a:lnSpc>
              <a:buNone/>
            </a:pPr>
            <a:endParaRPr lang="en-US" sz="1800" dirty="0">
              <a:latin typeface="Montserrat SemiBold" panose="00000700000000000000" pitchFamily="2" charset="0"/>
            </a:endParaRPr>
          </a:p>
          <a:p>
            <a:pPr marL="457200" lvl="1" indent="0">
              <a:lnSpc>
                <a:spcPct val="90000"/>
              </a:lnSpc>
              <a:buNone/>
            </a:pPr>
            <a:r>
              <a:rPr lang="en-US" sz="1800" b="1" dirty="0">
                <a:solidFill>
                  <a:schemeClr val="accent5">
                    <a:lumMod val="90000"/>
                    <a:lumOff val="10000"/>
                  </a:schemeClr>
                </a:solidFill>
                <a:latin typeface="Montserrat SemiBold" panose="00000700000000000000" pitchFamily="2" charset="0"/>
              </a:rPr>
              <a:t>Easier to Qualify For</a:t>
            </a:r>
            <a:br>
              <a:rPr lang="en-US" sz="1800" b="1" dirty="0">
                <a:latin typeface="Montserrat SemiBold" panose="00000700000000000000" pitchFamily="2" charset="0"/>
              </a:rPr>
            </a:br>
            <a:r>
              <a:rPr lang="en-US" sz="1800" dirty="0">
                <a:latin typeface="Montserrat SemiBold" panose="00000700000000000000" pitchFamily="2" charset="0"/>
              </a:rPr>
              <a:t>Since SBA loans are backed by the government, lenders are more willing to approve borrowers with less-than-perfect scenarios</a:t>
            </a:r>
          </a:p>
          <a:p>
            <a:endParaRPr lang="en-US" dirty="0"/>
          </a:p>
        </p:txBody>
      </p:sp>
      <p:sp>
        <p:nvSpPr>
          <p:cNvPr id="4" name="Slide Number Placeholder 3"/>
          <p:cNvSpPr>
            <a:spLocks noGrp="1"/>
          </p:cNvSpPr>
          <p:nvPr>
            <p:ph type="sldNum" sz="quarter" idx="5"/>
          </p:nvPr>
        </p:nvSpPr>
        <p:spPr/>
        <p:txBody>
          <a:bodyPr/>
          <a:lstStyle/>
          <a:p>
            <a:fld id="{BD822AFC-B4E2-0D4A-A228-717760455FCC}" type="slidenum">
              <a:rPr lang="en-US" smtClean="0"/>
              <a:pPr/>
              <a:t>7</a:t>
            </a:fld>
            <a:endParaRPr lang="en-US" dirty="0"/>
          </a:p>
        </p:txBody>
      </p:sp>
    </p:spTree>
    <p:extLst>
      <p:ext uri="{BB962C8B-B14F-4D97-AF65-F5344CB8AC3E}">
        <p14:creationId xmlns:p14="http://schemas.microsoft.com/office/powerpoint/2010/main" val="3467549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lnSpc>
                <a:spcPct val="90000"/>
              </a:lnSpc>
              <a:buNone/>
            </a:pPr>
            <a:r>
              <a:rPr lang="en-US" sz="2000" b="1" dirty="0">
                <a:solidFill>
                  <a:schemeClr val="accent1"/>
                </a:solidFill>
              </a:rPr>
              <a:t>Cash Flow Bridge</a:t>
            </a:r>
            <a:br>
              <a:rPr lang="en-US" sz="2000" b="1" dirty="0"/>
            </a:br>
            <a:r>
              <a:rPr lang="en-US" sz="2000" dirty="0"/>
              <a:t>Contractors often face fluctuating cash flows due to delayed payments from clients or upfront costs required for materials and labor.</a:t>
            </a:r>
          </a:p>
          <a:p>
            <a:pPr marL="457200" lvl="1" indent="0">
              <a:lnSpc>
                <a:spcPct val="90000"/>
              </a:lnSpc>
              <a:buNone/>
            </a:pPr>
            <a:endParaRPr lang="en-US" sz="2000" dirty="0"/>
          </a:p>
          <a:p>
            <a:pPr marL="457200" lvl="1" indent="0">
              <a:lnSpc>
                <a:spcPct val="90000"/>
              </a:lnSpc>
              <a:buNone/>
            </a:pPr>
            <a:r>
              <a:rPr lang="en-US" sz="2000" b="1" dirty="0">
                <a:solidFill>
                  <a:schemeClr val="accent1"/>
                </a:solidFill>
              </a:rPr>
              <a:t>Supports Business Growth</a:t>
            </a:r>
            <a:br>
              <a:rPr lang="en-US" sz="2000" b="1" dirty="0"/>
            </a:br>
            <a:r>
              <a:rPr lang="en-US" sz="2000" dirty="0"/>
              <a:t>As contractors take on larger projects, they might need additional capital to hire more workers, purchase small equipment, or scale up operations.</a:t>
            </a:r>
          </a:p>
          <a:p>
            <a:pPr marL="457200" lvl="1" indent="0">
              <a:lnSpc>
                <a:spcPct val="90000"/>
              </a:lnSpc>
              <a:buNone/>
            </a:pPr>
            <a:endParaRPr lang="en-US" sz="2000" dirty="0"/>
          </a:p>
          <a:p>
            <a:pPr marL="457200" lvl="1" indent="0">
              <a:lnSpc>
                <a:spcPct val="90000"/>
              </a:lnSpc>
              <a:buNone/>
            </a:pPr>
            <a:r>
              <a:rPr lang="en-US" sz="2000" b="1" dirty="0">
                <a:solidFill>
                  <a:schemeClr val="accent1"/>
                </a:solidFill>
              </a:rPr>
              <a:t>Capital Access on Demand</a:t>
            </a:r>
            <a:br>
              <a:rPr lang="en-US" sz="2000" b="1" dirty="0"/>
            </a:br>
            <a:r>
              <a:rPr lang="en-US" sz="2000" dirty="0"/>
              <a:t>Your credit line remains available whenever business needs arise, giving you reliable access to capital.</a:t>
            </a:r>
          </a:p>
          <a:p>
            <a:endParaRPr lang="en-US" dirty="0"/>
          </a:p>
        </p:txBody>
      </p:sp>
      <p:sp>
        <p:nvSpPr>
          <p:cNvPr id="4" name="Slide Number Placeholder 3"/>
          <p:cNvSpPr>
            <a:spLocks noGrp="1"/>
          </p:cNvSpPr>
          <p:nvPr>
            <p:ph type="sldNum" sz="quarter" idx="5"/>
          </p:nvPr>
        </p:nvSpPr>
        <p:spPr/>
        <p:txBody>
          <a:bodyPr/>
          <a:lstStyle/>
          <a:p>
            <a:fld id="{BD822AFC-B4E2-0D4A-A228-717760455FCC}" type="slidenum">
              <a:rPr lang="en-US" smtClean="0"/>
              <a:pPr/>
              <a:t>8</a:t>
            </a:fld>
            <a:endParaRPr lang="en-US" dirty="0"/>
          </a:p>
        </p:txBody>
      </p:sp>
    </p:spTree>
    <p:extLst>
      <p:ext uri="{BB962C8B-B14F-4D97-AF65-F5344CB8AC3E}">
        <p14:creationId xmlns:p14="http://schemas.microsoft.com/office/powerpoint/2010/main" val="3110846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216A63-F127-47CD-BF8F-BE88E277D1C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62314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822AFC-B4E2-0D4A-A228-717760455FCC}" type="slidenum">
              <a:rPr lang="en-US" smtClean="0"/>
              <a:pPr/>
              <a:t>10</a:t>
            </a:fld>
            <a:endParaRPr lang="en-US" dirty="0"/>
          </a:p>
        </p:txBody>
      </p:sp>
    </p:spTree>
    <p:extLst>
      <p:ext uri="{BB962C8B-B14F-4D97-AF65-F5344CB8AC3E}">
        <p14:creationId xmlns:p14="http://schemas.microsoft.com/office/powerpoint/2010/main" val="25608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822AFC-B4E2-0D4A-A228-717760455FCC}" type="slidenum">
              <a:rPr lang="en-US" smtClean="0"/>
              <a:pPr/>
              <a:t>11</a:t>
            </a:fld>
            <a:endParaRPr lang="en-US" dirty="0"/>
          </a:p>
        </p:txBody>
      </p:sp>
    </p:spTree>
    <p:extLst>
      <p:ext uri="{BB962C8B-B14F-4D97-AF65-F5344CB8AC3E}">
        <p14:creationId xmlns:p14="http://schemas.microsoft.com/office/powerpoint/2010/main" val="41172311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Intro - Blu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6700" y="3116652"/>
            <a:ext cx="7039089" cy="1090993"/>
          </a:xfrm>
          <a:prstGeom prst="rect">
            <a:avLst/>
          </a:prstGeom>
          <a:noFill/>
        </p:spPr>
        <p:txBody>
          <a:bodyPr lIns="114268" tIns="152357" rIns="76171" bIns="76171">
            <a:noAutofit/>
          </a:bodyPr>
          <a:lstStyle>
            <a:lvl1pPr marL="0" indent="0" algn="l">
              <a:lnSpc>
                <a:spcPct val="80000"/>
              </a:lnSpc>
              <a:buNone/>
              <a:defRPr sz="2799" i="0">
                <a:solidFill>
                  <a:schemeClr val="tx2"/>
                </a:solidFill>
                <a:latin typeface="Montserrat SemiBold" panose="00000700000000000000" pitchFamily="2" charset="0"/>
                <a:ea typeface="Roboto" panose="02000000000000000000" pitchFamily="2" charset="0"/>
                <a:cs typeface="Segoe UI" pitchFamily="34" charset="0"/>
              </a:defRPr>
            </a:lvl1pPr>
            <a:lvl2pPr marL="543890" indent="0" algn="ctr">
              <a:buNone/>
              <a:defRPr>
                <a:solidFill>
                  <a:schemeClr val="tx1">
                    <a:tint val="75000"/>
                  </a:schemeClr>
                </a:solidFill>
              </a:defRPr>
            </a:lvl2pPr>
            <a:lvl3pPr marL="1087779" indent="0" algn="ctr">
              <a:buNone/>
              <a:defRPr>
                <a:solidFill>
                  <a:schemeClr val="tx1">
                    <a:tint val="75000"/>
                  </a:schemeClr>
                </a:solidFill>
              </a:defRPr>
            </a:lvl3pPr>
            <a:lvl4pPr marL="1631669" indent="0" algn="ctr">
              <a:buNone/>
              <a:defRPr>
                <a:solidFill>
                  <a:schemeClr val="tx1">
                    <a:tint val="75000"/>
                  </a:schemeClr>
                </a:solidFill>
              </a:defRPr>
            </a:lvl4pPr>
            <a:lvl5pPr marL="2175558" indent="0" algn="ctr">
              <a:buNone/>
              <a:defRPr>
                <a:solidFill>
                  <a:schemeClr val="tx1">
                    <a:tint val="75000"/>
                  </a:schemeClr>
                </a:solidFill>
              </a:defRPr>
            </a:lvl5pPr>
            <a:lvl6pPr marL="2719448" indent="0" algn="ctr">
              <a:buNone/>
              <a:defRPr>
                <a:solidFill>
                  <a:schemeClr val="tx1">
                    <a:tint val="75000"/>
                  </a:schemeClr>
                </a:solidFill>
              </a:defRPr>
            </a:lvl6pPr>
            <a:lvl7pPr marL="3263337" indent="0" algn="ctr">
              <a:buNone/>
              <a:defRPr>
                <a:solidFill>
                  <a:schemeClr val="tx1">
                    <a:tint val="75000"/>
                  </a:schemeClr>
                </a:solidFill>
              </a:defRPr>
            </a:lvl7pPr>
            <a:lvl8pPr marL="3807226" indent="0" algn="ctr">
              <a:buNone/>
              <a:defRPr>
                <a:solidFill>
                  <a:schemeClr val="tx1">
                    <a:tint val="75000"/>
                  </a:schemeClr>
                </a:solidFill>
              </a:defRPr>
            </a:lvl8pPr>
            <a:lvl9pPr marL="4351116"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ctrTitle"/>
          </p:nvPr>
        </p:nvSpPr>
        <p:spPr>
          <a:xfrm>
            <a:off x="266700" y="2125585"/>
            <a:ext cx="11575459" cy="980661"/>
          </a:xfrm>
          <a:prstGeom prst="rect">
            <a:avLst/>
          </a:prstGeom>
          <a:noFill/>
        </p:spPr>
        <p:txBody>
          <a:bodyPr lIns="114268" tIns="152357" rIns="76171" bIns="76171" anchor="t">
            <a:noAutofit/>
          </a:bodyPr>
          <a:lstStyle>
            <a:lvl1pPr algn="l">
              <a:lnSpc>
                <a:spcPct val="80000"/>
              </a:lnSpc>
              <a:defRPr sz="4399" b="1" baseline="0">
                <a:solidFill>
                  <a:schemeClr val="tx1"/>
                </a:solidFill>
                <a:latin typeface="Montserrat Medium" pitchFamily="2" charset="77"/>
                <a:ea typeface="Montserrat Medium" pitchFamily="2" charset="77"/>
                <a:cs typeface="Segoe UI Light" panose="020B0502040204020203" pitchFamily="34" charset="0"/>
              </a:defRPr>
            </a:lvl1pPr>
          </a:lstStyle>
          <a:p>
            <a:r>
              <a:rPr lang="en-US" dirty="0"/>
              <a:t>Click to edit Master title style</a:t>
            </a:r>
          </a:p>
        </p:txBody>
      </p:sp>
      <p:sp>
        <p:nvSpPr>
          <p:cNvPr id="10" name="Slide Number Placeholder 9">
            <a:extLst>
              <a:ext uri="{FF2B5EF4-FFF2-40B4-BE49-F238E27FC236}">
                <a16:creationId xmlns:a16="http://schemas.microsoft.com/office/drawing/2014/main" id="{55565E78-E99F-41D8-BA90-D66FBB0BB172}"/>
              </a:ext>
            </a:extLst>
          </p:cNvPr>
          <p:cNvSpPr>
            <a:spLocks noGrp="1"/>
          </p:cNvSpPr>
          <p:nvPr>
            <p:ph type="sldNum" sz="quarter" idx="12"/>
          </p:nvPr>
        </p:nvSpPr>
        <p:spPr>
          <a:xfrm>
            <a:off x="55880" y="6286500"/>
            <a:ext cx="421640" cy="365125"/>
          </a:xfrm>
        </p:spPr>
        <p:txBody>
          <a:bodyPr/>
          <a:lstStyle>
            <a:lvl1pPr>
              <a:defRPr sz="900">
                <a:latin typeface="Roboto" panose="02000000000000000000" pitchFamily="2" charset="0"/>
                <a:ea typeface="Roboto" panose="02000000000000000000" pitchFamily="2" charset="0"/>
              </a:defRPr>
            </a:lvl1pPr>
          </a:lstStyle>
          <a:p>
            <a:pPr defTabSz="914126">
              <a:defRPr/>
            </a:pPr>
            <a:fld id="{AEACC2C1-74EF-4D17-8FCA-30885DD06988}" type="slidenum">
              <a:rPr lang="en-US" smtClean="0">
                <a:solidFill>
                  <a:srgbClr val="1D2B36">
                    <a:tint val="75000"/>
                  </a:srgbClr>
                </a:solidFill>
                <a:latin typeface="Montserrat SemiBold" panose="00000700000000000000" pitchFamily="2" charset="0"/>
              </a:rPr>
              <a:pPr defTabSz="914126">
                <a:defRPr/>
              </a:pPr>
              <a:t>‹#›</a:t>
            </a:fld>
            <a:r>
              <a:rPr lang="en-US" dirty="0">
                <a:solidFill>
                  <a:srgbClr val="1D2B36">
                    <a:tint val="75000"/>
                  </a:srgbClr>
                </a:solidFill>
                <a:latin typeface="Montserrat SemiBold" panose="00000700000000000000" pitchFamily="2" charset="0"/>
              </a:rPr>
              <a:t>Ï</a:t>
            </a:r>
          </a:p>
        </p:txBody>
      </p:sp>
      <p:sp>
        <p:nvSpPr>
          <p:cNvPr id="14" name="Title Placeholder 1">
            <a:extLst>
              <a:ext uri="{FF2B5EF4-FFF2-40B4-BE49-F238E27FC236}">
                <a16:creationId xmlns:a16="http://schemas.microsoft.com/office/drawing/2014/main" id="{917F5F61-E993-8324-7A84-541C4D78DC46}"/>
              </a:ext>
            </a:extLst>
          </p:cNvPr>
          <p:cNvSpPr txBox="1">
            <a:spLocks/>
          </p:cNvSpPr>
          <p:nvPr userDrawn="1"/>
        </p:nvSpPr>
        <p:spPr>
          <a:xfrm>
            <a:off x="266700" y="571500"/>
            <a:ext cx="10303510" cy="375430"/>
          </a:xfrm>
          <a:prstGeom prst="rect">
            <a:avLst/>
          </a:prstGeom>
        </p:spPr>
        <p:txBody>
          <a:bodyPr vert="horz" lIns="0" tIns="0" rIns="0" bIns="0" rtlCol="0" anchor="t">
            <a:noAutofit/>
          </a:bodyPr>
          <a:lstStyle>
            <a:lvl1pPr algn="l" defTabSz="914126" rtl="0" eaLnBrk="1" latinLnBrk="0" hangingPunct="1">
              <a:lnSpc>
                <a:spcPct val="90000"/>
              </a:lnSpc>
              <a:spcBef>
                <a:spcPct val="0"/>
              </a:spcBef>
              <a:buNone/>
              <a:defRPr sz="4399" b="0" kern="1200">
                <a:solidFill>
                  <a:schemeClr val="accent3"/>
                </a:solidFill>
                <a:latin typeface="Franklin Gothic Demi" panose="020B0703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dirty="0">
                <a:latin typeface="Montserrat Medium" pitchFamily="2" charset="77"/>
              </a:rPr>
              <a:t>Headline – Montserrat Regular 40pts</a:t>
            </a:r>
          </a:p>
        </p:txBody>
      </p:sp>
      <p:pic>
        <p:nvPicPr>
          <p:cNvPr id="15" name="Picture 17">
            <a:extLst>
              <a:ext uri="{FF2B5EF4-FFF2-40B4-BE49-F238E27FC236}">
                <a16:creationId xmlns:a16="http://schemas.microsoft.com/office/drawing/2014/main" id="{2E6B7B51-5D86-06E1-4F10-6365024CFCE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102644" y="6096000"/>
            <a:ext cx="91202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a:extLst>
              <a:ext uri="{FF2B5EF4-FFF2-40B4-BE49-F238E27FC236}">
                <a16:creationId xmlns:a16="http://schemas.microsoft.com/office/drawing/2014/main" id="{FA75036D-3CA1-5C89-2C18-A312EE468B5C}"/>
              </a:ext>
            </a:extLst>
          </p:cNvPr>
          <p:cNvSpPr/>
          <p:nvPr userDrawn="1"/>
        </p:nvSpPr>
        <p:spPr>
          <a:xfrm>
            <a:off x="0" y="6286501"/>
            <a:ext cx="609600" cy="342899"/>
          </a:xfrm>
          <a:prstGeom prst="rect">
            <a:avLst/>
          </a:prstGeom>
          <a:solidFill>
            <a:schemeClr val="accent2"/>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fld id="{D4B238CA-8298-9847-A038-EDDC61FBD32B}" type="slidenum">
              <a:rPr lang="en-US" sz="600" smtClean="0">
                <a:solidFill>
                  <a:schemeClr val="bg1"/>
                </a:solidFill>
                <a:latin typeface="Montserrat SemiBold" panose="00000700000000000000" pitchFamily="2" charset="0"/>
                <a:ea typeface="Roboto" panose="02000000000000000000" pitchFamily="2" charset="0"/>
                <a:cs typeface="Roboto" panose="02000000000000000000" pitchFamily="2" charset="0"/>
              </a:rPr>
              <a:pPr algn="ctr"/>
              <a:t>‹#›</a:t>
            </a:fld>
            <a:endParaRPr lang="en-US" sz="600" dirty="0">
              <a:solidFill>
                <a:schemeClr val="bg1"/>
              </a:solidFill>
              <a:latin typeface="Montserrat SemiBold" panose="00000700000000000000" pitchFamily="2" charset="0"/>
              <a:ea typeface="Roboto" panose="02000000000000000000" pitchFamily="2" charset="0"/>
              <a:cs typeface="Roboto" panose="02000000000000000000" pitchFamily="2" charset="0"/>
            </a:endParaRPr>
          </a:p>
        </p:txBody>
      </p:sp>
      <p:sp>
        <p:nvSpPr>
          <p:cNvPr id="17" name="Slide Number Placeholder 5">
            <a:extLst>
              <a:ext uri="{FF2B5EF4-FFF2-40B4-BE49-F238E27FC236}">
                <a16:creationId xmlns:a16="http://schemas.microsoft.com/office/drawing/2014/main" id="{2BA48AD1-B0AC-0881-FC36-193726432F6F}"/>
              </a:ext>
            </a:extLst>
          </p:cNvPr>
          <p:cNvSpPr txBox="1">
            <a:spLocks/>
          </p:cNvSpPr>
          <p:nvPr userDrawn="1"/>
        </p:nvSpPr>
        <p:spPr>
          <a:xfrm>
            <a:off x="762000" y="6286500"/>
            <a:ext cx="3718559" cy="342900"/>
          </a:xfrm>
          <a:prstGeom prst="rect">
            <a:avLst/>
          </a:prstGeom>
        </p:spPr>
        <p:txBody>
          <a:bodyPr vert="horz" lIns="0" tIns="0" rIns="0" bIns="0" rtlCol="0" anchor="ctr"/>
          <a:lstStyle>
            <a:defPPr>
              <a:defRPr lang="en-US"/>
            </a:defPPr>
            <a:lvl1pPr marL="0" algn="l" defTabSz="342900" rtl="0" eaLnBrk="1" latinLnBrk="0" hangingPunct="1">
              <a:defRPr sz="500" b="0" i="0" kern="1200">
                <a:solidFill>
                  <a:schemeClr val="accent3">
                    <a:lumMod val="60000"/>
                    <a:lumOff val="40000"/>
                  </a:schemeClr>
                </a:solidFill>
                <a:latin typeface="Roboto" panose="02000000000000000000" pitchFamily="2" charset="0"/>
                <a:ea typeface="Roboto" panose="02000000000000000000" pitchFamily="2" charset="0"/>
                <a:cs typeface="Roboto" panose="02000000000000000000" pitchFamily="2" charset="0"/>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700" dirty="0">
                <a:solidFill>
                  <a:schemeClr val="tx2"/>
                </a:solidFill>
                <a:latin typeface="Montserrat SemiBold" panose="00000700000000000000" pitchFamily="2" charset="0"/>
                <a:sym typeface="Gill Sans" charset="0"/>
              </a:rPr>
              <a:t>Community Reinvestment Fund, USA © Copyright 2023 – CRF is an equal opportunity provider</a:t>
            </a:r>
          </a:p>
        </p:txBody>
      </p:sp>
    </p:spTree>
    <p:extLst>
      <p:ext uri="{BB962C8B-B14F-4D97-AF65-F5344CB8AC3E}">
        <p14:creationId xmlns:p14="http://schemas.microsoft.com/office/powerpoint/2010/main" val="3110262799"/>
      </p:ext>
    </p:extLst>
  </p:cSld>
  <p:clrMapOvr>
    <a:masterClrMapping/>
  </p:clrMapOvr>
  <p:transition spd="slow">
    <p:fade/>
  </p:transition>
  <p:extLst>
    <p:ext uri="{DCECCB84-F9BA-43D5-87BE-67443E8EF086}">
      <p15:sldGuideLst xmlns:p15="http://schemas.microsoft.com/office/powerpoint/2012/main">
        <p15:guide id="1" pos="384" userDrawn="1">
          <p15:clr>
            <a:srgbClr val="FBAE40"/>
          </p15:clr>
        </p15:guide>
        <p15:guide id="2" pos="7296" userDrawn="1">
          <p15:clr>
            <a:srgbClr val="FBAE40"/>
          </p15:clr>
        </p15:guide>
        <p15:guide id="3" orient="horz" pos="360" userDrawn="1">
          <p15:clr>
            <a:srgbClr val="FBAE40"/>
          </p15:clr>
        </p15:guide>
        <p15:guide id="4" orient="horz" pos="3960" userDrawn="1">
          <p15:clr>
            <a:srgbClr val="FBAE40"/>
          </p15:clr>
        </p15:guide>
        <p15:guide id="5" pos="3840" userDrawn="1">
          <p15:clr>
            <a:srgbClr val="FBAE40"/>
          </p15:clr>
        </p15:guide>
        <p15:guide id="6"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9F3902B-A7ED-64CC-F3B6-1EDE55DA1F00}"/>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4" name="Footer Placeholder 3">
            <a:extLst>
              <a:ext uri="{FF2B5EF4-FFF2-40B4-BE49-F238E27FC236}">
                <a16:creationId xmlns:a16="http://schemas.microsoft.com/office/drawing/2014/main" id="{55FAFC0E-B668-14B5-69A1-EA0B26EBE998}"/>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5" name="Slide Number Placeholder 4">
            <a:extLst>
              <a:ext uri="{FF2B5EF4-FFF2-40B4-BE49-F238E27FC236}">
                <a16:creationId xmlns:a16="http://schemas.microsoft.com/office/drawing/2014/main" id="{4AF438D7-F780-A090-5333-A442E52496CE}"/>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6" name="Freeform: Shape 5">
            <a:extLst>
              <a:ext uri="{FF2B5EF4-FFF2-40B4-BE49-F238E27FC236}">
                <a16:creationId xmlns:a16="http://schemas.microsoft.com/office/drawing/2014/main" id="{F42C8411-223D-445A-D23B-13D5743EE109}"/>
              </a:ext>
            </a:extLst>
          </p:cNvPr>
          <p:cNvSpPr/>
          <p:nvPr userDrawn="1"/>
        </p:nvSpPr>
        <p:spPr>
          <a:xfrm>
            <a:off x="0" y="8708"/>
            <a:ext cx="12174583" cy="6849292"/>
          </a:xfrm>
          <a:custGeom>
            <a:avLst/>
            <a:gdLst>
              <a:gd name="connsiteX0" fmla="*/ 4354 w 12174583"/>
              <a:gd name="connsiteY0" fmla="*/ 0 h 6849292"/>
              <a:gd name="connsiteX1" fmla="*/ 12174583 w 12174583"/>
              <a:gd name="connsiteY1" fmla="*/ 6849292 h 6849292"/>
              <a:gd name="connsiteX2" fmla="*/ 0 w 12174583"/>
              <a:gd name="connsiteY2" fmla="*/ 6849292 h 6849292"/>
              <a:gd name="connsiteX3" fmla="*/ 4354 w 12174583"/>
              <a:gd name="connsiteY3" fmla="*/ 0 h 6849292"/>
            </a:gdLst>
            <a:ahLst/>
            <a:cxnLst>
              <a:cxn ang="0">
                <a:pos x="connsiteX0" y="connsiteY0"/>
              </a:cxn>
              <a:cxn ang="0">
                <a:pos x="connsiteX1" y="connsiteY1"/>
              </a:cxn>
              <a:cxn ang="0">
                <a:pos x="connsiteX2" y="connsiteY2"/>
              </a:cxn>
              <a:cxn ang="0">
                <a:pos x="connsiteX3" y="connsiteY3"/>
              </a:cxn>
            </a:cxnLst>
            <a:rect l="l" t="t" r="r" b="b"/>
            <a:pathLst>
              <a:path w="12174583" h="6849292">
                <a:moveTo>
                  <a:pt x="4354" y="0"/>
                </a:moveTo>
                <a:lnTo>
                  <a:pt x="12174583" y="6849292"/>
                </a:lnTo>
                <a:lnTo>
                  <a:pt x="0" y="6849292"/>
                </a:lnTo>
                <a:cubicBezTo>
                  <a:pt x="1451" y="4566195"/>
                  <a:pt x="2903" y="2283097"/>
                  <a:pt x="4354"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2" name="Title 1">
            <a:extLst>
              <a:ext uri="{FF2B5EF4-FFF2-40B4-BE49-F238E27FC236}">
                <a16:creationId xmlns:a16="http://schemas.microsoft.com/office/drawing/2014/main" id="{0399CFB7-A5C3-3E4D-F3CE-02B5A5F371CE}"/>
              </a:ext>
            </a:extLst>
          </p:cNvPr>
          <p:cNvSpPr>
            <a:spLocks noGrp="1"/>
          </p:cNvSpPr>
          <p:nvPr>
            <p:ph type="title" hasCustomPrompt="1"/>
          </p:nvPr>
        </p:nvSpPr>
        <p:spPr>
          <a:xfrm>
            <a:off x="632460" y="4358640"/>
            <a:ext cx="7292340" cy="1808480"/>
          </a:xfrm>
        </p:spPr>
        <p:txBody>
          <a:bodyPr>
            <a:normAutofit/>
          </a:bodyPr>
          <a:lstStyle>
            <a:lvl1pPr>
              <a:defRPr sz="5400" b="1" i="0">
                <a:latin typeface="Montserrat" pitchFamily="2" charset="77"/>
              </a:defRPr>
            </a:lvl1pPr>
          </a:lstStyle>
          <a:p>
            <a:r>
              <a:rPr lang="en-US" dirty="0"/>
              <a:t>Title Screen</a:t>
            </a:r>
          </a:p>
        </p:txBody>
      </p:sp>
      <p:pic>
        <p:nvPicPr>
          <p:cNvPr id="8" name="Picture 17">
            <a:extLst>
              <a:ext uri="{FF2B5EF4-FFF2-40B4-BE49-F238E27FC236}">
                <a16:creationId xmlns:a16="http://schemas.microsoft.com/office/drawing/2014/main" id="{EED377FA-D2F5-9B90-B6CB-B8A1160BAB2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05206" y="457200"/>
            <a:ext cx="3420094"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1720368"/>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06DD7-7257-42CB-95DA-09B72D41B459}"/>
              </a:ext>
            </a:extLst>
          </p:cNvPr>
          <p:cNvSpPr>
            <a:spLocks noGrp="1"/>
          </p:cNvSpPr>
          <p:nvPr>
            <p:ph type="title"/>
          </p:nvPr>
        </p:nvSpPr>
        <p:spPr>
          <a:xfrm>
            <a:off x="831850" y="1709740"/>
            <a:ext cx="10515600" cy="2852737"/>
          </a:xfrm>
          <a:prstGeom prst="rect">
            <a:avLst/>
          </a:prstGeom>
        </p:spPr>
        <p:txBody>
          <a:bodyPr anchor="b"/>
          <a:lstStyle>
            <a:lvl1pPr>
              <a:defRPr sz="5998" b="0">
                <a:latin typeface="Franklin Gothic Demi" panose="020B07030201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DBCFDBD5-7EA4-48CC-B381-D7C8636B4CCD}"/>
              </a:ext>
            </a:extLst>
          </p:cNvPr>
          <p:cNvSpPr>
            <a:spLocks noGrp="1"/>
          </p:cNvSpPr>
          <p:nvPr>
            <p:ph type="body" idx="1"/>
          </p:nvPr>
        </p:nvSpPr>
        <p:spPr>
          <a:xfrm>
            <a:off x="831850" y="4589465"/>
            <a:ext cx="10515600" cy="1500187"/>
          </a:xfrm>
          <a:prstGeom prst="rect">
            <a:avLst/>
          </a:prstGeo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dirty="0"/>
              <a:t>Edit Master text styles</a:t>
            </a:r>
          </a:p>
        </p:txBody>
      </p:sp>
      <p:sp>
        <p:nvSpPr>
          <p:cNvPr id="4" name="Date Placeholder 3">
            <a:extLst>
              <a:ext uri="{FF2B5EF4-FFF2-40B4-BE49-F238E27FC236}">
                <a16:creationId xmlns:a16="http://schemas.microsoft.com/office/drawing/2014/main" id="{EBDFA68A-D8EF-4D10-8614-9D1D592A683A}"/>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3CDCFF3E-D33F-48CE-A307-88EE50FB1B8E}"/>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238D04AA-BDD6-4C43-8138-09BEAEB4D51C}"/>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3529270920"/>
      </p:ext>
    </p:extLst>
  </p:cSld>
  <p:clrMapOvr>
    <a:masterClrMapping/>
  </p:clrMapOvr>
  <p:transition spd="slow">
    <p:fade/>
  </p:transition>
  <p:extLst>
    <p:ext uri="{DCECCB84-F9BA-43D5-87BE-67443E8EF086}">
      <p15:sldGuideLst xmlns:p15="http://schemas.microsoft.com/office/powerpoint/2012/main">
        <p15:guide id="1" pos="16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266700" y="228601"/>
            <a:ext cx="11658600" cy="1010920"/>
          </a:xfrm>
          <a:prstGeom prst="rect">
            <a:avLst/>
          </a:prstGeom>
        </p:spPr>
        <p:txBody>
          <a:bodyPr anchor="t"/>
          <a:lstStyle>
            <a:lvl1pPr>
              <a:defRPr b="1" i="0">
                <a:solidFill>
                  <a:schemeClr val="accent2"/>
                </a:solidFill>
                <a:latin typeface="Montserrat SemiBold"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266700" y="1615440"/>
            <a:ext cx="11087101" cy="4561523"/>
          </a:xfrm>
          <a:prstGeom prst="rect">
            <a:avLst/>
          </a:prstGeom>
        </p:spPr>
        <p:txBody>
          <a:bodyPr/>
          <a:lstStyle>
            <a:lvl1pPr>
              <a:defRPr/>
            </a:lvl1pPr>
            <a:lvl2pPr>
              <a:defRPr>
                <a:latin typeface="Montserrat SemiBold" panose="00000700000000000000" pitchFamily="2" charset="0"/>
              </a:defRPr>
            </a:lvl2pPr>
            <a:lvl3pPr>
              <a:defRPr>
                <a:latin typeface="Montserrat SemiBold" panose="00000700000000000000" pitchFamily="2" charset="0"/>
              </a:defRPr>
            </a:lvl3pPr>
            <a:lvl4pPr>
              <a:defRPr>
                <a:latin typeface="Montserrat SemiBold" panose="00000700000000000000" pitchFamily="2" charset="0"/>
              </a:defRPr>
            </a:lvl4pPr>
            <a:lvl5pPr>
              <a:defRPr>
                <a:latin typeface="Montserrat SemiBold" panose="00000700000000000000"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9">
            <a:extLst>
              <a:ext uri="{FF2B5EF4-FFF2-40B4-BE49-F238E27FC236}">
                <a16:creationId xmlns:a16="http://schemas.microsoft.com/office/drawing/2014/main" id="{D105E41C-EA3D-6613-BE0A-B9975A4CBB03}"/>
              </a:ext>
            </a:extLst>
          </p:cNvPr>
          <p:cNvSpPr>
            <a:spLocks noGrp="1"/>
          </p:cNvSpPr>
          <p:nvPr>
            <p:ph type="sldNum" sz="quarter" idx="12"/>
          </p:nvPr>
        </p:nvSpPr>
        <p:spPr>
          <a:xfrm>
            <a:off x="55880" y="6286500"/>
            <a:ext cx="421640" cy="365125"/>
          </a:xfrm>
        </p:spPr>
        <p:txBody>
          <a:bodyPr/>
          <a:lstStyle>
            <a:lvl1pPr>
              <a:defRPr sz="900">
                <a:latin typeface="Roboto" panose="02000000000000000000" pitchFamily="2" charset="0"/>
                <a:ea typeface="Roboto" panose="02000000000000000000" pitchFamily="2" charset="0"/>
              </a:defRPr>
            </a:lvl1pPr>
          </a:lstStyle>
          <a:p>
            <a:pPr defTabSz="914126">
              <a:defRPr/>
            </a:pPr>
            <a:fld id="{AEACC2C1-74EF-4D17-8FCA-30885DD06988}" type="slidenum">
              <a:rPr lang="en-US" smtClean="0">
                <a:solidFill>
                  <a:srgbClr val="1D2B36">
                    <a:tint val="75000"/>
                  </a:srgbClr>
                </a:solidFill>
                <a:latin typeface="Montserrat SemiBold" panose="00000700000000000000" pitchFamily="2" charset="0"/>
              </a:rPr>
              <a:pPr defTabSz="914126">
                <a:defRPr/>
              </a:pPr>
              <a:t>‹#›</a:t>
            </a:fld>
            <a:r>
              <a:rPr lang="en-US" dirty="0">
                <a:solidFill>
                  <a:srgbClr val="1D2B36">
                    <a:tint val="75000"/>
                  </a:srgbClr>
                </a:solidFill>
                <a:latin typeface="Montserrat SemiBold" panose="00000700000000000000" pitchFamily="2" charset="0"/>
              </a:rPr>
              <a:t>Ï</a:t>
            </a:r>
          </a:p>
        </p:txBody>
      </p:sp>
      <p:pic>
        <p:nvPicPr>
          <p:cNvPr id="8" name="Picture 17">
            <a:extLst>
              <a:ext uri="{FF2B5EF4-FFF2-40B4-BE49-F238E27FC236}">
                <a16:creationId xmlns:a16="http://schemas.microsoft.com/office/drawing/2014/main" id="{F471CC9F-CB76-F088-2355-B32F449AC38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102644" y="6096000"/>
            <a:ext cx="91202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BE8112AB-4F47-3FE8-E6AD-CC7EBE6EFB61}"/>
              </a:ext>
            </a:extLst>
          </p:cNvPr>
          <p:cNvSpPr/>
          <p:nvPr userDrawn="1"/>
        </p:nvSpPr>
        <p:spPr>
          <a:xfrm>
            <a:off x="0" y="6286501"/>
            <a:ext cx="609600" cy="342899"/>
          </a:xfrm>
          <a:prstGeom prst="rect">
            <a:avLst/>
          </a:prstGeom>
          <a:solidFill>
            <a:schemeClr val="accent2"/>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fld id="{D4B238CA-8298-9847-A038-EDDC61FBD32B}" type="slidenum">
              <a:rPr lang="en-US" sz="600" smtClean="0">
                <a:solidFill>
                  <a:schemeClr val="bg1"/>
                </a:solidFill>
                <a:latin typeface="Montserrat SemiBold" panose="00000700000000000000" pitchFamily="2" charset="0"/>
                <a:ea typeface="Roboto" panose="02000000000000000000" pitchFamily="2" charset="0"/>
                <a:cs typeface="Roboto" panose="02000000000000000000" pitchFamily="2" charset="0"/>
              </a:rPr>
              <a:pPr algn="ctr"/>
              <a:t>‹#›</a:t>
            </a:fld>
            <a:endParaRPr lang="en-US" sz="600" dirty="0">
              <a:solidFill>
                <a:schemeClr val="bg1"/>
              </a:solidFill>
              <a:latin typeface="Montserrat SemiBold" panose="00000700000000000000" pitchFamily="2" charset="0"/>
              <a:ea typeface="Roboto" panose="02000000000000000000" pitchFamily="2" charset="0"/>
              <a:cs typeface="Roboto" panose="02000000000000000000" pitchFamily="2" charset="0"/>
            </a:endParaRPr>
          </a:p>
        </p:txBody>
      </p:sp>
      <p:sp>
        <p:nvSpPr>
          <p:cNvPr id="10" name="Slide Number Placeholder 5">
            <a:extLst>
              <a:ext uri="{FF2B5EF4-FFF2-40B4-BE49-F238E27FC236}">
                <a16:creationId xmlns:a16="http://schemas.microsoft.com/office/drawing/2014/main" id="{D5F77521-BD5E-7372-46AE-3CAE9D371B91}"/>
              </a:ext>
            </a:extLst>
          </p:cNvPr>
          <p:cNvSpPr txBox="1">
            <a:spLocks/>
          </p:cNvSpPr>
          <p:nvPr userDrawn="1"/>
        </p:nvSpPr>
        <p:spPr>
          <a:xfrm>
            <a:off x="762000" y="6286500"/>
            <a:ext cx="3718559" cy="342900"/>
          </a:xfrm>
          <a:prstGeom prst="rect">
            <a:avLst/>
          </a:prstGeom>
        </p:spPr>
        <p:txBody>
          <a:bodyPr vert="horz" lIns="0" tIns="0" rIns="0" bIns="0" rtlCol="0" anchor="ctr"/>
          <a:lstStyle>
            <a:defPPr>
              <a:defRPr lang="en-US"/>
            </a:defPPr>
            <a:lvl1pPr marL="0" algn="l" defTabSz="342900" rtl="0" eaLnBrk="1" latinLnBrk="0" hangingPunct="1">
              <a:defRPr sz="500" b="0" i="0" kern="1200">
                <a:solidFill>
                  <a:schemeClr val="accent3">
                    <a:lumMod val="60000"/>
                    <a:lumOff val="40000"/>
                  </a:schemeClr>
                </a:solidFill>
                <a:latin typeface="Roboto" panose="02000000000000000000" pitchFamily="2" charset="0"/>
                <a:ea typeface="Roboto" panose="02000000000000000000" pitchFamily="2" charset="0"/>
                <a:cs typeface="Roboto" panose="02000000000000000000" pitchFamily="2" charset="0"/>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700" dirty="0">
                <a:solidFill>
                  <a:schemeClr val="tx2"/>
                </a:solidFill>
                <a:latin typeface="Montserrat SemiBold" panose="00000700000000000000" pitchFamily="2" charset="0"/>
                <a:sym typeface="Gill Sans" charset="0"/>
              </a:rPr>
              <a:t>Community Reinvestment Fund, USA © Copyright 2023 – CRF is an equal opportunity provider</a:t>
            </a:r>
          </a:p>
        </p:txBody>
      </p:sp>
      <p:sp>
        <p:nvSpPr>
          <p:cNvPr id="11" name="Rectangle 10">
            <a:extLst>
              <a:ext uri="{FF2B5EF4-FFF2-40B4-BE49-F238E27FC236}">
                <a16:creationId xmlns:a16="http://schemas.microsoft.com/office/drawing/2014/main" id="{C5CF7143-FA7F-99B1-B9D8-2FB6B1562B6B}"/>
              </a:ext>
            </a:extLst>
          </p:cNvPr>
          <p:cNvSpPr/>
          <p:nvPr userDrawn="1"/>
        </p:nvSpPr>
        <p:spPr>
          <a:xfrm>
            <a:off x="0" y="0"/>
            <a:ext cx="7013448" cy="457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12" name="Rectangle 11">
            <a:extLst>
              <a:ext uri="{FF2B5EF4-FFF2-40B4-BE49-F238E27FC236}">
                <a16:creationId xmlns:a16="http://schemas.microsoft.com/office/drawing/2014/main" id="{19D71F83-4A47-60F6-E59C-EBE0F03544EA}"/>
              </a:ext>
            </a:extLst>
          </p:cNvPr>
          <p:cNvSpPr/>
          <p:nvPr userDrawn="1"/>
        </p:nvSpPr>
        <p:spPr>
          <a:xfrm>
            <a:off x="7022592" y="0"/>
            <a:ext cx="3666744" cy="45719"/>
          </a:xfrm>
          <a:prstGeom prst="rect">
            <a:avLst/>
          </a:prstGeom>
          <a:solidFill>
            <a:srgbClr val="78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13" name="Rectangle 12">
            <a:extLst>
              <a:ext uri="{FF2B5EF4-FFF2-40B4-BE49-F238E27FC236}">
                <a16:creationId xmlns:a16="http://schemas.microsoft.com/office/drawing/2014/main" id="{6A025668-34D6-F020-EB01-5FEF66B67BCC}"/>
              </a:ext>
            </a:extLst>
          </p:cNvPr>
          <p:cNvSpPr/>
          <p:nvPr userDrawn="1"/>
        </p:nvSpPr>
        <p:spPr>
          <a:xfrm>
            <a:off x="10671048" y="0"/>
            <a:ext cx="1520952" cy="4571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Tree>
    <p:extLst>
      <p:ext uri="{BB962C8B-B14F-4D97-AF65-F5344CB8AC3E}">
        <p14:creationId xmlns:p14="http://schemas.microsoft.com/office/powerpoint/2010/main" val="947132980"/>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B30D7D-4BD0-AB57-EFC8-811FA1712E85}"/>
              </a:ext>
            </a:extLst>
          </p:cNvPr>
          <p:cNvSpPr/>
          <p:nvPr userDrawn="1"/>
        </p:nvSpPr>
        <p:spPr>
          <a:xfrm>
            <a:off x="-1" y="1609344"/>
            <a:ext cx="12192001" cy="4379976"/>
          </a:xfrm>
          <a:prstGeom prst="rect">
            <a:avLst/>
          </a:prstGeom>
          <a:solidFill>
            <a:srgbClr val="78D3C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endParaRPr>
          </a:p>
        </p:txBody>
      </p:sp>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266700" y="228601"/>
            <a:ext cx="11658600" cy="1010920"/>
          </a:xfrm>
          <a:prstGeom prst="rect">
            <a:avLst/>
          </a:prstGeom>
        </p:spPr>
        <p:txBody>
          <a:bodyPr anchor="t"/>
          <a:lstStyle>
            <a:lvl1pPr>
              <a:defRPr b="1" i="0">
                <a:solidFill>
                  <a:schemeClr val="accent2"/>
                </a:solidFill>
                <a:latin typeface="Montserrat SemiBold"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266700" y="1615440"/>
            <a:ext cx="11087101" cy="4561523"/>
          </a:xfrm>
          <a:prstGeom prst="rect">
            <a:avLst/>
          </a:prstGeom>
        </p:spPr>
        <p:txBody>
          <a:bodyPr/>
          <a:lstStyle>
            <a:lvl1pPr>
              <a:defRPr/>
            </a:lvl1pPr>
            <a:lvl2pPr>
              <a:defRPr>
                <a:latin typeface="Montserrat SemiBold" panose="00000700000000000000" pitchFamily="2" charset="0"/>
              </a:defRPr>
            </a:lvl2pPr>
            <a:lvl3pPr>
              <a:defRPr>
                <a:latin typeface="Montserrat SemiBold" panose="00000700000000000000" pitchFamily="2" charset="0"/>
              </a:defRPr>
            </a:lvl3pPr>
            <a:lvl4pPr>
              <a:defRPr>
                <a:latin typeface="Montserrat SemiBold" panose="00000700000000000000" pitchFamily="2" charset="0"/>
              </a:defRPr>
            </a:lvl4pPr>
            <a:lvl5pPr>
              <a:defRPr>
                <a:latin typeface="Montserrat SemiBold" panose="00000700000000000000"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9">
            <a:extLst>
              <a:ext uri="{FF2B5EF4-FFF2-40B4-BE49-F238E27FC236}">
                <a16:creationId xmlns:a16="http://schemas.microsoft.com/office/drawing/2014/main" id="{D105E41C-EA3D-6613-BE0A-B9975A4CBB03}"/>
              </a:ext>
            </a:extLst>
          </p:cNvPr>
          <p:cNvSpPr>
            <a:spLocks noGrp="1"/>
          </p:cNvSpPr>
          <p:nvPr>
            <p:ph type="sldNum" sz="quarter" idx="12"/>
          </p:nvPr>
        </p:nvSpPr>
        <p:spPr>
          <a:xfrm>
            <a:off x="55880" y="6286500"/>
            <a:ext cx="421640" cy="365125"/>
          </a:xfrm>
        </p:spPr>
        <p:txBody>
          <a:bodyPr/>
          <a:lstStyle>
            <a:lvl1pPr>
              <a:defRPr sz="900">
                <a:latin typeface="Roboto" panose="02000000000000000000" pitchFamily="2" charset="0"/>
                <a:ea typeface="Roboto" panose="02000000000000000000" pitchFamily="2" charset="0"/>
              </a:defRPr>
            </a:lvl1pPr>
          </a:lstStyle>
          <a:p>
            <a:pPr defTabSz="914126">
              <a:defRPr/>
            </a:pPr>
            <a:fld id="{AEACC2C1-74EF-4D17-8FCA-30885DD06988}" type="slidenum">
              <a:rPr lang="en-US" smtClean="0">
                <a:solidFill>
                  <a:srgbClr val="1D2B36">
                    <a:tint val="75000"/>
                  </a:srgbClr>
                </a:solidFill>
                <a:latin typeface="Montserrat SemiBold" panose="00000700000000000000" pitchFamily="2" charset="0"/>
              </a:rPr>
              <a:pPr defTabSz="914126">
                <a:defRPr/>
              </a:pPr>
              <a:t>‹#›</a:t>
            </a:fld>
            <a:r>
              <a:rPr lang="en-US" dirty="0">
                <a:solidFill>
                  <a:srgbClr val="1D2B36">
                    <a:tint val="75000"/>
                  </a:srgbClr>
                </a:solidFill>
                <a:latin typeface="Montserrat SemiBold" panose="00000700000000000000" pitchFamily="2" charset="0"/>
              </a:rPr>
              <a:t>Ï</a:t>
            </a:r>
          </a:p>
        </p:txBody>
      </p:sp>
      <p:pic>
        <p:nvPicPr>
          <p:cNvPr id="8" name="Picture 17">
            <a:extLst>
              <a:ext uri="{FF2B5EF4-FFF2-40B4-BE49-F238E27FC236}">
                <a16:creationId xmlns:a16="http://schemas.microsoft.com/office/drawing/2014/main" id="{F471CC9F-CB76-F088-2355-B32F449AC38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102644" y="6096000"/>
            <a:ext cx="91202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BE8112AB-4F47-3FE8-E6AD-CC7EBE6EFB61}"/>
              </a:ext>
            </a:extLst>
          </p:cNvPr>
          <p:cNvSpPr/>
          <p:nvPr userDrawn="1"/>
        </p:nvSpPr>
        <p:spPr>
          <a:xfrm>
            <a:off x="0" y="6286501"/>
            <a:ext cx="609600" cy="342899"/>
          </a:xfrm>
          <a:prstGeom prst="rect">
            <a:avLst/>
          </a:prstGeom>
          <a:solidFill>
            <a:schemeClr val="accent2"/>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fld id="{D4B238CA-8298-9847-A038-EDDC61FBD32B}" type="slidenum">
              <a:rPr lang="en-US" sz="600" smtClean="0">
                <a:solidFill>
                  <a:schemeClr val="bg1"/>
                </a:solidFill>
                <a:latin typeface="Montserrat SemiBold" panose="00000700000000000000" pitchFamily="2" charset="0"/>
                <a:ea typeface="Roboto" panose="02000000000000000000" pitchFamily="2" charset="0"/>
                <a:cs typeface="Roboto" panose="02000000000000000000" pitchFamily="2" charset="0"/>
              </a:rPr>
              <a:pPr algn="ctr"/>
              <a:t>‹#›</a:t>
            </a:fld>
            <a:endParaRPr lang="en-US" sz="600" dirty="0">
              <a:solidFill>
                <a:schemeClr val="bg1"/>
              </a:solidFill>
              <a:latin typeface="Montserrat SemiBold" panose="00000700000000000000" pitchFamily="2" charset="0"/>
              <a:ea typeface="Roboto" panose="02000000000000000000" pitchFamily="2" charset="0"/>
              <a:cs typeface="Roboto" panose="02000000000000000000" pitchFamily="2" charset="0"/>
            </a:endParaRPr>
          </a:p>
        </p:txBody>
      </p:sp>
      <p:sp>
        <p:nvSpPr>
          <p:cNvPr id="10" name="Slide Number Placeholder 5">
            <a:extLst>
              <a:ext uri="{FF2B5EF4-FFF2-40B4-BE49-F238E27FC236}">
                <a16:creationId xmlns:a16="http://schemas.microsoft.com/office/drawing/2014/main" id="{D5F77521-BD5E-7372-46AE-3CAE9D371B91}"/>
              </a:ext>
            </a:extLst>
          </p:cNvPr>
          <p:cNvSpPr txBox="1">
            <a:spLocks/>
          </p:cNvSpPr>
          <p:nvPr userDrawn="1"/>
        </p:nvSpPr>
        <p:spPr>
          <a:xfrm>
            <a:off x="762000" y="6286500"/>
            <a:ext cx="3718559" cy="342900"/>
          </a:xfrm>
          <a:prstGeom prst="rect">
            <a:avLst/>
          </a:prstGeom>
        </p:spPr>
        <p:txBody>
          <a:bodyPr vert="horz" lIns="0" tIns="0" rIns="0" bIns="0" rtlCol="0" anchor="ctr"/>
          <a:lstStyle>
            <a:defPPr>
              <a:defRPr lang="en-US"/>
            </a:defPPr>
            <a:lvl1pPr marL="0" algn="l" defTabSz="342900" rtl="0" eaLnBrk="1" latinLnBrk="0" hangingPunct="1">
              <a:defRPr sz="500" b="0" i="0" kern="1200">
                <a:solidFill>
                  <a:schemeClr val="accent3">
                    <a:lumMod val="60000"/>
                    <a:lumOff val="40000"/>
                  </a:schemeClr>
                </a:solidFill>
                <a:latin typeface="Roboto" panose="02000000000000000000" pitchFamily="2" charset="0"/>
                <a:ea typeface="Roboto" panose="02000000000000000000" pitchFamily="2" charset="0"/>
                <a:cs typeface="Roboto" panose="02000000000000000000" pitchFamily="2" charset="0"/>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700" dirty="0">
                <a:solidFill>
                  <a:schemeClr val="tx2"/>
                </a:solidFill>
                <a:latin typeface="Montserrat SemiBold" panose="00000700000000000000" pitchFamily="2" charset="0"/>
                <a:sym typeface="Gill Sans" charset="0"/>
              </a:rPr>
              <a:t>Community Reinvestment Fund, USA © Copyright 2023 – CRF is an equal opportunity provider</a:t>
            </a:r>
          </a:p>
        </p:txBody>
      </p:sp>
      <p:sp>
        <p:nvSpPr>
          <p:cNvPr id="5" name="Rectangle 4">
            <a:extLst>
              <a:ext uri="{FF2B5EF4-FFF2-40B4-BE49-F238E27FC236}">
                <a16:creationId xmlns:a16="http://schemas.microsoft.com/office/drawing/2014/main" id="{D676FEF4-3624-42E5-EE54-46FED65F6CCE}"/>
              </a:ext>
            </a:extLst>
          </p:cNvPr>
          <p:cNvSpPr/>
          <p:nvPr userDrawn="1"/>
        </p:nvSpPr>
        <p:spPr>
          <a:xfrm>
            <a:off x="0" y="0"/>
            <a:ext cx="7013448" cy="457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6" name="Rectangle 5">
            <a:extLst>
              <a:ext uri="{FF2B5EF4-FFF2-40B4-BE49-F238E27FC236}">
                <a16:creationId xmlns:a16="http://schemas.microsoft.com/office/drawing/2014/main" id="{B16547B8-D868-5618-4971-1EE553F8E2E2}"/>
              </a:ext>
            </a:extLst>
          </p:cNvPr>
          <p:cNvSpPr/>
          <p:nvPr userDrawn="1"/>
        </p:nvSpPr>
        <p:spPr>
          <a:xfrm>
            <a:off x="7022592" y="0"/>
            <a:ext cx="3666744" cy="45719"/>
          </a:xfrm>
          <a:prstGeom prst="rect">
            <a:avLst/>
          </a:prstGeom>
          <a:solidFill>
            <a:srgbClr val="78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12" name="Rectangle 11">
            <a:extLst>
              <a:ext uri="{FF2B5EF4-FFF2-40B4-BE49-F238E27FC236}">
                <a16:creationId xmlns:a16="http://schemas.microsoft.com/office/drawing/2014/main" id="{C5C0E09E-A633-1277-9D41-CF89FCBB693F}"/>
              </a:ext>
            </a:extLst>
          </p:cNvPr>
          <p:cNvSpPr/>
          <p:nvPr userDrawn="1"/>
        </p:nvSpPr>
        <p:spPr>
          <a:xfrm>
            <a:off x="10671048" y="0"/>
            <a:ext cx="1520952" cy="4571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Tree>
    <p:extLst>
      <p:ext uri="{BB962C8B-B14F-4D97-AF65-F5344CB8AC3E}">
        <p14:creationId xmlns:p14="http://schemas.microsoft.com/office/powerpoint/2010/main" val="2974341303"/>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B30D7D-4BD0-AB57-EFC8-811FA1712E85}"/>
              </a:ext>
            </a:extLst>
          </p:cNvPr>
          <p:cNvSpPr/>
          <p:nvPr userDrawn="1"/>
        </p:nvSpPr>
        <p:spPr>
          <a:xfrm>
            <a:off x="-1" y="224118"/>
            <a:ext cx="12192001" cy="57652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Franklin Gothic Book" panose="020B0503020102020204" pitchFamily="34" charset="0"/>
              <a:ea typeface="+mn-ea"/>
              <a:cs typeface="+mn-cs"/>
            </a:endParaRPr>
          </a:p>
        </p:txBody>
      </p:sp>
      <p:sp>
        <p:nvSpPr>
          <p:cNvPr id="7" name="Slide Number Placeholder 9">
            <a:extLst>
              <a:ext uri="{FF2B5EF4-FFF2-40B4-BE49-F238E27FC236}">
                <a16:creationId xmlns:a16="http://schemas.microsoft.com/office/drawing/2014/main" id="{D105E41C-EA3D-6613-BE0A-B9975A4CBB03}"/>
              </a:ext>
            </a:extLst>
          </p:cNvPr>
          <p:cNvSpPr>
            <a:spLocks noGrp="1"/>
          </p:cNvSpPr>
          <p:nvPr>
            <p:ph type="sldNum" sz="quarter" idx="12"/>
          </p:nvPr>
        </p:nvSpPr>
        <p:spPr>
          <a:xfrm>
            <a:off x="55880" y="6286500"/>
            <a:ext cx="421640" cy="365125"/>
          </a:xfrm>
        </p:spPr>
        <p:txBody>
          <a:bodyPr/>
          <a:lstStyle>
            <a:lvl1pPr>
              <a:defRPr sz="900">
                <a:latin typeface="Roboto" panose="02000000000000000000" pitchFamily="2" charset="0"/>
                <a:ea typeface="Roboto" panose="02000000000000000000" pitchFamily="2" charset="0"/>
              </a:defRPr>
            </a:lvl1pPr>
          </a:lstStyle>
          <a:p>
            <a:pPr defTabSz="914126">
              <a:defRPr/>
            </a:pPr>
            <a:fld id="{AEACC2C1-74EF-4D17-8FCA-30885DD06988}" type="slidenum">
              <a:rPr lang="en-US" smtClean="0">
                <a:solidFill>
                  <a:srgbClr val="1D2B36">
                    <a:tint val="75000"/>
                  </a:srgbClr>
                </a:solidFill>
                <a:latin typeface="Montserrat SemiBold" panose="00000700000000000000" pitchFamily="2" charset="0"/>
              </a:rPr>
              <a:pPr defTabSz="914126">
                <a:defRPr/>
              </a:pPr>
              <a:t>‹#›</a:t>
            </a:fld>
            <a:r>
              <a:rPr lang="en-US" dirty="0">
                <a:solidFill>
                  <a:srgbClr val="1D2B36">
                    <a:tint val="75000"/>
                  </a:srgbClr>
                </a:solidFill>
                <a:latin typeface="Montserrat SemiBold" panose="00000700000000000000" pitchFamily="2" charset="0"/>
              </a:rPr>
              <a:t>Ï</a:t>
            </a:r>
          </a:p>
        </p:txBody>
      </p:sp>
      <p:pic>
        <p:nvPicPr>
          <p:cNvPr id="8" name="Picture 17">
            <a:extLst>
              <a:ext uri="{FF2B5EF4-FFF2-40B4-BE49-F238E27FC236}">
                <a16:creationId xmlns:a16="http://schemas.microsoft.com/office/drawing/2014/main" id="{F471CC9F-CB76-F088-2355-B32F449AC38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102644" y="6096000"/>
            <a:ext cx="91202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BE8112AB-4F47-3FE8-E6AD-CC7EBE6EFB61}"/>
              </a:ext>
            </a:extLst>
          </p:cNvPr>
          <p:cNvSpPr/>
          <p:nvPr userDrawn="1"/>
        </p:nvSpPr>
        <p:spPr>
          <a:xfrm>
            <a:off x="0" y="6286501"/>
            <a:ext cx="609600" cy="342899"/>
          </a:xfrm>
          <a:prstGeom prst="rect">
            <a:avLst/>
          </a:prstGeom>
          <a:solidFill>
            <a:schemeClr val="accent2"/>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fld id="{D4B238CA-8298-9847-A038-EDDC61FBD32B}" type="slidenum">
              <a:rPr lang="en-US" sz="600" smtClean="0">
                <a:solidFill>
                  <a:schemeClr val="bg1"/>
                </a:solidFill>
                <a:latin typeface="Montserrat SemiBold" panose="00000700000000000000" pitchFamily="2" charset="0"/>
                <a:ea typeface="Roboto" panose="02000000000000000000" pitchFamily="2" charset="0"/>
                <a:cs typeface="Roboto" panose="02000000000000000000" pitchFamily="2" charset="0"/>
              </a:rPr>
              <a:pPr algn="ctr"/>
              <a:t>‹#›</a:t>
            </a:fld>
            <a:endParaRPr lang="en-US" sz="600" dirty="0">
              <a:solidFill>
                <a:schemeClr val="bg1"/>
              </a:solidFill>
              <a:latin typeface="Montserrat SemiBold" panose="00000700000000000000" pitchFamily="2" charset="0"/>
              <a:ea typeface="Roboto" panose="02000000000000000000" pitchFamily="2" charset="0"/>
              <a:cs typeface="Roboto" panose="02000000000000000000" pitchFamily="2" charset="0"/>
            </a:endParaRPr>
          </a:p>
        </p:txBody>
      </p:sp>
      <p:sp>
        <p:nvSpPr>
          <p:cNvPr id="10" name="Slide Number Placeholder 5">
            <a:extLst>
              <a:ext uri="{FF2B5EF4-FFF2-40B4-BE49-F238E27FC236}">
                <a16:creationId xmlns:a16="http://schemas.microsoft.com/office/drawing/2014/main" id="{D5F77521-BD5E-7372-46AE-3CAE9D371B91}"/>
              </a:ext>
            </a:extLst>
          </p:cNvPr>
          <p:cNvSpPr txBox="1">
            <a:spLocks/>
          </p:cNvSpPr>
          <p:nvPr userDrawn="1"/>
        </p:nvSpPr>
        <p:spPr>
          <a:xfrm>
            <a:off x="762000" y="6286500"/>
            <a:ext cx="3718559" cy="342900"/>
          </a:xfrm>
          <a:prstGeom prst="rect">
            <a:avLst/>
          </a:prstGeom>
        </p:spPr>
        <p:txBody>
          <a:bodyPr vert="horz" lIns="0" tIns="0" rIns="0" bIns="0" rtlCol="0" anchor="ctr"/>
          <a:lstStyle>
            <a:defPPr>
              <a:defRPr lang="en-US"/>
            </a:defPPr>
            <a:lvl1pPr marL="0" algn="l" defTabSz="342900" rtl="0" eaLnBrk="1" latinLnBrk="0" hangingPunct="1">
              <a:defRPr sz="500" b="0" i="0" kern="1200">
                <a:solidFill>
                  <a:schemeClr val="accent3">
                    <a:lumMod val="60000"/>
                    <a:lumOff val="40000"/>
                  </a:schemeClr>
                </a:solidFill>
                <a:latin typeface="Roboto" panose="02000000000000000000" pitchFamily="2" charset="0"/>
                <a:ea typeface="Roboto" panose="02000000000000000000" pitchFamily="2" charset="0"/>
                <a:cs typeface="Roboto" panose="02000000000000000000" pitchFamily="2" charset="0"/>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700" dirty="0">
                <a:solidFill>
                  <a:schemeClr val="tx2"/>
                </a:solidFill>
                <a:latin typeface="Montserrat SemiBold" panose="00000700000000000000" pitchFamily="2" charset="0"/>
                <a:sym typeface="Gill Sans" charset="0"/>
              </a:rPr>
              <a:t>Community Reinvestment Fund, USA © Copyright 2023 – CRF is an equal opportunity provider</a:t>
            </a:r>
          </a:p>
        </p:txBody>
      </p:sp>
      <p:sp>
        <p:nvSpPr>
          <p:cNvPr id="5" name="Rectangle 4">
            <a:extLst>
              <a:ext uri="{FF2B5EF4-FFF2-40B4-BE49-F238E27FC236}">
                <a16:creationId xmlns:a16="http://schemas.microsoft.com/office/drawing/2014/main" id="{D676FEF4-3624-42E5-EE54-46FED65F6CCE}"/>
              </a:ext>
            </a:extLst>
          </p:cNvPr>
          <p:cNvSpPr/>
          <p:nvPr userDrawn="1"/>
        </p:nvSpPr>
        <p:spPr>
          <a:xfrm>
            <a:off x="0" y="0"/>
            <a:ext cx="7013448" cy="457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6" name="Rectangle 5">
            <a:extLst>
              <a:ext uri="{FF2B5EF4-FFF2-40B4-BE49-F238E27FC236}">
                <a16:creationId xmlns:a16="http://schemas.microsoft.com/office/drawing/2014/main" id="{B16547B8-D868-5618-4971-1EE553F8E2E2}"/>
              </a:ext>
            </a:extLst>
          </p:cNvPr>
          <p:cNvSpPr/>
          <p:nvPr userDrawn="1"/>
        </p:nvSpPr>
        <p:spPr>
          <a:xfrm>
            <a:off x="7022592" y="0"/>
            <a:ext cx="3666744" cy="45719"/>
          </a:xfrm>
          <a:prstGeom prst="rect">
            <a:avLst/>
          </a:prstGeom>
          <a:solidFill>
            <a:srgbClr val="78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12" name="Rectangle 11">
            <a:extLst>
              <a:ext uri="{FF2B5EF4-FFF2-40B4-BE49-F238E27FC236}">
                <a16:creationId xmlns:a16="http://schemas.microsoft.com/office/drawing/2014/main" id="{C5C0E09E-A633-1277-9D41-CF89FCBB693F}"/>
              </a:ext>
            </a:extLst>
          </p:cNvPr>
          <p:cNvSpPr/>
          <p:nvPr userDrawn="1"/>
        </p:nvSpPr>
        <p:spPr>
          <a:xfrm>
            <a:off x="10671048" y="0"/>
            <a:ext cx="1520952" cy="4571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598394" y="1958788"/>
            <a:ext cx="5712759" cy="3222811"/>
          </a:xfrm>
          <a:prstGeom prst="rect">
            <a:avLst/>
          </a:prstGeom>
        </p:spPr>
        <p:txBody>
          <a:bodyPr anchor="t"/>
          <a:lstStyle>
            <a:lvl1pPr>
              <a:defRPr b="1" i="0">
                <a:solidFill>
                  <a:schemeClr val="bg1"/>
                </a:solidFill>
                <a:latin typeface="Montserrat SemiBold" pitchFamily="2" charset="77"/>
              </a:defRPr>
            </a:lvl1pPr>
          </a:lstStyle>
          <a:p>
            <a:r>
              <a:rPr lang="en-US" dirty="0"/>
              <a:t>Click to edit Master title style</a:t>
            </a:r>
          </a:p>
        </p:txBody>
      </p:sp>
    </p:spTree>
    <p:extLst>
      <p:ext uri="{BB962C8B-B14F-4D97-AF65-F5344CB8AC3E}">
        <p14:creationId xmlns:p14="http://schemas.microsoft.com/office/powerpoint/2010/main" val="1982749263"/>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Large Content Are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301926" y="1825625"/>
            <a:ext cx="11051875" cy="3315718"/>
          </a:xfrm>
          <a:prstGeom prst="rect">
            <a:avLst/>
          </a:prstGeom>
        </p:spPr>
        <p:txBody>
          <a:bodyPr/>
          <a:lstStyle>
            <a:lvl1pPr>
              <a:defRPr/>
            </a:lvl1pPr>
            <a:lvl2pPr>
              <a:defRPr>
                <a:latin typeface="Montserrat SemiBold" panose="00000700000000000000" pitchFamily="2" charset="0"/>
              </a:defRPr>
            </a:lvl2pPr>
            <a:lvl3pPr>
              <a:defRPr>
                <a:latin typeface="Montserrat SemiBold" panose="00000700000000000000" pitchFamily="2" charset="0"/>
              </a:defRPr>
            </a:lvl3pPr>
            <a:lvl4pPr>
              <a:defRPr>
                <a:latin typeface="Montserrat SemiBold" panose="00000700000000000000" pitchFamily="2" charset="0"/>
              </a:defRPr>
            </a:lvl4pPr>
            <a:lvl5pPr>
              <a:defRPr>
                <a:latin typeface="Montserrat SemiBold" panose="00000700000000000000"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7" name="Rectangle 6">
            <a:extLst>
              <a:ext uri="{FF2B5EF4-FFF2-40B4-BE49-F238E27FC236}">
                <a16:creationId xmlns:a16="http://schemas.microsoft.com/office/drawing/2014/main" id="{06B17150-02B9-4990-A949-1923F427A9EF}"/>
              </a:ext>
            </a:extLst>
          </p:cNvPr>
          <p:cNvSpPr/>
          <p:nvPr userDrawn="1"/>
        </p:nvSpPr>
        <p:spPr>
          <a:xfrm>
            <a:off x="1571625" y="5922964"/>
            <a:ext cx="2009775" cy="676275"/>
          </a:xfrm>
          <a:prstGeom prst="rect">
            <a:avLst/>
          </a:prstGeom>
          <a:solidFill>
            <a:srgbClr val="1D2B36"/>
          </a:solidFill>
          <a:ln>
            <a:solidFill>
              <a:srgbClr val="1D2B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8" name="Rectangle 7">
            <a:extLst>
              <a:ext uri="{FF2B5EF4-FFF2-40B4-BE49-F238E27FC236}">
                <a16:creationId xmlns:a16="http://schemas.microsoft.com/office/drawing/2014/main" id="{9368A3F1-6E36-419B-985D-F0F6D3A04AE2}"/>
              </a:ext>
            </a:extLst>
          </p:cNvPr>
          <p:cNvSpPr/>
          <p:nvPr userDrawn="1"/>
        </p:nvSpPr>
        <p:spPr>
          <a:xfrm>
            <a:off x="1" y="5296621"/>
            <a:ext cx="12192000" cy="14248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Montserrat SemiBold" panose="00000700000000000000" pitchFamily="2" charset="0"/>
            </a:endParaRPr>
          </a:p>
        </p:txBody>
      </p:sp>
    </p:spTree>
    <p:extLst>
      <p:ext uri="{BB962C8B-B14F-4D97-AF65-F5344CB8AC3E}">
        <p14:creationId xmlns:p14="http://schemas.microsoft.com/office/powerpoint/2010/main" val="3463205441"/>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0824A-C650-4DD1-A22A-6995A60C0A2C}"/>
              </a:ext>
            </a:extLst>
          </p:cNvPr>
          <p:cNvSpPr>
            <a:spLocks noGrp="1"/>
          </p:cNvSpPr>
          <p:nvPr>
            <p:ph type="title"/>
          </p:nvPr>
        </p:nvSpPr>
        <p:spPr>
          <a:xfrm>
            <a:off x="301752" y="365760"/>
            <a:ext cx="10788162" cy="1325563"/>
          </a:xfrm>
          <a:prstGeom prst="rect">
            <a:avLst/>
          </a:prstGeom>
        </p:spPr>
        <p:txBody>
          <a:bodyPr/>
          <a:lstStyle>
            <a:lvl1pPr>
              <a:defRPr b="0">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8253ED13-A124-4E2E-BB34-04AC0FF633EB}"/>
              </a:ext>
            </a:extLst>
          </p:cNvPr>
          <p:cNvSpPr>
            <a:spLocks noGrp="1"/>
          </p:cNvSpPr>
          <p:nvPr>
            <p:ph sz="half" idx="1"/>
          </p:nvPr>
        </p:nvSpPr>
        <p:spPr>
          <a:xfrm>
            <a:off x="301752" y="1825625"/>
            <a:ext cx="5181600" cy="3956476"/>
          </a:xfrm>
          <a:prstGeom prst="rect">
            <a:avLst/>
          </a:prstGeom>
        </p:spPr>
        <p:txBody>
          <a:bodyPr/>
          <a:lstStyle>
            <a:lvl1pPr>
              <a:defRPr/>
            </a:lvl1pPr>
            <a:lvl2pPr>
              <a:defRPr>
                <a:latin typeface="Montserrat SemiBold" panose="00000700000000000000" pitchFamily="2" charset="0"/>
              </a:defRPr>
            </a:lvl2pPr>
            <a:lvl3pPr>
              <a:defRPr>
                <a:latin typeface="Montserrat SemiBold" panose="00000700000000000000" pitchFamily="2" charset="0"/>
              </a:defRPr>
            </a:lvl3pPr>
            <a:lvl4pPr>
              <a:defRPr>
                <a:latin typeface="Montserrat SemiBold" panose="00000700000000000000" pitchFamily="2" charset="0"/>
              </a:defRPr>
            </a:lvl4pPr>
            <a:lvl5pPr>
              <a:defRPr>
                <a:latin typeface="Montserrat SemiBold" panose="00000700000000000000"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5A40A79-0A1B-4609-897A-58E09B34E83F}"/>
              </a:ext>
            </a:extLst>
          </p:cNvPr>
          <p:cNvSpPr>
            <a:spLocks noGrp="1"/>
          </p:cNvSpPr>
          <p:nvPr>
            <p:ph sz="half" idx="2"/>
          </p:nvPr>
        </p:nvSpPr>
        <p:spPr>
          <a:xfrm>
            <a:off x="6172200" y="1825625"/>
            <a:ext cx="5181600" cy="3956476"/>
          </a:xfrm>
          <a:prstGeom prst="rect">
            <a:avLst/>
          </a:prstGeom>
        </p:spPr>
        <p:txBody>
          <a:bodyPr/>
          <a:lstStyle>
            <a:lvl1pPr>
              <a:defRPr/>
            </a:lvl1pPr>
            <a:lvl2pPr>
              <a:defRPr>
                <a:latin typeface="Montserrat SemiBold" panose="00000700000000000000" pitchFamily="2" charset="0"/>
              </a:defRPr>
            </a:lvl2pPr>
            <a:lvl3pPr>
              <a:defRPr>
                <a:latin typeface="Montserrat SemiBold" panose="00000700000000000000" pitchFamily="2" charset="0"/>
              </a:defRPr>
            </a:lvl3pPr>
            <a:lvl4pPr>
              <a:defRPr>
                <a:latin typeface="Montserrat SemiBold" panose="00000700000000000000" pitchFamily="2" charset="0"/>
              </a:defRPr>
            </a:lvl4pPr>
            <a:lvl5pPr>
              <a:defRPr>
                <a:latin typeface="Montserrat SemiBold" panose="00000700000000000000"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53849836-7246-4DF5-894B-CCBB3F2BC34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8CFBFB-922E-4567-8C2D-909E06967ED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2604876-43D9-4137-A77C-7DE66BD64F29}"/>
              </a:ext>
            </a:extLst>
          </p:cNvPr>
          <p:cNvSpPr>
            <a:spLocks noGrp="1"/>
          </p:cNvSpPr>
          <p:nvPr>
            <p:ph type="sldNum" sz="quarter" idx="12"/>
          </p:nvPr>
        </p:nvSpPr>
        <p:spPr/>
        <p:txBody>
          <a:bodyPr/>
          <a:lstStyle/>
          <a:p>
            <a:fld id="{AEACC2C1-74EF-4D17-8FCA-30885DD06988}" type="slidenum">
              <a:rPr lang="en-US" smtClean="0"/>
              <a:t>‹#›</a:t>
            </a:fld>
            <a:endParaRPr lang="en-US" dirty="0"/>
          </a:p>
        </p:txBody>
      </p:sp>
    </p:spTree>
    <p:extLst>
      <p:ext uri="{BB962C8B-B14F-4D97-AF65-F5344CB8AC3E}">
        <p14:creationId xmlns:p14="http://schemas.microsoft.com/office/powerpoint/2010/main" val="1181097139"/>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Matrix 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cxnSp>
        <p:nvCxnSpPr>
          <p:cNvPr id="9" name="Straight Connector 8">
            <a:extLst>
              <a:ext uri="{FF2B5EF4-FFF2-40B4-BE49-F238E27FC236}">
                <a16:creationId xmlns:a16="http://schemas.microsoft.com/office/drawing/2014/main" id="{D9D9D676-7C92-43AC-84A3-60F4FEED7822}"/>
              </a:ext>
            </a:extLst>
          </p:cNvPr>
          <p:cNvCxnSpPr>
            <a:cxnSpLocks/>
          </p:cNvCxnSpPr>
          <p:nvPr userDrawn="1"/>
        </p:nvCxnSpPr>
        <p:spPr>
          <a:xfrm>
            <a:off x="4104170" y="1701204"/>
            <a:ext cx="0" cy="374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61B6D6-1B41-4751-B27A-1F1FE8CA765C}"/>
              </a:ext>
            </a:extLst>
          </p:cNvPr>
          <p:cNvCxnSpPr>
            <a:cxnSpLocks/>
          </p:cNvCxnSpPr>
          <p:nvPr userDrawn="1"/>
        </p:nvCxnSpPr>
        <p:spPr>
          <a:xfrm>
            <a:off x="8071883" y="1701204"/>
            <a:ext cx="0" cy="374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F12FE0D-6DD3-4F58-A0B1-7EB069127ACD}"/>
              </a:ext>
            </a:extLst>
          </p:cNvPr>
          <p:cNvCxnSpPr>
            <a:cxnSpLocks/>
          </p:cNvCxnSpPr>
          <p:nvPr userDrawn="1"/>
        </p:nvCxnSpPr>
        <p:spPr>
          <a:xfrm>
            <a:off x="301925" y="3530010"/>
            <a:ext cx="11532112"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58DDB5D5-3B50-4031-99CE-4763A745DED6}"/>
              </a:ext>
            </a:extLst>
          </p:cNvPr>
          <p:cNvSpPr>
            <a:spLocks noGrp="1"/>
          </p:cNvSpPr>
          <p:nvPr>
            <p:ph idx="13"/>
          </p:nvPr>
        </p:nvSpPr>
        <p:spPr>
          <a:xfrm>
            <a:off x="301926" y="1707417"/>
            <a:ext cx="3674660" cy="1693752"/>
          </a:xfrm>
          <a:prstGeom prst="rect">
            <a:avLst/>
          </a:prstGeom>
        </p:spPr>
        <p:txBody>
          <a:bodyPr/>
          <a:lstStyle>
            <a:lvl1pPr marL="0" indent="0">
              <a:buNone/>
              <a:defRPr/>
            </a:lvl1pPr>
          </a:lstStyle>
          <a:p>
            <a:pPr lvl="0"/>
            <a:r>
              <a:rPr lang="en-US" dirty="0"/>
              <a:t>Edit Master text styles</a:t>
            </a:r>
          </a:p>
        </p:txBody>
      </p:sp>
      <p:sp>
        <p:nvSpPr>
          <p:cNvPr id="25" name="Content Placeholder 2">
            <a:extLst>
              <a:ext uri="{FF2B5EF4-FFF2-40B4-BE49-F238E27FC236}">
                <a16:creationId xmlns:a16="http://schemas.microsoft.com/office/drawing/2014/main" id="{1754F248-EA38-4F55-ABB9-713DC3B02C99}"/>
              </a:ext>
            </a:extLst>
          </p:cNvPr>
          <p:cNvSpPr>
            <a:spLocks noGrp="1"/>
          </p:cNvSpPr>
          <p:nvPr>
            <p:ph idx="14"/>
          </p:nvPr>
        </p:nvSpPr>
        <p:spPr>
          <a:xfrm>
            <a:off x="4258671" y="1707417"/>
            <a:ext cx="3674660" cy="1693752"/>
          </a:xfrm>
          <a:prstGeom prst="rect">
            <a:avLst/>
          </a:prstGeom>
        </p:spPr>
        <p:txBody>
          <a:bodyPr/>
          <a:lstStyle>
            <a:lvl1pPr marL="0" indent="0">
              <a:buNone/>
              <a:defRPr/>
            </a:lvl1pPr>
          </a:lstStyle>
          <a:p>
            <a:pPr lvl="0"/>
            <a:r>
              <a:rPr lang="en-US" dirty="0"/>
              <a:t>Edit Master text styles</a:t>
            </a:r>
          </a:p>
        </p:txBody>
      </p:sp>
      <p:sp>
        <p:nvSpPr>
          <p:cNvPr id="26" name="Content Placeholder 2">
            <a:extLst>
              <a:ext uri="{FF2B5EF4-FFF2-40B4-BE49-F238E27FC236}">
                <a16:creationId xmlns:a16="http://schemas.microsoft.com/office/drawing/2014/main" id="{40E66249-E45C-4E2C-ACEC-FBBFB1E59ED0}"/>
              </a:ext>
            </a:extLst>
          </p:cNvPr>
          <p:cNvSpPr>
            <a:spLocks noGrp="1"/>
          </p:cNvSpPr>
          <p:nvPr>
            <p:ph idx="15"/>
          </p:nvPr>
        </p:nvSpPr>
        <p:spPr>
          <a:xfrm>
            <a:off x="8215415" y="1707417"/>
            <a:ext cx="3674660" cy="1693752"/>
          </a:xfrm>
          <a:prstGeom prst="rect">
            <a:avLst/>
          </a:prstGeom>
        </p:spPr>
        <p:txBody>
          <a:bodyPr/>
          <a:lstStyle>
            <a:lvl1pPr marL="0" indent="0">
              <a:buNone/>
              <a:defRPr/>
            </a:lvl1pPr>
          </a:lstStyle>
          <a:p>
            <a:pPr lvl="0"/>
            <a:r>
              <a:rPr lang="en-US" dirty="0"/>
              <a:t>Edit Master text styles</a:t>
            </a:r>
          </a:p>
        </p:txBody>
      </p:sp>
      <p:sp>
        <p:nvSpPr>
          <p:cNvPr id="27" name="Content Placeholder 2">
            <a:extLst>
              <a:ext uri="{FF2B5EF4-FFF2-40B4-BE49-F238E27FC236}">
                <a16:creationId xmlns:a16="http://schemas.microsoft.com/office/drawing/2014/main" id="{7107FE61-486A-4043-BAEE-70354D1FEF3C}"/>
              </a:ext>
            </a:extLst>
          </p:cNvPr>
          <p:cNvSpPr>
            <a:spLocks noGrp="1"/>
          </p:cNvSpPr>
          <p:nvPr>
            <p:ph idx="16"/>
          </p:nvPr>
        </p:nvSpPr>
        <p:spPr>
          <a:xfrm>
            <a:off x="301925" y="3750768"/>
            <a:ext cx="3674660" cy="1693752"/>
          </a:xfrm>
          <a:prstGeom prst="rect">
            <a:avLst/>
          </a:prstGeom>
        </p:spPr>
        <p:txBody>
          <a:bodyPr/>
          <a:lstStyle>
            <a:lvl1pPr marL="0" indent="0">
              <a:buNone/>
              <a:defRPr/>
            </a:lvl1pPr>
          </a:lstStyle>
          <a:p>
            <a:pPr lvl="0"/>
            <a:r>
              <a:rPr lang="en-US" dirty="0"/>
              <a:t>Edit Master text styles</a:t>
            </a:r>
          </a:p>
        </p:txBody>
      </p:sp>
      <p:sp>
        <p:nvSpPr>
          <p:cNvPr id="28" name="Content Placeholder 2">
            <a:extLst>
              <a:ext uri="{FF2B5EF4-FFF2-40B4-BE49-F238E27FC236}">
                <a16:creationId xmlns:a16="http://schemas.microsoft.com/office/drawing/2014/main" id="{9E50F90D-6A29-4370-9476-46548AFDA713}"/>
              </a:ext>
            </a:extLst>
          </p:cNvPr>
          <p:cNvSpPr>
            <a:spLocks noGrp="1"/>
          </p:cNvSpPr>
          <p:nvPr>
            <p:ph idx="17"/>
          </p:nvPr>
        </p:nvSpPr>
        <p:spPr>
          <a:xfrm>
            <a:off x="4258669" y="3750768"/>
            <a:ext cx="3674660" cy="1693752"/>
          </a:xfrm>
          <a:prstGeom prst="rect">
            <a:avLst/>
          </a:prstGeom>
        </p:spPr>
        <p:txBody>
          <a:bodyPr/>
          <a:lstStyle>
            <a:lvl1pPr marL="0" indent="0">
              <a:buNone/>
              <a:defRPr/>
            </a:lvl1pPr>
          </a:lstStyle>
          <a:p>
            <a:pPr lvl="0"/>
            <a:r>
              <a:rPr lang="en-US" dirty="0"/>
              <a:t>Edit Master text styles</a:t>
            </a:r>
          </a:p>
        </p:txBody>
      </p:sp>
      <p:sp>
        <p:nvSpPr>
          <p:cNvPr id="29" name="Content Placeholder 2">
            <a:extLst>
              <a:ext uri="{FF2B5EF4-FFF2-40B4-BE49-F238E27FC236}">
                <a16:creationId xmlns:a16="http://schemas.microsoft.com/office/drawing/2014/main" id="{D72660AD-654F-44D2-A1E2-766CCF7EC13A}"/>
              </a:ext>
            </a:extLst>
          </p:cNvPr>
          <p:cNvSpPr>
            <a:spLocks noGrp="1"/>
          </p:cNvSpPr>
          <p:nvPr>
            <p:ph idx="18"/>
          </p:nvPr>
        </p:nvSpPr>
        <p:spPr>
          <a:xfrm>
            <a:off x="8215414" y="3750768"/>
            <a:ext cx="3674660" cy="1693752"/>
          </a:xfrm>
          <a:prstGeom prst="rect">
            <a:avLst/>
          </a:prstGeo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104530256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 Matrix 2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cxnSp>
        <p:nvCxnSpPr>
          <p:cNvPr id="9" name="Straight Connector 8">
            <a:extLst>
              <a:ext uri="{FF2B5EF4-FFF2-40B4-BE49-F238E27FC236}">
                <a16:creationId xmlns:a16="http://schemas.microsoft.com/office/drawing/2014/main" id="{D9D9D676-7C92-43AC-84A3-60F4FEED7822}"/>
              </a:ext>
            </a:extLst>
          </p:cNvPr>
          <p:cNvCxnSpPr>
            <a:cxnSpLocks/>
          </p:cNvCxnSpPr>
          <p:nvPr userDrawn="1"/>
        </p:nvCxnSpPr>
        <p:spPr>
          <a:xfrm>
            <a:off x="5940392" y="1701204"/>
            <a:ext cx="0" cy="374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F12FE0D-6DD3-4F58-A0B1-7EB069127ACD}"/>
              </a:ext>
            </a:extLst>
          </p:cNvPr>
          <p:cNvCxnSpPr>
            <a:cxnSpLocks/>
          </p:cNvCxnSpPr>
          <p:nvPr userDrawn="1"/>
        </p:nvCxnSpPr>
        <p:spPr>
          <a:xfrm>
            <a:off x="301925" y="3530010"/>
            <a:ext cx="11532112"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58DDB5D5-3B50-4031-99CE-4763A745DED6}"/>
              </a:ext>
            </a:extLst>
          </p:cNvPr>
          <p:cNvSpPr>
            <a:spLocks noGrp="1"/>
          </p:cNvSpPr>
          <p:nvPr>
            <p:ph idx="13"/>
          </p:nvPr>
        </p:nvSpPr>
        <p:spPr>
          <a:xfrm>
            <a:off x="301926" y="1707417"/>
            <a:ext cx="5202530" cy="1693752"/>
          </a:xfrm>
          <a:prstGeom prst="rect">
            <a:avLst/>
          </a:prstGeom>
        </p:spPr>
        <p:txBody>
          <a:bodyPr/>
          <a:lstStyle>
            <a:lvl1pPr marL="0" indent="0">
              <a:buNone/>
              <a:defRPr/>
            </a:lvl1pPr>
          </a:lstStyle>
          <a:p>
            <a:pPr lvl="0"/>
            <a:r>
              <a:rPr lang="en-US" dirty="0"/>
              <a:t>Edit Master text styles</a:t>
            </a:r>
          </a:p>
        </p:txBody>
      </p:sp>
      <p:sp>
        <p:nvSpPr>
          <p:cNvPr id="25" name="Content Placeholder 2">
            <a:extLst>
              <a:ext uri="{FF2B5EF4-FFF2-40B4-BE49-F238E27FC236}">
                <a16:creationId xmlns:a16="http://schemas.microsoft.com/office/drawing/2014/main" id="{1754F248-EA38-4F55-ABB9-713DC3B02C99}"/>
              </a:ext>
            </a:extLst>
          </p:cNvPr>
          <p:cNvSpPr>
            <a:spLocks noGrp="1"/>
          </p:cNvSpPr>
          <p:nvPr>
            <p:ph idx="14"/>
          </p:nvPr>
        </p:nvSpPr>
        <p:spPr>
          <a:xfrm>
            <a:off x="6355061" y="1707417"/>
            <a:ext cx="5202530" cy="1693752"/>
          </a:xfrm>
          <a:prstGeom prst="rect">
            <a:avLst/>
          </a:prstGeom>
        </p:spPr>
        <p:txBody>
          <a:bodyPr/>
          <a:lstStyle>
            <a:lvl1pPr marL="0" indent="0">
              <a:buNone/>
              <a:defRPr/>
            </a:lvl1pPr>
          </a:lstStyle>
          <a:p>
            <a:pPr lvl="0"/>
            <a:r>
              <a:rPr lang="en-US" dirty="0"/>
              <a:t>Edit Master text styles</a:t>
            </a:r>
          </a:p>
        </p:txBody>
      </p:sp>
      <p:sp>
        <p:nvSpPr>
          <p:cNvPr id="17" name="Content Placeholder 2">
            <a:extLst>
              <a:ext uri="{FF2B5EF4-FFF2-40B4-BE49-F238E27FC236}">
                <a16:creationId xmlns:a16="http://schemas.microsoft.com/office/drawing/2014/main" id="{B1BD9E1F-BF43-4CB8-98E4-1CDB20903A25}"/>
              </a:ext>
            </a:extLst>
          </p:cNvPr>
          <p:cNvSpPr>
            <a:spLocks noGrp="1"/>
          </p:cNvSpPr>
          <p:nvPr>
            <p:ph idx="15"/>
          </p:nvPr>
        </p:nvSpPr>
        <p:spPr>
          <a:xfrm>
            <a:off x="301926" y="3707480"/>
            <a:ext cx="5202530" cy="1693752"/>
          </a:xfrm>
          <a:prstGeom prst="rect">
            <a:avLst/>
          </a:prstGeom>
        </p:spPr>
        <p:txBody>
          <a:bodyPr/>
          <a:lstStyle>
            <a:lvl1pPr marL="0" indent="0">
              <a:buNone/>
              <a:defRPr/>
            </a:lvl1pPr>
          </a:lstStyle>
          <a:p>
            <a:pPr lvl="0"/>
            <a:r>
              <a:rPr lang="en-US" dirty="0"/>
              <a:t>Edit Master text styles</a:t>
            </a:r>
          </a:p>
        </p:txBody>
      </p:sp>
      <p:sp>
        <p:nvSpPr>
          <p:cNvPr id="18" name="Content Placeholder 2">
            <a:extLst>
              <a:ext uri="{FF2B5EF4-FFF2-40B4-BE49-F238E27FC236}">
                <a16:creationId xmlns:a16="http://schemas.microsoft.com/office/drawing/2014/main" id="{4D770076-8B1C-47F5-95F9-75132EB63E53}"/>
              </a:ext>
            </a:extLst>
          </p:cNvPr>
          <p:cNvSpPr>
            <a:spLocks noGrp="1"/>
          </p:cNvSpPr>
          <p:nvPr>
            <p:ph idx="16"/>
          </p:nvPr>
        </p:nvSpPr>
        <p:spPr>
          <a:xfrm>
            <a:off x="6355061" y="3707480"/>
            <a:ext cx="5202530" cy="1693752"/>
          </a:xfrm>
          <a:prstGeom prst="rect">
            <a:avLst/>
          </a:prstGeo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1943672345"/>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Matrix 1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pic>
        <p:nvPicPr>
          <p:cNvPr id="15" name="Picture 14" descr="A picture containing sky, building, water, outdoor&#10;&#10;Description generated with high confidence">
            <a:extLst>
              <a:ext uri="{FF2B5EF4-FFF2-40B4-BE49-F238E27FC236}">
                <a16:creationId xmlns:a16="http://schemas.microsoft.com/office/drawing/2014/main" id="{7C40013B-51CD-405D-9936-7ED2F63C50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9834" b="17203"/>
          <a:stretch/>
        </p:blipFill>
        <p:spPr>
          <a:xfrm>
            <a:off x="1" y="1276596"/>
            <a:ext cx="12191999" cy="4359216"/>
          </a:xfrm>
          <a:prstGeom prst="rect">
            <a:avLst/>
          </a:prstGeom>
        </p:spPr>
      </p:pic>
      <p:sp>
        <p:nvSpPr>
          <p:cNvPr id="13" name="Rectangle 12">
            <a:extLst>
              <a:ext uri="{FF2B5EF4-FFF2-40B4-BE49-F238E27FC236}">
                <a16:creationId xmlns:a16="http://schemas.microsoft.com/office/drawing/2014/main" id="{E2399398-1B55-40C3-BC2E-20036CF27898}"/>
              </a:ext>
            </a:extLst>
          </p:cNvPr>
          <p:cNvSpPr/>
          <p:nvPr userDrawn="1"/>
        </p:nvSpPr>
        <p:spPr>
          <a:xfrm>
            <a:off x="1" y="1264725"/>
            <a:ext cx="12191999" cy="4371089"/>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16" name="Content Placeholder 2">
            <a:extLst>
              <a:ext uri="{FF2B5EF4-FFF2-40B4-BE49-F238E27FC236}">
                <a16:creationId xmlns:a16="http://schemas.microsoft.com/office/drawing/2014/main" id="{58DDB5D5-3B50-4031-99CE-4763A745DED6}"/>
              </a:ext>
            </a:extLst>
          </p:cNvPr>
          <p:cNvSpPr>
            <a:spLocks noGrp="1"/>
          </p:cNvSpPr>
          <p:nvPr>
            <p:ph idx="13"/>
          </p:nvPr>
        </p:nvSpPr>
        <p:spPr>
          <a:xfrm>
            <a:off x="301926" y="1707417"/>
            <a:ext cx="2600760" cy="3586478"/>
          </a:xfrm>
          <a:prstGeom prst="rect">
            <a:avLst/>
          </a:prstGeom>
        </p:spPr>
        <p:txBody>
          <a:bodyPr/>
          <a:lstStyle>
            <a:lvl1pPr marL="0" indent="0">
              <a:buNone/>
              <a:defRPr>
                <a:solidFill>
                  <a:schemeClr val="tx1"/>
                </a:solidFill>
              </a:defRPr>
            </a:lvl1pPr>
          </a:lstStyle>
          <a:p>
            <a:pPr lvl="0"/>
            <a:r>
              <a:rPr lang="en-US" dirty="0"/>
              <a:t>Edit Master text styles</a:t>
            </a:r>
          </a:p>
        </p:txBody>
      </p:sp>
      <p:cxnSp>
        <p:nvCxnSpPr>
          <p:cNvPr id="10" name="Straight Connector 9">
            <a:extLst>
              <a:ext uri="{FF2B5EF4-FFF2-40B4-BE49-F238E27FC236}">
                <a16:creationId xmlns:a16="http://schemas.microsoft.com/office/drawing/2014/main" id="{6A942513-2C9C-4556-BE09-03B2979E2FE0}"/>
              </a:ext>
            </a:extLst>
          </p:cNvPr>
          <p:cNvCxnSpPr/>
          <p:nvPr userDrawn="1"/>
        </p:nvCxnSpPr>
        <p:spPr>
          <a:xfrm>
            <a:off x="3040164" y="1690688"/>
            <a:ext cx="0" cy="32813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DB8EBA-484C-407E-ACAB-7D142A3AFAE0}"/>
              </a:ext>
            </a:extLst>
          </p:cNvPr>
          <p:cNvCxnSpPr/>
          <p:nvPr userDrawn="1"/>
        </p:nvCxnSpPr>
        <p:spPr>
          <a:xfrm>
            <a:off x="6087410" y="1690688"/>
            <a:ext cx="0" cy="32813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B50D76-29AB-4A3A-8398-2718C45C2090}"/>
              </a:ext>
            </a:extLst>
          </p:cNvPr>
          <p:cNvCxnSpPr/>
          <p:nvPr userDrawn="1"/>
        </p:nvCxnSpPr>
        <p:spPr>
          <a:xfrm>
            <a:off x="9142341" y="1690688"/>
            <a:ext cx="0" cy="32813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D373FB94-7B7D-4449-B34B-CD64A6B8B703}"/>
              </a:ext>
            </a:extLst>
          </p:cNvPr>
          <p:cNvSpPr>
            <a:spLocks noGrp="1"/>
          </p:cNvSpPr>
          <p:nvPr>
            <p:ph idx="14"/>
          </p:nvPr>
        </p:nvSpPr>
        <p:spPr>
          <a:xfrm>
            <a:off x="3292001" y="1707416"/>
            <a:ext cx="2600760" cy="3586477"/>
          </a:xfrm>
          <a:prstGeom prst="rect">
            <a:avLst/>
          </a:prstGeom>
        </p:spPr>
        <p:txBody>
          <a:bodyPr/>
          <a:lstStyle>
            <a:lvl1pPr marL="0" indent="0">
              <a:buNone/>
              <a:defRPr>
                <a:solidFill>
                  <a:schemeClr val="tx1"/>
                </a:solidFill>
              </a:defRPr>
            </a:lvl1pPr>
          </a:lstStyle>
          <a:p>
            <a:pPr lvl="0"/>
            <a:r>
              <a:rPr lang="en-US" dirty="0"/>
              <a:t>Edit Master text styles</a:t>
            </a:r>
          </a:p>
        </p:txBody>
      </p:sp>
      <p:sp>
        <p:nvSpPr>
          <p:cNvPr id="26" name="Content Placeholder 2">
            <a:extLst>
              <a:ext uri="{FF2B5EF4-FFF2-40B4-BE49-F238E27FC236}">
                <a16:creationId xmlns:a16="http://schemas.microsoft.com/office/drawing/2014/main" id="{AE1F53E6-33F7-49FA-8888-5EA614DFEABA}"/>
              </a:ext>
            </a:extLst>
          </p:cNvPr>
          <p:cNvSpPr>
            <a:spLocks noGrp="1"/>
          </p:cNvSpPr>
          <p:nvPr>
            <p:ph idx="15"/>
          </p:nvPr>
        </p:nvSpPr>
        <p:spPr>
          <a:xfrm>
            <a:off x="6346930" y="1707417"/>
            <a:ext cx="2600760" cy="3586476"/>
          </a:xfrm>
          <a:prstGeom prst="rect">
            <a:avLst/>
          </a:prstGeom>
        </p:spPr>
        <p:txBody>
          <a:bodyPr/>
          <a:lstStyle>
            <a:lvl1pPr marL="0" indent="0">
              <a:buNone/>
              <a:defRPr>
                <a:solidFill>
                  <a:schemeClr val="tx1"/>
                </a:solidFill>
              </a:defRPr>
            </a:lvl1pPr>
          </a:lstStyle>
          <a:p>
            <a:pPr lvl="0"/>
            <a:r>
              <a:rPr lang="en-US" dirty="0"/>
              <a:t>Edit Master text styles</a:t>
            </a:r>
          </a:p>
        </p:txBody>
      </p:sp>
      <p:sp>
        <p:nvSpPr>
          <p:cNvPr id="27" name="Content Placeholder 2">
            <a:extLst>
              <a:ext uri="{FF2B5EF4-FFF2-40B4-BE49-F238E27FC236}">
                <a16:creationId xmlns:a16="http://schemas.microsoft.com/office/drawing/2014/main" id="{0EA07414-8AF2-4D7D-AA93-706E0E85BF34}"/>
              </a:ext>
            </a:extLst>
          </p:cNvPr>
          <p:cNvSpPr>
            <a:spLocks noGrp="1"/>
          </p:cNvSpPr>
          <p:nvPr>
            <p:ph idx="16"/>
          </p:nvPr>
        </p:nvSpPr>
        <p:spPr>
          <a:xfrm>
            <a:off x="9396588" y="1707416"/>
            <a:ext cx="2600760" cy="3586475"/>
          </a:xfrm>
          <a:prstGeom prst="rect">
            <a:avLst/>
          </a:prstGeom>
        </p:spPr>
        <p:txBody>
          <a:bodyPr/>
          <a:lstStyle>
            <a:lvl1pPr marL="0" indent="0">
              <a:buNone/>
              <a:defRPr>
                <a:solidFill>
                  <a:schemeClr val="tx1"/>
                </a:solidFill>
              </a:defRPr>
            </a:lvl1pPr>
          </a:lstStyle>
          <a:p>
            <a:pPr lvl="0"/>
            <a:r>
              <a:rPr lang="en-US" dirty="0"/>
              <a:t>Edit Master text styles</a:t>
            </a:r>
          </a:p>
        </p:txBody>
      </p:sp>
    </p:spTree>
    <p:extLst>
      <p:ext uri="{BB962C8B-B14F-4D97-AF65-F5344CB8AC3E}">
        <p14:creationId xmlns:p14="http://schemas.microsoft.com/office/powerpoint/2010/main" val="350558581"/>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7D59D-DDFE-449F-B235-B8F5451C5C7C}"/>
              </a:ext>
            </a:extLst>
          </p:cNvPr>
          <p:cNvSpPr>
            <a:spLocks noGrp="1"/>
          </p:cNvSpPr>
          <p:nvPr>
            <p:ph type="title"/>
          </p:nvPr>
        </p:nvSpPr>
        <p:spPr>
          <a:xfrm>
            <a:off x="301752" y="365127"/>
            <a:ext cx="10887974" cy="1325563"/>
          </a:xfrm>
          <a:prstGeom prst="rect">
            <a:avLst/>
          </a:prstGeom>
        </p:spPr>
        <p:txBody>
          <a:bodyPr/>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B00F5C45-CC3D-4A69-8E86-8B0E1EC76A62}"/>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4" name="Footer Placeholder 3">
            <a:extLst>
              <a:ext uri="{FF2B5EF4-FFF2-40B4-BE49-F238E27FC236}">
                <a16:creationId xmlns:a16="http://schemas.microsoft.com/office/drawing/2014/main" id="{87102589-F94C-40F1-83C6-080D94E2247D}"/>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5" name="Slide Number Placeholder 4">
            <a:extLst>
              <a:ext uri="{FF2B5EF4-FFF2-40B4-BE49-F238E27FC236}">
                <a16:creationId xmlns:a16="http://schemas.microsoft.com/office/drawing/2014/main" id="{1E0B2980-9702-4C6B-A208-B264C7BBFC92}"/>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3800259253"/>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0FC51-7624-4C80-A2BA-A8888AC1EF18}"/>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3" name="Footer Placeholder 2">
            <a:extLst>
              <a:ext uri="{FF2B5EF4-FFF2-40B4-BE49-F238E27FC236}">
                <a16:creationId xmlns:a16="http://schemas.microsoft.com/office/drawing/2014/main" id="{5CBB1C05-C780-413A-90CA-1C3B700CB1B5}"/>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4" name="Slide Number Placeholder 3">
            <a:extLst>
              <a:ext uri="{FF2B5EF4-FFF2-40B4-BE49-F238E27FC236}">
                <a16:creationId xmlns:a16="http://schemas.microsoft.com/office/drawing/2014/main" id="{07F1DB59-5CDC-47E1-AB90-5F0A7488E08D}"/>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4292113228"/>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0B23-836E-4110-9804-4C9592C0E5E0}"/>
              </a:ext>
            </a:extLst>
          </p:cNvPr>
          <p:cNvSpPr>
            <a:spLocks noGrp="1"/>
          </p:cNvSpPr>
          <p:nvPr>
            <p:ph type="title"/>
          </p:nvPr>
        </p:nvSpPr>
        <p:spPr>
          <a:xfrm>
            <a:off x="839789" y="457200"/>
            <a:ext cx="3932237" cy="1600200"/>
          </a:xfrm>
          <a:prstGeom prst="rect">
            <a:avLst/>
          </a:prstGeom>
        </p:spPr>
        <p:txBody>
          <a:bodyPr anchor="b"/>
          <a:lstStyle>
            <a:lvl1pPr>
              <a:defRPr sz="3199" b="0">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C7384199-8D8C-441F-893B-EC2B6E6EC7D2}"/>
              </a:ext>
            </a:extLst>
          </p:cNvPr>
          <p:cNvSpPr>
            <a:spLocks noGrp="1"/>
          </p:cNvSpPr>
          <p:nvPr>
            <p:ph idx="1"/>
          </p:nvPr>
        </p:nvSpPr>
        <p:spPr>
          <a:xfrm>
            <a:off x="5183188" y="987427"/>
            <a:ext cx="6172200" cy="4873625"/>
          </a:xfrm>
          <a:prstGeom prst="rect">
            <a:avLst/>
          </a:prstGeom>
        </p:spPr>
        <p:txBody>
          <a:bodyPr/>
          <a:lstStyle>
            <a:lvl1pPr>
              <a:defRPr sz="3199"/>
            </a:lvl1pPr>
            <a:lvl2pPr>
              <a:defRPr sz="2799">
                <a:latin typeface="Montserrat SemiBold" panose="00000700000000000000" pitchFamily="2" charset="0"/>
              </a:defRPr>
            </a:lvl2pPr>
            <a:lvl3pPr>
              <a:defRPr sz="2399">
                <a:latin typeface="Montserrat SemiBold" panose="00000700000000000000" pitchFamily="2" charset="0"/>
              </a:defRPr>
            </a:lvl3pPr>
            <a:lvl4pPr>
              <a:defRPr sz="1999">
                <a:latin typeface="Montserrat SemiBold" panose="00000700000000000000" pitchFamily="2" charset="0"/>
              </a:defRPr>
            </a:lvl4pPr>
            <a:lvl5pPr>
              <a:defRPr sz="1999">
                <a:latin typeface="Montserrat SemiBold" panose="00000700000000000000" pitchFamily="2" charset="0"/>
              </a:defRPr>
            </a:lvl5pPr>
            <a:lvl6pPr>
              <a:defRPr sz="1999"/>
            </a:lvl6pPr>
            <a:lvl7pPr>
              <a:defRPr sz="1999"/>
            </a:lvl7pPr>
            <a:lvl8pPr>
              <a:defRPr sz="1999"/>
            </a:lvl8pPr>
            <a:lvl9pPr>
              <a:defRPr sz="1999"/>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D892706-05B8-49FA-8969-C49999619D2C}"/>
              </a:ext>
            </a:extLst>
          </p:cNvPr>
          <p:cNvSpPr>
            <a:spLocks noGrp="1"/>
          </p:cNvSpPr>
          <p:nvPr>
            <p:ph type="body" sz="half" idx="2"/>
          </p:nvPr>
        </p:nvSpPr>
        <p:spPr>
          <a:xfrm>
            <a:off x="839789" y="2057400"/>
            <a:ext cx="3932237" cy="3811588"/>
          </a:xfrm>
          <a:prstGeom prst="rect">
            <a:avLst/>
          </a:prstGeo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C0E762F6-F964-4B34-BB7C-409631973DB1}"/>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6" name="Footer Placeholder 5">
            <a:extLst>
              <a:ext uri="{FF2B5EF4-FFF2-40B4-BE49-F238E27FC236}">
                <a16:creationId xmlns:a16="http://schemas.microsoft.com/office/drawing/2014/main" id="{DE8C797D-545C-4AE2-8C86-6AFD1DECF806}"/>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7" name="Slide Number Placeholder 6">
            <a:extLst>
              <a:ext uri="{FF2B5EF4-FFF2-40B4-BE49-F238E27FC236}">
                <a16:creationId xmlns:a16="http://schemas.microsoft.com/office/drawing/2014/main" id="{D311CA0C-9F41-473B-AD32-35B845D17F86}"/>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2251641659"/>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020D2-D199-4642-91C3-C92BB845ABEE}"/>
              </a:ext>
            </a:extLst>
          </p:cNvPr>
          <p:cNvSpPr>
            <a:spLocks noGrp="1"/>
          </p:cNvSpPr>
          <p:nvPr>
            <p:ph type="title"/>
          </p:nvPr>
        </p:nvSpPr>
        <p:spPr>
          <a:xfrm>
            <a:off x="839789" y="457200"/>
            <a:ext cx="3932237" cy="1600200"/>
          </a:xfrm>
          <a:prstGeom prst="rect">
            <a:avLst/>
          </a:prstGeom>
        </p:spPr>
        <p:txBody>
          <a:bodyPr anchor="b"/>
          <a:lstStyle>
            <a:lvl1pPr>
              <a:defRPr sz="3199" b="0">
                <a:latin typeface="Franklin Gothic Demi" panose="020B07030201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E492EE43-E4B1-4A20-B94A-198840A22831}"/>
              </a:ext>
            </a:extLst>
          </p:cNvPr>
          <p:cNvSpPr>
            <a:spLocks noGrp="1"/>
          </p:cNvSpPr>
          <p:nvPr>
            <p:ph type="pic" idx="1"/>
          </p:nvPr>
        </p:nvSpPr>
        <p:spPr>
          <a:xfrm>
            <a:off x="5183188" y="987427"/>
            <a:ext cx="6172200" cy="4873625"/>
          </a:xfrm>
          <a:prstGeom prst="rect">
            <a:avLst/>
          </a:prstGeom>
        </p:spPr>
        <p:txBody>
          <a:bodyPr/>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dirty="0"/>
              <a:t>Click icon to add picture</a:t>
            </a:r>
          </a:p>
        </p:txBody>
      </p:sp>
      <p:sp>
        <p:nvSpPr>
          <p:cNvPr id="4" name="Text Placeholder 3">
            <a:extLst>
              <a:ext uri="{FF2B5EF4-FFF2-40B4-BE49-F238E27FC236}">
                <a16:creationId xmlns:a16="http://schemas.microsoft.com/office/drawing/2014/main" id="{08E9556E-4666-4752-96AC-BC16E0DDD14D}"/>
              </a:ext>
            </a:extLst>
          </p:cNvPr>
          <p:cNvSpPr>
            <a:spLocks noGrp="1"/>
          </p:cNvSpPr>
          <p:nvPr>
            <p:ph type="body" sz="half" idx="2"/>
          </p:nvPr>
        </p:nvSpPr>
        <p:spPr>
          <a:xfrm>
            <a:off x="839789" y="2057400"/>
            <a:ext cx="3932237" cy="3811588"/>
          </a:xfrm>
          <a:prstGeom prst="rect">
            <a:avLst/>
          </a:prstGeo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Edit Master text styles</a:t>
            </a:r>
          </a:p>
        </p:txBody>
      </p:sp>
      <p:sp>
        <p:nvSpPr>
          <p:cNvPr id="5" name="Date Placeholder 4">
            <a:extLst>
              <a:ext uri="{FF2B5EF4-FFF2-40B4-BE49-F238E27FC236}">
                <a16:creationId xmlns:a16="http://schemas.microsoft.com/office/drawing/2014/main" id="{32FCD147-378B-443E-B4F3-BCBF73C660E8}"/>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6" name="Footer Placeholder 5">
            <a:extLst>
              <a:ext uri="{FF2B5EF4-FFF2-40B4-BE49-F238E27FC236}">
                <a16:creationId xmlns:a16="http://schemas.microsoft.com/office/drawing/2014/main" id="{A1302E32-7D2B-4756-96F2-2E76F83EAC18}"/>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7" name="Slide Number Placeholder 6">
            <a:extLst>
              <a:ext uri="{FF2B5EF4-FFF2-40B4-BE49-F238E27FC236}">
                <a16:creationId xmlns:a16="http://schemas.microsoft.com/office/drawing/2014/main" id="{0C38E172-5DD9-4030-B21E-2B24FF744838}"/>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551681832"/>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F3D9C-7AC9-494F-ABC8-D78F40AE3BCB}"/>
              </a:ext>
            </a:extLst>
          </p:cNvPr>
          <p:cNvSpPr>
            <a:spLocks noGrp="1"/>
          </p:cNvSpPr>
          <p:nvPr>
            <p:ph type="title"/>
          </p:nvPr>
        </p:nvSpPr>
        <p:spPr>
          <a:xfrm>
            <a:off x="565638" y="365127"/>
            <a:ext cx="10788162" cy="1325563"/>
          </a:xfrm>
          <a:prstGeom prst="rect">
            <a:avLst/>
          </a:prstGeom>
        </p:spPr>
        <p:txBody>
          <a:bodyPr/>
          <a:lstStyle>
            <a:lvl1pPr>
              <a:defRPr b="0">
                <a:latin typeface="Franklin Gothic Demi" panose="020B0703020102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6E438CE0-D5E6-4BCE-BC43-3D23FF859BE1}"/>
              </a:ext>
            </a:extLst>
          </p:cNvPr>
          <p:cNvSpPr>
            <a:spLocks noGrp="1"/>
          </p:cNvSpPr>
          <p:nvPr>
            <p:ph type="body" orient="vert" idx="1"/>
          </p:nvPr>
        </p:nvSpPr>
        <p:spPr>
          <a:xfrm>
            <a:off x="565638" y="1825625"/>
            <a:ext cx="10788162" cy="4351338"/>
          </a:xfrm>
          <a:prstGeom prst="rect">
            <a:avLst/>
          </a:prstGeom>
        </p:spPr>
        <p:txBody>
          <a:bodyPr vert="eaVert"/>
          <a:lstStyle>
            <a:lvl1pPr>
              <a:defRPr/>
            </a:lvl1pPr>
            <a:lvl2pPr>
              <a:defRPr>
                <a:latin typeface="Montserrat SemiBold" panose="00000700000000000000" pitchFamily="2" charset="0"/>
              </a:defRPr>
            </a:lvl2pPr>
            <a:lvl3pPr>
              <a:defRPr>
                <a:latin typeface="Montserrat SemiBold" panose="00000700000000000000" pitchFamily="2" charset="0"/>
              </a:defRPr>
            </a:lvl3pPr>
            <a:lvl4pPr>
              <a:defRPr>
                <a:latin typeface="Montserrat SemiBold" panose="00000700000000000000" pitchFamily="2" charset="0"/>
              </a:defRPr>
            </a:lvl4pPr>
            <a:lvl5pPr>
              <a:defRPr>
                <a:latin typeface="Montserrat SemiBold" panose="00000700000000000000"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E4E5594-78B3-439D-83D9-2733754E9BA6}"/>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B6FC0BA3-0ADF-4E00-A70C-5FED2D085152}"/>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411AC8C6-B9D8-4255-820A-C441BD0280E6}"/>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3878466387"/>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9F7FAB-20BA-4577-B903-6692436E84B6}"/>
              </a:ext>
            </a:extLst>
          </p:cNvPr>
          <p:cNvSpPr>
            <a:spLocks noGrp="1"/>
          </p:cNvSpPr>
          <p:nvPr>
            <p:ph type="title" orient="vert"/>
          </p:nvPr>
        </p:nvSpPr>
        <p:spPr>
          <a:xfrm>
            <a:off x="8724900" y="365125"/>
            <a:ext cx="2628900" cy="5811838"/>
          </a:xfrm>
          <a:prstGeom prst="rect">
            <a:avLst/>
          </a:prstGeom>
        </p:spPr>
        <p:txBody>
          <a:bodyPr vert="eaVert"/>
          <a:lstStyle>
            <a:lvl1pPr>
              <a:defRPr b="0">
                <a:latin typeface="Franklin Gothic Demi" panose="020B0703020102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C3E3D1CB-B486-4AEF-B6D2-4B83109BAF6F}"/>
              </a:ext>
            </a:extLst>
          </p:cNvPr>
          <p:cNvSpPr>
            <a:spLocks noGrp="1"/>
          </p:cNvSpPr>
          <p:nvPr>
            <p:ph type="body" orient="vert" idx="1"/>
          </p:nvPr>
        </p:nvSpPr>
        <p:spPr>
          <a:xfrm>
            <a:off x="838200" y="365125"/>
            <a:ext cx="7734300" cy="5811838"/>
          </a:xfrm>
          <a:prstGeom prst="rect">
            <a:avLst/>
          </a:prstGeom>
        </p:spPr>
        <p:txBody>
          <a:bodyPr vert="eaVert"/>
          <a:lstStyle>
            <a:lvl1pPr>
              <a:defRPr/>
            </a:lvl1pPr>
            <a:lvl2pPr>
              <a:defRPr>
                <a:latin typeface="Montserrat SemiBold" panose="00000700000000000000" pitchFamily="2" charset="0"/>
              </a:defRPr>
            </a:lvl2pPr>
            <a:lvl3pPr>
              <a:defRPr>
                <a:latin typeface="Montserrat SemiBold" panose="00000700000000000000" pitchFamily="2" charset="0"/>
              </a:defRPr>
            </a:lvl3pPr>
            <a:lvl4pPr>
              <a:defRPr>
                <a:latin typeface="Montserrat SemiBold" panose="00000700000000000000" pitchFamily="2" charset="0"/>
              </a:defRPr>
            </a:lvl4pPr>
            <a:lvl5pPr>
              <a:defRPr>
                <a:latin typeface="Montserrat SemiBold" panose="00000700000000000000" pitchFamily="2"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AEA647F-8B5F-4D2F-BA54-6D9E47CFAAC6}"/>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DE72A51B-5CCE-4B68-B679-3ED0C5222075}"/>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1932A5CE-9806-46B1-B9BB-51372DCAA0FC}"/>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2786600339"/>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Full 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9D9D96-CF3D-4F16-B5D5-4C8FDE0D06C5}"/>
              </a:ext>
            </a:extLst>
          </p:cNvPr>
          <p:cNvSpPr/>
          <p:nvPr userDrawn="1"/>
        </p:nvSpPr>
        <p:spPr>
          <a:xfrm>
            <a:off x="1" y="5011948"/>
            <a:ext cx="12192000" cy="1846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99" dirty="0">
              <a:latin typeface="Montserrat SemiBold" panose="00000700000000000000" pitchFamily="2" charset="0"/>
            </a:endParaRPr>
          </a:p>
        </p:txBody>
      </p:sp>
      <p:sp>
        <p:nvSpPr>
          <p:cNvPr id="4" name="Title 1">
            <a:extLst>
              <a:ext uri="{FF2B5EF4-FFF2-40B4-BE49-F238E27FC236}">
                <a16:creationId xmlns:a16="http://schemas.microsoft.com/office/drawing/2014/main" id="{A7C36F3C-361F-4A75-BCFA-34C9CCE0C25D}"/>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Tree>
    <p:extLst>
      <p:ext uri="{BB962C8B-B14F-4D97-AF65-F5344CB8AC3E}">
        <p14:creationId xmlns:p14="http://schemas.microsoft.com/office/powerpoint/2010/main" val="485528040"/>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 BG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F580AE-B20A-45F1-BB37-69FB5F7C8444}"/>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05B04D18-7FDF-4632-8E69-382059BACEF7}"/>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419A73CF-836D-4368-8AA4-C3A06C44B17A}"/>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7" name="Rectangle 6">
            <a:extLst>
              <a:ext uri="{FF2B5EF4-FFF2-40B4-BE49-F238E27FC236}">
                <a16:creationId xmlns:a16="http://schemas.microsoft.com/office/drawing/2014/main" id="{9921DFA1-7FED-4C05-A3D4-9D34DE1E740F}"/>
              </a:ext>
            </a:extLst>
          </p:cNvPr>
          <p:cNvSpPr/>
          <p:nvPr userDrawn="1"/>
        </p:nvSpPr>
        <p:spPr>
          <a:xfrm>
            <a:off x="0" y="0"/>
            <a:ext cx="12192000" cy="56088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Tree>
    <p:extLst>
      <p:ext uri="{BB962C8B-B14F-4D97-AF65-F5344CB8AC3E}">
        <p14:creationId xmlns:p14="http://schemas.microsoft.com/office/powerpoint/2010/main" val="2840672748"/>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ue BG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F580AE-B20A-45F1-BB37-69FB5F7C8444}"/>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05B04D18-7FDF-4632-8E69-382059BACEF7}"/>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419A73CF-836D-4368-8AA4-C3A06C44B17A}"/>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7" name="Rectangle 6">
            <a:extLst>
              <a:ext uri="{FF2B5EF4-FFF2-40B4-BE49-F238E27FC236}">
                <a16:creationId xmlns:a16="http://schemas.microsoft.com/office/drawing/2014/main" id="{9921DFA1-7FED-4C05-A3D4-9D34DE1E740F}"/>
              </a:ext>
            </a:extLst>
          </p:cNvPr>
          <p:cNvSpPr/>
          <p:nvPr userDrawn="1"/>
        </p:nvSpPr>
        <p:spPr>
          <a:xfrm>
            <a:off x="0" y="0"/>
            <a:ext cx="12192000" cy="56088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2" name="Rectangle 1">
            <a:extLst>
              <a:ext uri="{FF2B5EF4-FFF2-40B4-BE49-F238E27FC236}">
                <a16:creationId xmlns:a16="http://schemas.microsoft.com/office/drawing/2014/main" id="{6E50AB24-423E-4CFC-859C-F60861118C6C}"/>
              </a:ext>
            </a:extLst>
          </p:cNvPr>
          <p:cNvSpPr/>
          <p:nvPr userDrawn="1"/>
        </p:nvSpPr>
        <p:spPr>
          <a:xfrm>
            <a:off x="5986819" y="0"/>
            <a:ext cx="6205182" cy="5608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Tree>
    <p:extLst>
      <p:ext uri="{BB962C8B-B14F-4D97-AF65-F5344CB8AC3E}">
        <p14:creationId xmlns:p14="http://schemas.microsoft.com/office/powerpoint/2010/main" val="1100523405"/>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Blue BG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F580AE-B20A-45F1-BB37-69FB5F7C8444}"/>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05B04D18-7FDF-4632-8E69-382059BACEF7}"/>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419A73CF-836D-4368-8AA4-C3A06C44B17A}"/>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7" name="Rectangle 6">
            <a:extLst>
              <a:ext uri="{FF2B5EF4-FFF2-40B4-BE49-F238E27FC236}">
                <a16:creationId xmlns:a16="http://schemas.microsoft.com/office/drawing/2014/main" id="{9921DFA1-7FED-4C05-A3D4-9D34DE1E740F}"/>
              </a:ext>
            </a:extLst>
          </p:cNvPr>
          <p:cNvSpPr/>
          <p:nvPr userDrawn="1"/>
        </p:nvSpPr>
        <p:spPr>
          <a:xfrm>
            <a:off x="0" y="0"/>
            <a:ext cx="12192000" cy="5608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2" name="Rectangle 1">
            <a:extLst>
              <a:ext uri="{FF2B5EF4-FFF2-40B4-BE49-F238E27FC236}">
                <a16:creationId xmlns:a16="http://schemas.microsoft.com/office/drawing/2014/main" id="{6E50AB24-423E-4CFC-859C-F60861118C6C}"/>
              </a:ext>
            </a:extLst>
          </p:cNvPr>
          <p:cNvSpPr/>
          <p:nvPr userDrawn="1"/>
        </p:nvSpPr>
        <p:spPr>
          <a:xfrm>
            <a:off x="5986819" y="0"/>
            <a:ext cx="6205182" cy="56088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Tree>
    <p:extLst>
      <p:ext uri="{BB962C8B-B14F-4D97-AF65-F5344CB8AC3E}">
        <p14:creationId xmlns:p14="http://schemas.microsoft.com/office/powerpoint/2010/main" val="440526379"/>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Intro - Blue">
    <p:spTree>
      <p:nvGrpSpPr>
        <p:cNvPr id="1" name=""/>
        <p:cNvGrpSpPr/>
        <p:nvPr/>
      </p:nvGrpSpPr>
      <p:grpSpPr>
        <a:xfrm>
          <a:off x="0" y="0"/>
          <a:ext cx="0" cy="0"/>
          <a:chOff x="0" y="0"/>
          <a:chExt cx="0" cy="0"/>
        </a:xfrm>
      </p:grpSpPr>
      <p:sp>
        <p:nvSpPr>
          <p:cNvPr id="6" name="Rectangle 5"/>
          <p:cNvSpPr/>
          <p:nvPr userDrawn="1"/>
        </p:nvSpPr>
        <p:spPr>
          <a:xfrm>
            <a:off x="2" y="-8021"/>
            <a:ext cx="12192000" cy="5333470"/>
          </a:xfrm>
          <a:prstGeom prst="rect">
            <a:avLst/>
          </a:prstGeom>
          <a:solidFill>
            <a:srgbClr val="1D2B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91416" rIns="91416" bIns="91416" numCol="1" spcCol="0" rtlCol="0" fromWordArt="0" anchor="b" anchorCtr="0" forceAA="0" compatLnSpc="1">
            <a:prstTxWarp prst="textNoShape">
              <a:avLst/>
            </a:prstTxWarp>
            <a:no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3" name="Subtitle 2"/>
          <p:cNvSpPr>
            <a:spLocks noGrp="1"/>
          </p:cNvSpPr>
          <p:nvPr>
            <p:ph type="subTitle" idx="1"/>
          </p:nvPr>
        </p:nvSpPr>
        <p:spPr>
          <a:xfrm>
            <a:off x="366237" y="3116652"/>
            <a:ext cx="6939552" cy="1090993"/>
          </a:xfrm>
          <a:prstGeom prst="rect">
            <a:avLst/>
          </a:prstGeom>
          <a:noFill/>
        </p:spPr>
        <p:txBody>
          <a:bodyPr lIns="114268" tIns="152357" rIns="76171" bIns="76171">
            <a:noAutofit/>
          </a:bodyPr>
          <a:lstStyle>
            <a:lvl1pPr marL="0" indent="0" algn="l">
              <a:lnSpc>
                <a:spcPct val="80000"/>
              </a:lnSpc>
              <a:buNone/>
              <a:defRPr sz="2799" i="1">
                <a:solidFill>
                  <a:schemeClr val="accent1"/>
                </a:solidFill>
                <a:latin typeface="Arial Narrow" panose="020B0606020202030204" pitchFamily="34" charset="0"/>
                <a:ea typeface="Arial Narrow" panose="020B0606020202030204" pitchFamily="34" charset="0"/>
                <a:cs typeface="Segoe UI" pitchFamily="34" charset="0"/>
              </a:defRPr>
            </a:lvl1pPr>
            <a:lvl2pPr marL="543890" indent="0" algn="ctr">
              <a:buNone/>
              <a:defRPr>
                <a:solidFill>
                  <a:schemeClr val="tx1">
                    <a:tint val="75000"/>
                  </a:schemeClr>
                </a:solidFill>
              </a:defRPr>
            </a:lvl2pPr>
            <a:lvl3pPr marL="1087779" indent="0" algn="ctr">
              <a:buNone/>
              <a:defRPr>
                <a:solidFill>
                  <a:schemeClr val="tx1">
                    <a:tint val="75000"/>
                  </a:schemeClr>
                </a:solidFill>
              </a:defRPr>
            </a:lvl3pPr>
            <a:lvl4pPr marL="1631669" indent="0" algn="ctr">
              <a:buNone/>
              <a:defRPr>
                <a:solidFill>
                  <a:schemeClr val="tx1">
                    <a:tint val="75000"/>
                  </a:schemeClr>
                </a:solidFill>
              </a:defRPr>
            </a:lvl4pPr>
            <a:lvl5pPr marL="2175558" indent="0" algn="ctr">
              <a:buNone/>
              <a:defRPr>
                <a:solidFill>
                  <a:schemeClr val="tx1">
                    <a:tint val="75000"/>
                  </a:schemeClr>
                </a:solidFill>
              </a:defRPr>
            </a:lvl5pPr>
            <a:lvl6pPr marL="2719448" indent="0" algn="ctr">
              <a:buNone/>
              <a:defRPr>
                <a:solidFill>
                  <a:schemeClr val="tx1">
                    <a:tint val="75000"/>
                  </a:schemeClr>
                </a:solidFill>
              </a:defRPr>
            </a:lvl6pPr>
            <a:lvl7pPr marL="3263337" indent="0" algn="ctr">
              <a:buNone/>
              <a:defRPr>
                <a:solidFill>
                  <a:schemeClr val="tx1">
                    <a:tint val="75000"/>
                  </a:schemeClr>
                </a:solidFill>
              </a:defRPr>
            </a:lvl7pPr>
            <a:lvl8pPr marL="3807226" indent="0" algn="ctr">
              <a:buNone/>
              <a:defRPr>
                <a:solidFill>
                  <a:schemeClr val="tx1">
                    <a:tint val="75000"/>
                  </a:schemeClr>
                </a:solidFill>
              </a:defRPr>
            </a:lvl8pPr>
            <a:lvl9pPr marL="4351116"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ctrTitle"/>
          </p:nvPr>
        </p:nvSpPr>
        <p:spPr>
          <a:xfrm>
            <a:off x="366236" y="2125585"/>
            <a:ext cx="11475923" cy="980661"/>
          </a:xfrm>
          <a:prstGeom prst="rect">
            <a:avLst/>
          </a:prstGeom>
          <a:noFill/>
        </p:spPr>
        <p:txBody>
          <a:bodyPr lIns="114268" tIns="152357" rIns="76171" bIns="76171" anchor="t">
            <a:noAutofit/>
          </a:bodyPr>
          <a:lstStyle>
            <a:lvl1pPr algn="l">
              <a:lnSpc>
                <a:spcPct val="80000"/>
              </a:lnSpc>
              <a:defRPr sz="4399" b="1" baseline="0">
                <a:solidFill>
                  <a:srgbClr val="FFFFFF"/>
                </a:solidFill>
                <a:latin typeface="Franklin Gothic Book" panose="020B0503020102020204" pitchFamily="34" charset="0"/>
                <a:ea typeface="Franklin Gothic Book" panose="020B0503020102020204" pitchFamily="34" charset="0"/>
                <a:cs typeface="Segoe UI Light" panose="020B0502040204020203" pitchFamily="34" charset="0"/>
              </a:defRPr>
            </a:lvl1pPr>
          </a:lstStyle>
          <a:p>
            <a:r>
              <a:rPr lang="en-US"/>
              <a:t>Click to edit Master title style</a:t>
            </a:r>
          </a:p>
        </p:txBody>
      </p:sp>
      <p:sp>
        <p:nvSpPr>
          <p:cNvPr id="5" name="TextBox 4"/>
          <p:cNvSpPr txBox="1"/>
          <p:nvPr userDrawn="1"/>
        </p:nvSpPr>
        <p:spPr>
          <a:xfrm>
            <a:off x="355082" y="6411956"/>
            <a:ext cx="3814710" cy="334537"/>
          </a:xfrm>
          <a:prstGeom prst="rect">
            <a:avLst/>
          </a:prstGeom>
          <a:ln>
            <a:noFill/>
          </a:ln>
        </p:spPr>
        <p:txBody>
          <a:bodyPr vert="horz" wrap="square" lIns="91416" tIns="91416" rIns="91416" bIns="91416" rtlCol="0" anchor="t">
            <a:noAutofit/>
          </a:bodyPr>
          <a:lstStyle/>
          <a:p>
            <a:pPr marL="0" marR="0" lvl="0" indent="0" algn="l" defTabSz="914126" rtl="0" eaLnBrk="1" fontAlgn="auto" latinLnBrk="0" hangingPunct="1">
              <a:lnSpc>
                <a:spcPct val="100000"/>
              </a:lnSpc>
              <a:spcBef>
                <a:spcPts val="0"/>
              </a:spcBef>
              <a:spcAft>
                <a:spcPts val="0"/>
              </a:spcAft>
              <a:buClrTx/>
              <a:buSzTx/>
              <a:buFont typeface="Wingdings" pitchFamily="2" charset="2"/>
              <a:buNone/>
              <a:tabLst/>
              <a:defRPr/>
            </a:pPr>
            <a:r>
              <a:rPr kumimoji="0" lang="en-US" sz="1000" b="0" i="0" u="none" strike="noStrike" kern="1200" cap="none" spc="0" normalizeH="0" baseline="0" noProof="0" dirty="0">
                <a:ln>
                  <a:noFill/>
                </a:ln>
                <a:solidFill>
                  <a:srgbClr val="1D2B36">
                    <a:lumMod val="75000"/>
                    <a:lumOff val="25000"/>
                  </a:srgbClr>
                </a:solidFill>
                <a:effectLst/>
                <a:uLnTx/>
                <a:uFillTx/>
                <a:latin typeface="Arial Narrow" panose="020B0606020202030204" pitchFamily="34" charset="0"/>
                <a:ea typeface="Segoe UI" pitchFamily="34" charset="0"/>
                <a:cs typeface="Segoe UI" pitchFamily="34" charset="0"/>
              </a:rPr>
              <a:t>Community Reinvestment Fund, USA (CRF) is an equal opportunity provider</a:t>
            </a:r>
          </a:p>
        </p:txBody>
      </p:sp>
      <p:sp>
        <p:nvSpPr>
          <p:cNvPr id="4" name="Rectangle 3">
            <a:extLst>
              <a:ext uri="{FF2B5EF4-FFF2-40B4-BE49-F238E27FC236}">
                <a16:creationId xmlns:a16="http://schemas.microsoft.com/office/drawing/2014/main" id="{091F9749-499C-44A9-8E5E-7A23808C3921}"/>
              </a:ext>
            </a:extLst>
          </p:cNvPr>
          <p:cNvSpPr/>
          <p:nvPr userDrawn="1"/>
        </p:nvSpPr>
        <p:spPr>
          <a:xfrm>
            <a:off x="-1" y="5441674"/>
            <a:ext cx="12192001" cy="1416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pic>
        <p:nvPicPr>
          <p:cNvPr id="7" name="Picture 17">
            <a:extLst>
              <a:ext uri="{FF2B5EF4-FFF2-40B4-BE49-F238E27FC236}">
                <a16:creationId xmlns:a16="http://schemas.microsoft.com/office/drawing/2014/main" id="{CF140438-8E62-49B5-A130-FE7D32A52C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6141" y="5584509"/>
            <a:ext cx="1371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a:extLst>
              <a:ext uri="{FF2B5EF4-FFF2-40B4-BE49-F238E27FC236}">
                <a16:creationId xmlns:a16="http://schemas.microsoft.com/office/drawing/2014/main" id="{CD7BFFAD-A4DA-41CB-9545-675F95895395}"/>
              </a:ext>
            </a:extLst>
          </p:cNvPr>
          <p:cNvSpPr>
            <a:spLocks noGrp="1"/>
          </p:cNvSpPr>
          <p:nvPr>
            <p:ph type="dt" sz="half" idx="10"/>
          </p:nvPr>
        </p:nvSpPr>
        <p:spPr/>
        <p:txBody>
          <a:bodyPr/>
          <a:lstStyle/>
          <a:p>
            <a:pPr defTabSz="914126">
              <a:defRPr/>
            </a:pPr>
            <a:endParaRPr lang="en-US" dirty="0">
              <a:solidFill>
                <a:srgbClr val="1D2B36">
                  <a:tint val="75000"/>
                </a:srgbClr>
              </a:solidFill>
            </a:endParaRPr>
          </a:p>
        </p:txBody>
      </p:sp>
      <p:sp>
        <p:nvSpPr>
          <p:cNvPr id="9" name="Footer Placeholder 8">
            <a:extLst>
              <a:ext uri="{FF2B5EF4-FFF2-40B4-BE49-F238E27FC236}">
                <a16:creationId xmlns:a16="http://schemas.microsoft.com/office/drawing/2014/main" id="{D7D20F90-724E-4680-9141-32F668FC404F}"/>
              </a:ext>
            </a:extLst>
          </p:cNvPr>
          <p:cNvSpPr>
            <a:spLocks noGrp="1"/>
          </p:cNvSpPr>
          <p:nvPr>
            <p:ph type="ftr" sz="quarter" idx="11"/>
          </p:nvPr>
        </p:nvSpPr>
        <p:spPr/>
        <p:txBody>
          <a:bodyPr/>
          <a:lstStyle/>
          <a:p>
            <a:pPr defTabSz="914126">
              <a:defRPr/>
            </a:pPr>
            <a:endParaRPr lang="en-US" dirty="0">
              <a:solidFill>
                <a:srgbClr val="1D2B36">
                  <a:tint val="75000"/>
                </a:srgbClr>
              </a:solidFill>
            </a:endParaRPr>
          </a:p>
        </p:txBody>
      </p:sp>
      <p:sp>
        <p:nvSpPr>
          <p:cNvPr id="10" name="Slide Number Placeholder 9">
            <a:extLst>
              <a:ext uri="{FF2B5EF4-FFF2-40B4-BE49-F238E27FC236}">
                <a16:creationId xmlns:a16="http://schemas.microsoft.com/office/drawing/2014/main" id="{55565E78-E99F-41D8-BA90-D66FBB0BB172}"/>
              </a:ext>
            </a:extLst>
          </p:cNvPr>
          <p:cNvSpPr>
            <a:spLocks noGrp="1"/>
          </p:cNvSpPr>
          <p:nvPr>
            <p:ph type="sldNum" sz="quarter" idx="12"/>
          </p:nvPr>
        </p:nvSpPr>
        <p:spPr/>
        <p:txBody>
          <a:body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252488310"/>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Intro - Grey">
    <p:spTree>
      <p:nvGrpSpPr>
        <p:cNvPr id="1" name=""/>
        <p:cNvGrpSpPr/>
        <p:nvPr/>
      </p:nvGrpSpPr>
      <p:grpSpPr>
        <a:xfrm>
          <a:off x="0" y="0"/>
          <a:ext cx="0" cy="0"/>
          <a:chOff x="0" y="0"/>
          <a:chExt cx="0" cy="0"/>
        </a:xfrm>
      </p:grpSpPr>
      <p:sp>
        <p:nvSpPr>
          <p:cNvPr id="6" name="Rectangle 5"/>
          <p:cNvSpPr/>
          <p:nvPr userDrawn="1"/>
        </p:nvSpPr>
        <p:spPr>
          <a:xfrm>
            <a:off x="2" y="-8021"/>
            <a:ext cx="12192000" cy="5333470"/>
          </a:xfrm>
          <a:prstGeom prst="rect">
            <a:avLst/>
          </a:prstGeom>
          <a:solidFill>
            <a:srgbClr val="1D2B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91416" rIns="91416" bIns="91416" numCol="1" spcCol="0" rtlCol="0" fromWordArt="0" anchor="b" anchorCtr="0" forceAA="0" compatLnSpc="1">
            <a:prstTxWarp prst="textNoShape">
              <a:avLst/>
            </a:prstTxWarp>
            <a:noAutofit/>
          </a:bodyPr>
          <a:lstStyle/>
          <a:p>
            <a:pPr algn="r"/>
            <a:endParaRPr lang="en-US" sz="1200" dirty="0">
              <a:latin typeface="Montserrat SemiBold" panose="00000700000000000000" pitchFamily="2" charset="0"/>
            </a:endParaRPr>
          </a:p>
        </p:txBody>
      </p:sp>
      <p:sp>
        <p:nvSpPr>
          <p:cNvPr id="3" name="Subtitle 2"/>
          <p:cNvSpPr>
            <a:spLocks noGrp="1"/>
          </p:cNvSpPr>
          <p:nvPr>
            <p:ph type="subTitle" idx="1"/>
          </p:nvPr>
        </p:nvSpPr>
        <p:spPr>
          <a:xfrm>
            <a:off x="366237" y="3116652"/>
            <a:ext cx="6939552" cy="1090993"/>
          </a:xfrm>
          <a:prstGeom prst="rect">
            <a:avLst/>
          </a:prstGeom>
          <a:noFill/>
        </p:spPr>
        <p:txBody>
          <a:bodyPr lIns="114268" tIns="152357" rIns="76171" bIns="76171">
            <a:noAutofit/>
          </a:bodyPr>
          <a:lstStyle>
            <a:lvl1pPr marL="0" indent="0" algn="l">
              <a:lnSpc>
                <a:spcPct val="80000"/>
              </a:lnSpc>
              <a:buNone/>
              <a:defRPr sz="2799" i="1">
                <a:solidFill>
                  <a:schemeClr val="accent1"/>
                </a:solidFill>
                <a:latin typeface="Arial Narrow" panose="020B0606020202030204" pitchFamily="34" charset="0"/>
                <a:ea typeface="Arial Narrow" panose="020B0606020202030204" pitchFamily="34" charset="0"/>
                <a:cs typeface="Segoe UI" pitchFamily="34" charset="0"/>
              </a:defRPr>
            </a:lvl1pPr>
            <a:lvl2pPr marL="543890" indent="0" algn="ctr">
              <a:buNone/>
              <a:defRPr>
                <a:solidFill>
                  <a:schemeClr val="tx1">
                    <a:tint val="75000"/>
                  </a:schemeClr>
                </a:solidFill>
              </a:defRPr>
            </a:lvl2pPr>
            <a:lvl3pPr marL="1087779" indent="0" algn="ctr">
              <a:buNone/>
              <a:defRPr>
                <a:solidFill>
                  <a:schemeClr val="tx1">
                    <a:tint val="75000"/>
                  </a:schemeClr>
                </a:solidFill>
              </a:defRPr>
            </a:lvl3pPr>
            <a:lvl4pPr marL="1631669" indent="0" algn="ctr">
              <a:buNone/>
              <a:defRPr>
                <a:solidFill>
                  <a:schemeClr val="tx1">
                    <a:tint val="75000"/>
                  </a:schemeClr>
                </a:solidFill>
              </a:defRPr>
            </a:lvl4pPr>
            <a:lvl5pPr marL="2175558" indent="0" algn="ctr">
              <a:buNone/>
              <a:defRPr>
                <a:solidFill>
                  <a:schemeClr val="tx1">
                    <a:tint val="75000"/>
                  </a:schemeClr>
                </a:solidFill>
              </a:defRPr>
            </a:lvl5pPr>
            <a:lvl6pPr marL="2719448" indent="0" algn="ctr">
              <a:buNone/>
              <a:defRPr>
                <a:solidFill>
                  <a:schemeClr val="tx1">
                    <a:tint val="75000"/>
                  </a:schemeClr>
                </a:solidFill>
              </a:defRPr>
            </a:lvl6pPr>
            <a:lvl7pPr marL="3263337" indent="0" algn="ctr">
              <a:buNone/>
              <a:defRPr>
                <a:solidFill>
                  <a:schemeClr val="tx1">
                    <a:tint val="75000"/>
                  </a:schemeClr>
                </a:solidFill>
              </a:defRPr>
            </a:lvl7pPr>
            <a:lvl8pPr marL="3807226" indent="0" algn="ctr">
              <a:buNone/>
              <a:defRPr>
                <a:solidFill>
                  <a:schemeClr val="tx1">
                    <a:tint val="75000"/>
                  </a:schemeClr>
                </a:solidFill>
              </a:defRPr>
            </a:lvl8pPr>
            <a:lvl9pPr marL="4351116"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ctrTitle"/>
          </p:nvPr>
        </p:nvSpPr>
        <p:spPr>
          <a:xfrm>
            <a:off x="366236" y="2125585"/>
            <a:ext cx="11475923" cy="980661"/>
          </a:xfrm>
          <a:prstGeom prst="rect">
            <a:avLst/>
          </a:prstGeom>
          <a:noFill/>
        </p:spPr>
        <p:txBody>
          <a:bodyPr lIns="114268" tIns="152357" rIns="76171" bIns="76171" anchor="t">
            <a:noAutofit/>
          </a:bodyPr>
          <a:lstStyle>
            <a:lvl1pPr algn="l">
              <a:lnSpc>
                <a:spcPct val="80000"/>
              </a:lnSpc>
              <a:defRPr sz="4399" b="1" baseline="0">
                <a:solidFill>
                  <a:srgbClr val="FFFFFF"/>
                </a:solidFill>
                <a:latin typeface="Franklin Gothic Book" panose="020B0503020102020204" pitchFamily="34" charset="0"/>
                <a:ea typeface="Franklin Gothic Book" panose="020B0503020102020204" pitchFamily="34" charset="0"/>
                <a:cs typeface="Segoe UI Light" panose="020B0502040204020203" pitchFamily="34" charset="0"/>
              </a:defRPr>
            </a:lvl1pPr>
          </a:lstStyle>
          <a:p>
            <a:r>
              <a:rPr lang="en-US"/>
              <a:t>Click to edit Master title style</a:t>
            </a:r>
          </a:p>
        </p:txBody>
      </p:sp>
      <p:sp>
        <p:nvSpPr>
          <p:cNvPr id="5" name="TextBox 4"/>
          <p:cNvSpPr txBox="1"/>
          <p:nvPr userDrawn="1"/>
        </p:nvSpPr>
        <p:spPr>
          <a:xfrm>
            <a:off x="355082" y="6411956"/>
            <a:ext cx="3814710" cy="334537"/>
          </a:xfrm>
          <a:prstGeom prst="rect">
            <a:avLst/>
          </a:prstGeom>
          <a:ln>
            <a:noFill/>
          </a:ln>
        </p:spPr>
        <p:txBody>
          <a:bodyPr vert="horz" wrap="square" lIns="91416" tIns="91416" rIns="91416" bIns="91416" rtlCol="0" anchor="t">
            <a:noAutofit/>
          </a:bodyPr>
          <a:lstStyle/>
          <a:p>
            <a:pPr marL="0" indent="0">
              <a:buFont typeface="Wingdings" pitchFamily="2" charset="2"/>
              <a:buNone/>
            </a:pPr>
            <a:r>
              <a:rPr lang="en-US" sz="1000" dirty="0">
                <a:solidFill>
                  <a:schemeClr val="tx1">
                    <a:lumMod val="75000"/>
                    <a:lumOff val="25000"/>
                  </a:schemeClr>
                </a:solidFill>
                <a:latin typeface="Arial Narrow" panose="020B0606020202030204" pitchFamily="34" charset="0"/>
                <a:ea typeface="Segoe UI" pitchFamily="34" charset="0"/>
                <a:cs typeface="Segoe UI" pitchFamily="34" charset="0"/>
              </a:rPr>
              <a:t>Community Reinvestment Fund,</a:t>
            </a:r>
            <a:r>
              <a:rPr lang="en-US" sz="1000" baseline="0" dirty="0">
                <a:solidFill>
                  <a:schemeClr val="tx1">
                    <a:lumMod val="75000"/>
                    <a:lumOff val="25000"/>
                  </a:schemeClr>
                </a:solidFill>
                <a:latin typeface="Arial Narrow" panose="020B0606020202030204" pitchFamily="34" charset="0"/>
                <a:ea typeface="Segoe UI" pitchFamily="34" charset="0"/>
                <a:cs typeface="Segoe UI" pitchFamily="34" charset="0"/>
              </a:rPr>
              <a:t> U</a:t>
            </a:r>
            <a:r>
              <a:rPr lang="en-US" sz="1000" dirty="0">
                <a:solidFill>
                  <a:schemeClr val="tx1">
                    <a:lumMod val="75000"/>
                    <a:lumOff val="25000"/>
                  </a:schemeClr>
                </a:solidFill>
                <a:latin typeface="Arial Narrow" panose="020B0606020202030204" pitchFamily="34" charset="0"/>
                <a:ea typeface="Segoe UI" pitchFamily="34" charset="0"/>
                <a:cs typeface="Segoe UI" pitchFamily="34" charset="0"/>
              </a:rPr>
              <a:t>SA (CRF) is an equal opportunity provider</a:t>
            </a:r>
          </a:p>
        </p:txBody>
      </p:sp>
      <p:sp>
        <p:nvSpPr>
          <p:cNvPr id="4" name="Rectangle 3">
            <a:extLst>
              <a:ext uri="{FF2B5EF4-FFF2-40B4-BE49-F238E27FC236}">
                <a16:creationId xmlns:a16="http://schemas.microsoft.com/office/drawing/2014/main" id="{091F9749-499C-44A9-8E5E-7A23808C3921}"/>
              </a:ext>
            </a:extLst>
          </p:cNvPr>
          <p:cNvSpPr/>
          <p:nvPr userDrawn="1"/>
        </p:nvSpPr>
        <p:spPr>
          <a:xfrm>
            <a:off x="-1" y="5441674"/>
            <a:ext cx="12192001" cy="1416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99" dirty="0">
              <a:latin typeface="Montserrat SemiBold" panose="00000700000000000000" pitchFamily="2" charset="0"/>
            </a:endParaRPr>
          </a:p>
        </p:txBody>
      </p:sp>
      <p:pic>
        <p:nvPicPr>
          <p:cNvPr id="7" name="Picture 17">
            <a:extLst>
              <a:ext uri="{FF2B5EF4-FFF2-40B4-BE49-F238E27FC236}">
                <a16:creationId xmlns:a16="http://schemas.microsoft.com/office/drawing/2014/main" id="{CF140438-8E62-49B5-A130-FE7D32A52C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6141" y="5584509"/>
            <a:ext cx="1371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8295069"/>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6EBA0824-AD70-AB27-B828-52446D5DBBE4}"/>
              </a:ext>
            </a:extLst>
          </p:cNvPr>
          <p:cNvCxnSpPr/>
          <p:nvPr userDrawn="1"/>
        </p:nvCxnSpPr>
        <p:spPr>
          <a:xfrm>
            <a:off x="0" y="365760"/>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7A85164-AAFB-4B4C-AA1C-EFCE08A90426}"/>
              </a:ext>
            </a:extLst>
          </p:cNvPr>
          <p:cNvSpPr>
            <a:spLocks noGrp="1"/>
          </p:cNvSpPr>
          <p:nvPr>
            <p:ph type="title" hasCustomPrompt="1"/>
          </p:nvPr>
        </p:nvSpPr>
        <p:spPr>
          <a:xfrm>
            <a:off x="609600" y="838200"/>
            <a:ext cx="10972800" cy="823215"/>
          </a:xfrm>
          <a:prstGeom prst="rect">
            <a:avLst/>
          </a:prstGeom>
        </p:spPr>
        <p:txBody>
          <a:bodyPr lIns="45720" anchor="t">
            <a:noAutofit/>
          </a:bodyPr>
          <a:lstStyle>
            <a:lvl1pPr algn="ctr">
              <a:defRPr sz="3600" b="1">
                <a:solidFill>
                  <a:schemeClr val="tx2"/>
                </a:solidFill>
                <a:latin typeface="Verdana" panose="020B0604030504040204" pitchFamily="34" charset="0"/>
                <a:ea typeface="Verdana" panose="020B0604030504040204" pitchFamily="34" charset="0"/>
                <a:cs typeface="Verdana" panose="020B0604030504040204" pitchFamily="34" charset="0"/>
              </a:defRPr>
            </a:lvl1pPr>
          </a:lstStyle>
          <a:p>
            <a:r>
              <a:rPr lang="en-US"/>
              <a:t>Listing with Icons</a:t>
            </a:r>
          </a:p>
        </p:txBody>
      </p:sp>
      <p:sp>
        <p:nvSpPr>
          <p:cNvPr id="7" name="Footer Placeholder 8">
            <a:extLst>
              <a:ext uri="{FF2B5EF4-FFF2-40B4-BE49-F238E27FC236}">
                <a16:creationId xmlns:a16="http://schemas.microsoft.com/office/drawing/2014/main" id="{D6AEA3DE-DDB0-763B-2B96-D6CEAD61BD10}"/>
              </a:ext>
            </a:extLst>
          </p:cNvPr>
          <p:cNvSpPr>
            <a:spLocks noGrp="1"/>
          </p:cNvSpPr>
          <p:nvPr>
            <p:ph type="ftr" sz="quarter" idx="11"/>
          </p:nvPr>
        </p:nvSpPr>
        <p:spPr>
          <a:xfrm>
            <a:off x="285760" y="6562410"/>
            <a:ext cx="4114800" cy="259060"/>
          </a:xfrm>
          <a:prstGeom prst="rect">
            <a:avLst/>
          </a:prstGeom>
        </p:spPr>
        <p:txBody>
          <a:bodyPr/>
          <a:lstStyle>
            <a:lvl1pPr>
              <a:defRPr sz="1100"/>
            </a:lvl1pPr>
          </a:lstStyle>
          <a:p>
            <a:pPr algn="l" defTabSz="914126">
              <a:defRPr/>
            </a:pPr>
            <a:r>
              <a:rPr lang="en-US" dirty="0">
                <a:solidFill>
                  <a:srgbClr val="1D2B36">
                    <a:tint val="75000"/>
                  </a:srgbClr>
                </a:solidFill>
              </a:rPr>
              <a:t>© Community Reinvestment Fund, USA | Internal Purposes Only</a:t>
            </a:r>
          </a:p>
        </p:txBody>
      </p:sp>
      <p:sp>
        <p:nvSpPr>
          <p:cNvPr id="9" name="Slide Number Placeholder 9">
            <a:extLst>
              <a:ext uri="{FF2B5EF4-FFF2-40B4-BE49-F238E27FC236}">
                <a16:creationId xmlns:a16="http://schemas.microsoft.com/office/drawing/2014/main" id="{C17E85C9-E9FC-EDA3-2875-73468AC78D13}"/>
              </a:ext>
            </a:extLst>
          </p:cNvPr>
          <p:cNvSpPr>
            <a:spLocks noGrp="1"/>
          </p:cNvSpPr>
          <p:nvPr>
            <p:ph type="sldNum" sz="quarter" idx="12"/>
          </p:nvPr>
        </p:nvSpPr>
        <p:spPr>
          <a:xfrm>
            <a:off x="9448800" y="6562408"/>
            <a:ext cx="2743200" cy="259062"/>
          </a:xfrm>
          <a:prstGeom prst="rect">
            <a:avLst/>
          </a:prstGeom>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D3F81DF4-E68E-8276-4EB1-C77004EBF67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69460"/>
          <a:stretch/>
        </p:blipFill>
        <p:spPr>
          <a:xfrm>
            <a:off x="5770205" y="106087"/>
            <a:ext cx="613881" cy="658790"/>
          </a:xfrm>
          <a:prstGeom prst="rect">
            <a:avLst/>
          </a:prstGeom>
        </p:spPr>
      </p:pic>
      <p:sp>
        <p:nvSpPr>
          <p:cNvPr id="11" name="Text Placeholder 11">
            <a:extLst>
              <a:ext uri="{FF2B5EF4-FFF2-40B4-BE49-F238E27FC236}">
                <a16:creationId xmlns:a16="http://schemas.microsoft.com/office/drawing/2014/main" id="{C0AA5911-EC02-14F0-FAE3-0DFC23370B39}"/>
              </a:ext>
            </a:extLst>
          </p:cNvPr>
          <p:cNvSpPr>
            <a:spLocks noGrp="1"/>
          </p:cNvSpPr>
          <p:nvPr>
            <p:ph type="body" sz="quarter" idx="13"/>
          </p:nvPr>
        </p:nvSpPr>
        <p:spPr>
          <a:xfrm>
            <a:off x="927764" y="2744750"/>
            <a:ext cx="2441542" cy="909962"/>
          </a:xfrm>
        </p:spPr>
        <p:txBody>
          <a:bodyPr>
            <a:normAutofit/>
          </a:bodyPr>
          <a:lstStyle>
            <a:lvl1pPr marL="0" indent="0" algn="ctr">
              <a:buNone/>
              <a:defRPr sz="1800">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p:txBody>
      </p:sp>
      <p:sp>
        <p:nvSpPr>
          <p:cNvPr id="14" name="Text Placeholder 11">
            <a:extLst>
              <a:ext uri="{FF2B5EF4-FFF2-40B4-BE49-F238E27FC236}">
                <a16:creationId xmlns:a16="http://schemas.microsoft.com/office/drawing/2014/main" id="{42DFB793-991E-7CD3-6DAA-CF4607C4CCCF}"/>
              </a:ext>
            </a:extLst>
          </p:cNvPr>
          <p:cNvSpPr>
            <a:spLocks noGrp="1"/>
          </p:cNvSpPr>
          <p:nvPr>
            <p:ph type="body" sz="quarter" idx="14"/>
          </p:nvPr>
        </p:nvSpPr>
        <p:spPr>
          <a:xfrm>
            <a:off x="4875229" y="2744750"/>
            <a:ext cx="2441542" cy="909962"/>
          </a:xfrm>
        </p:spPr>
        <p:txBody>
          <a:bodyPr>
            <a:normAutofit/>
          </a:bodyPr>
          <a:lstStyle>
            <a:lvl1pPr marL="0" indent="0" algn="ctr">
              <a:buNone/>
              <a:defRPr sz="1800">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p:txBody>
      </p:sp>
      <p:sp>
        <p:nvSpPr>
          <p:cNvPr id="16" name="Text Placeholder 11">
            <a:extLst>
              <a:ext uri="{FF2B5EF4-FFF2-40B4-BE49-F238E27FC236}">
                <a16:creationId xmlns:a16="http://schemas.microsoft.com/office/drawing/2014/main" id="{E86AE70C-55DD-9A70-858E-00E439E3DDE3}"/>
              </a:ext>
            </a:extLst>
          </p:cNvPr>
          <p:cNvSpPr>
            <a:spLocks noGrp="1"/>
          </p:cNvSpPr>
          <p:nvPr>
            <p:ph type="body" sz="quarter" idx="15"/>
          </p:nvPr>
        </p:nvSpPr>
        <p:spPr>
          <a:xfrm>
            <a:off x="8822694" y="2744750"/>
            <a:ext cx="2441542" cy="909962"/>
          </a:xfrm>
        </p:spPr>
        <p:txBody>
          <a:bodyPr>
            <a:normAutofit/>
          </a:bodyPr>
          <a:lstStyle>
            <a:lvl1pPr marL="0" indent="0" algn="ctr">
              <a:buNone/>
              <a:defRPr sz="1800">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p:txBody>
      </p:sp>
      <p:sp>
        <p:nvSpPr>
          <p:cNvPr id="18" name="Text Placeholder 11">
            <a:extLst>
              <a:ext uri="{FF2B5EF4-FFF2-40B4-BE49-F238E27FC236}">
                <a16:creationId xmlns:a16="http://schemas.microsoft.com/office/drawing/2014/main" id="{FC2B65BB-BDED-D1FF-C3C3-704CE7EA830C}"/>
              </a:ext>
            </a:extLst>
          </p:cNvPr>
          <p:cNvSpPr>
            <a:spLocks noGrp="1"/>
          </p:cNvSpPr>
          <p:nvPr>
            <p:ph type="body" sz="quarter" idx="16"/>
          </p:nvPr>
        </p:nvSpPr>
        <p:spPr>
          <a:xfrm>
            <a:off x="927764" y="5195246"/>
            <a:ext cx="2441542" cy="909962"/>
          </a:xfrm>
        </p:spPr>
        <p:txBody>
          <a:bodyPr>
            <a:normAutofit/>
          </a:bodyPr>
          <a:lstStyle>
            <a:lvl1pPr marL="0" indent="0" algn="ctr">
              <a:buNone/>
              <a:defRPr sz="1800">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p:txBody>
      </p:sp>
      <p:sp>
        <p:nvSpPr>
          <p:cNvPr id="20" name="Text Placeholder 11">
            <a:extLst>
              <a:ext uri="{FF2B5EF4-FFF2-40B4-BE49-F238E27FC236}">
                <a16:creationId xmlns:a16="http://schemas.microsoft.com/office/drawing/2014/main" id="{A083BCEA-BE0A-661D-98B7-B8C353BCC16F}"/>
              </a:ext>
            </a:extLst>
          </p:cNvPr>
          <p:cNvSpPr>
            <a:spLocks noGrp="1"/>
          </p:cNvSpPr>
          <p:nvPr>
            <p:ph type="body" sz="quarter" idx="17"/>
          </p:nvPr>
        </p:nvSpPr>
        <p:spPr>
          <a:xfrm>
            <a:off x="4875229" y="5195246"/>
            <a:ext cx="2441542" cy="909962"/>
          </a:xfrm>
        </p:spPr>
        <p:txBody>
          <a:bodyPr>
            <a:normAutofit/>
          </a:bodyPr>
          <a:lstStyle>
            <a:lvl1pPr marL="0" indent="0" algn="ctr">
              <a:buNone/>
              <a:defRPr sz="1800">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p:txBody>
      </p:sp>
      <p:sp>
        <p:nvSpPr>
          <p:cNvPr id="22" name="Text Placeholder 11">
            <a:extLst>
              <a:ext uri="{FF2B5EF4-FFF2-40B4-BE49-F238E27FC236}">
                <a16:creationId xmlns:a16="http://schemas.microsoft.com/office/drawing/2014/main" id="{1617EF5B-126C-F4C2-559B-0AE2F6F6C4AF}"/>
              </a:ext>
            </a:extLst>
          </p:cNvPr>
          <p:cNvSpPr>
            <a:spLocks noGrp="1"/>
          </p:cNvSpPr>
          <p:nvPr>
            <p:ph type="body" sz="quarter" idx="18"/>
          </p:nvPr>
        </p:nvSpPr>
        <p:spPr>
          <a:xfrm>
            <a:off x="8822694" y="5195246"/>
            <a:ext cx="2441542" cy="909962"/>
          </a:xfrm>
        </p:spPr>
        <p:txBody>
          <a:bodyPr>
            <a:normAutofit/>
          </a:bodyPr>
          <a:lstStyle>
            <a:lvl1pPr marL="0" indent="0" algn="ctr">
              <a:buNone/>
              <a:defRPr sz="1800">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p:txBody>
      </p:sp>
    </p:spTree>
    <p:extLst>
      <p:ext uri="{BB962C8B-B14F-4D97-AF65-F5344CB8AC3E}">
        <p14:creationId xmlns:p14="http://schemas.microsoft.com/office/powerpoint/2010/main" val="111917531"/>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7296">
          <p15:clr>
            <a:srgbClr val="FBAE40"/>
          </p15:clr>
        </p15:guide>
        <p15:guide id="3" pos="3840">
          <p15:clr>
            <a:srgbClr val="FBAE40"/>
          </p15:clr>
        </p15:guide>
        <p15:guide id="4" pos="384">
          <p15:clr>
            <a:srgbClr val="FBAE40"/>
          </p15:clr>
        </p15:guide>
        <p15:guide id="5" orient="horz" pos="52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pic>
        <p:nvPicPr>
          <p:cNvPr id="7" name="Picture 6" descr="A close up of a logo&#10;&#10;Description automatically generated">
            <a:extLst>
              <a:ext uri="{FF2B5EF4-FFF2-40B4-BE49-F238E27FC236}">
                <a16:creationId xmlns:a16="http://schemas.microsoft.com/office/drawing/2014/main" id="{F26F8D9A-36A6-4494-BFB0-D04A616C0AA7}"/>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297094" y="422579"/>
            <a:ext cx="912223" cy="664556"/>
          </a:xfrm>
          <a:prstGeom prst="rect">
            <a:avLst/>
          </a:prstGeom>
        </p:spPr>
      </p:pic>
      <p:sp>
        <p:nvSpPr>
          <p:cNvPr id="4" name="Rectangle 3">
            <a:extLst>
              <a:ext uri="{FF2B5EF4-FFF2-40B4-BE49-F238E27FC236}">
                <a16:creationId xmlns:a16="http://schemas.microsoft.com/office/drawing/2014/main" id="{ADC1E7F7-09CC-4814-AA3D-E81124E5C9BF}"/>
              </a:ext>
            </a:extLst>
          </p:cNvPr>
          <p:cNvSpPr/>
          <p:nvPr userDrawn="1"/>
        </p:nvSpPr>
        <p:spPr>
          <a:xfrm>
            <a:off x="1" y="2441448"/>
            <a:ext cx="12191998" cy="41269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pic>
        <p:nvPicPr>
          <p:cNvPr id="8" name="Graphic 7">
            <a:extLst>
              <a:ext uri="{FF2B5EF4-FFF2-40B4-BE49-F238E27FC236}">
                <a16:creationId xmlns:a16="http://schemas.microsoft.com/office/drawing/2014/main" id="{F9EE47DD-D61D-26CB-35E3-A982E2C60A0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4797" y="217397"/>
            <a:ext cx="916010" cy="664556"/>
          </a:xfrm>
          <a:prstGeom prst="rect">
            <a:avLst/>
          </a:prstGeom>
        </p:spPr>
      </p:pic>
      <p:sp>
        <p:nvSpPr>
          <p:cNvPr id="9" name="Rectangle 8">
            <a:extLst>
              <a:ext uri="{FF2B5EF4-FFF2-40B4-BE49-F238E27FC236}">
                <a16:creationId xmlns:a16="http://schemas.microsoft.com/office/drawing/2014/main" id="{1268F031-4A6B-B0DC-9FD2-BAA71BAC711F}"/>
              </a:ext>
            </a:extLst>
          </p:cNvPr>
          <p:cNvSpPr/>
          <p:nvPr userDrawn="1"/>
        </p:nvSpPr>
        <p:spPr>
          <a:xfrm>
            <a:off x="99391" y="0"/>
            <a:ext cx="197703" cy="96409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10" name="Title 1">
            <a:extLst>
              <a:ext uri="{FF2B5EF4-FFF2-40B4-BE49-F238E27FC236}">
                <a16:creationId xmlns:a16="http://schemas.microsoft.com/office/drawing/2014/main" id="{1BBBA81A-7309-9295-8033-D592AA62E338}"/>
              </a:ext>
            </a:extLst>
          </p:cNvPr>
          <p:cNvSpPr>
            <a:spLocks noGrp="1"/>
          </p:cNvSpPr>
          <p:nvPr>
            <p:ph type="title"/>
          </p:nvPr>
        </p:nvSpPr>
        <p:spPr>
          <a:xfrm>
            <a:off x="1320303" y="881953"/>
            <a:ext cx="10033497" cy="779461"/>
          </a:xfrm>
          <a:prstGeom prst="rect">
            <a:avLst/>
          </a:prstGeom>
        </p:spPr>
        <p:txBody>
          <a:bodyPr anchor="ctr">
            <a:normAutofit/>
          </a:bodyPr>
          <a:lstStyle>
            <a:lvl1pPr>
              <a:defRPr sz="3200" b="0">
                <a:solidFill>
                  <a:schemeClr val="tx2"/>
                </a:solidFill>
                <a:latin typeface="Montserrat SemiBold" panose="00000700000000000000" pitchFamily="2" charset="0"/>
                <a:cs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1320304" y="2441448"/>
            <a:ext cx="10033497" cy="4120960"/>
          </a:xfrm>
          <a:prstGeom prst="rect">
            <a:avLst/>
          </a:prstGeom>
        </p:spPr>
        <p:txBody>
          <a:bodyPr/>
          <a:lstStyle>
            <a:lvl1pPr>
              <a:defRPr>
                <a:solidFill>
                  <a:schemeClr val="bg1"/>
                </a:solidFill>
                <a:latin typeface="Montserrat SemiBold" panose="00000700000000000000" pitchFamily="2" charset="0"/>
                <a:cs typeface="Calibri" panose="020F0502020204030204" pitchFamily="34" charset="0"/>
              </a:defRPr>
            </a:lvl1pPr>
            <a:lvl2pPr>
              <a:defRPr>
                <a:solidFill>
                  <a:schemeClr val="bg1"/>
                </a:solidFill>
                <a:latin typeface="Montserrat SemiBold" panose="00000700000000000000" pitchFamily="2" charset="0"/>
                <a:cs typeface="Calibri" panose="020F0502020204030204" pitchFamily="34" charset="0"/>
              </a:defRPr>
            </a:lvl2pPr>
            <a:lvl3pPr>
              <a:defRPr>
                <a:solidFill>
                  <a:schemeClr val="bg1"/>
                </a:solidFill>
                <a:latin typeface="Montserrat SemiBold" panose="00000700000000000000" pitchFamily="2" charset="0"/>
                <a:cs typeface="Calibri" panose="020F0502020204030204" pitchFamily="34" charset="0"/>
              </a:defRPr>
            </a:lvl3pPr>
            <a:lvl4pPr>
              <a:defRPr>
                <a:solidFill>
                  <a:schemeClr val="bg1"/>
                </a:solidFill>
                <a:latin typeface="Montserrat SemiBold" panose="00000700000000000000" pitchFamily="2" charset="0"/>
                <a:cs typeface="Calibri" panose="020F0502020204030204" pitchFamily="34" charset="0"/>
              </a:defRPr>
            </a:lvl4pPr>
            <a:lvl5pPr>
              <a:defRPr>
                <a:solidFill>
                  <a:schemeClr val="bg1"/>
                </a:solidFill>
                <a:latin typeface="Montserrat SemiBold" panose="00000700000000000000" pitchFamily="2" charset="0"/>
                <a:cs typeface="Calibri" panose="020F050202020403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id="{10AF1C63-21B7-821B-0F08-39F21B641277}"/>
              </a:ext>
            </a:extLst>
          </p:cNvPr>
          <p:cNvSpPr>
            <a:spLocks noGrp="1"/>
          </p:cNvSpPr>
          <p:nvPr>
            <p:ph type="ftr" sz="quarter" idx="3"/>
          </p:nvPr>
        </p:nvSpPr>
        <p:spPr>
          <a:xfrm>
            <a:off x="285760" y="6562410"/>
            <a:ext cx="4114800" cy="259060"/>
          </a:xfrm>
          <a:prstGeom prst="rect">
            <a:avLst/>
          </a:prstGeom>
        </p:spPr>
        <p:txBody>
          <a:bodyPr/>
          <a:lstStyle>
            <a:lvl1pPr>
              <a:defRPr sz="1100"/>
            </a:lvl1pPr>
          </a:lstStyle>
          <a:p>
            <a:pPr algn="l" defTabSz="914126">
              <a:defRPr/>
            </a:pPr>
            <a:r>
              <a:rPr lang="en-US" dirty="0">
                <a:solidFill>
                  <a:srgbClr val="1D2B36">
                    <a:tint val="75000"/>
                  </a:srgbClr>
                </a:solidFill>
              </a:rPr>
              <a:t>© Community Reinvestment Fund, USA | Internal Purposes Only</a:t>
            </a:r>
          </a:p>
        </p:txBody>
      </p:sp>
      <p:sp>
        <p:nvSpPr>
          <p:cNvPr id="5" name="Slide Number Placeholder 9">
            <a:extLst>
              <a:ext uri="{FF2B5EF4-FFF2-40B4-BE49-F238E27FC236}">
                <a16:creationId xmlns:a16="http://schemas.microsoft.com/office/drawing/2014/main" id="{1A65DD2E-7E64-8B8F-BF7C-2A75A89C86D5}"/>
              </a:ext>
            </a:extLst>
          </p:cNvPr>
          <p:cNvSpPr txBox="1">
            <a:spLocks/>
          </p:cNvSpPr>
          <p:nvPr userDrawn="1"/>
        </p:nvSpPr>
        <p:spPr>
          <a:xfrm>
            <a:off x="9448800" y="6562408"/>
            <a:ext cx="2743200" cy="25906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126">
              <a:defRPr/>
            </a:pPr>
            <a:fld id="{AEACC2C1-74EF-4D17-8FCA-30885DD06988}" type="slidenum">
              <a:rPr lang="en-US" sz="1200" smtClean="0">
                <a:solidFill>
                  <a:srgbClr val="1D2B36">
                    <a:tint val="75000"/>
                  </a:srgbClr>
                </a:solidFill>
                <a:latin typeface="Montserrat SemiBold" panose="00000700000000000000" pitchFamily="2" charset="0"/>
              </a:rPr>
              <a:pPr algn="r" defTabSz="914126">
                <a:defRPr/>
              </a:pPr>
              <a:t>‹#›</a:t>
            </a:fld>
            <a:endParaRPr lang="en-US" sz="1200" dirty="0">
              <a:solidFill>
                <a:srgbClr val="1D2B36">
                  <a:tint val="75000"/>
                </a:srgbClr>
              </a:solidFill>
              <a:latin typeface="Montserrat SemiBold" panose="00000700000000000000" pitchFamily="2" charset="0"/>
            </a:endParaRPr>
          </a:p>
        </p:txBody>
      </p:sp>
    </p:spTree>
    <p:extLst>
      <p:ext uri="{BB962C8B-B14F-4D97-AF65-F5344CB8AC3E}">
        <p14:creationId xmlns:p14="http://schemas.microsoft.com/office/powerpoint/2010/main" val="1946115851"/>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Presentation Title Slid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C80947-22B8-AA6B-4A04-E98197DB0474}"/>
              </a:ext>
            </a:extLst>
          </p:cNvPr>
          <p:cNvSpPr>
            <a:spLocks noGrp="1"/>
          </p:cNvSpPr>
          <p:nvPr>
            <p:ph type="body" sz="quarter" idx="10" hasCustomPrompt="1"/>
          </p:nvPr>
        </p:nvSpPr>
        <p:spPr>
          <a:xfrm>
            <a:off x="6721475" y="4274759"/>
            <a:ext cx="4708525" cy="524588"/>
          </a:xfrm>
          <a:prstGeom prst="rect">
            <a:avLst/>
          </a:prstGeom>
        </p:spPr>
        <p:txBody>
          <a:bodyPr anchor="ctr" anchorCtr="0">
            <a:normAutofit/>
          </a:bodyPr>
          <a:lstStyle>
            <a:lvl1pPr marL="0" indent="0">
              <a:buNone/>
              <a:defRPr/>
            </a:lvl1pPr>
            <a:lvl2pPr marL="0" indent="0">
              <a:buNone/>
              <a:defRPr/>
            </a:lvl2pPr>
          </a:lstStyle>
          <a:p>
            <a:pPr>
              <a:lnSpc>
                <a:spcPct val="110000"/>
              </a:lnSpc>
            </a:pPr>
            <a:r>
              <a:rPr lang="en-US" sz="1600" dirty="0">
                <a:latin typeface="Roboto Light" panose="02000000000000000000" pitchFamily="2" charset="0"/>
                <a:ea typeface="Roboto Light" panose="02000000000000000000" pitchFamily="2" charset="0"/>
                <a:cs typeface="Roboto Light" panose="02000000000000000000" pitchFamily="2" charset="0"/>
              </a:rPr>
              <a:t>Click to Edit Subtitle Using Title Case As Well and Maintain Font Size </a:t>
            </a:r>
          </a:p>
        </p:txBody>
      </p:sp>
      <p:sp>
        <p:nvSpPr>
          <p:cNvPr id="4" name="Title 3">
            <a:extLst>
              <a:ext uri="{FF2B5EF4-FFF2-40B4-BE49-F238E27FC236}">
                <a16:creationId xmlns:a16="http://schemas.microsoft.com/office/drawing/2014/main" id="{60955AC5-2E4D-3A7E-D348-FCC02A0A044C}"/>
              </a:ext>
            </a:extLst>
          </p:cNvPr>
          <p:cNvSpPr>
            <a:spLocks noGrp="1"/>
          </p:cNvSpPr>
          <p:nvPr>
            <p:ph type="title" hasCustomPrompt="1"/>
          </p:nvPr>
        </p:nvSpPr>
        <p:spPr>
          <a:xfrm>
            <a:off x="6705600" y="1368870"/>
            <a:ext cx="4724401" cy="2781385"/>
          </a:xfrm>
        </p:spPr>
        <p:txBody>
          <a:bodyPr wrap="square" anchor="ctr" anchorCtr="0">
            <a:normAutofit/>
          </a:bodyPr>
          <a:lstStyle>
            <a:lvl1pPr marL="0" marR="0" indent="0" algn="l" defTabSz="914377" rtl="0" eaLnBrk="1" fontAlgn="auto" latinLnBrk="0" hangingPunct="1">
              <a:lnSpc>
                <a:spcPct val="90000"/>
              </a:lnSpc>
              <a:spcBef>
                <a:spcPct val="0"/>
              </a:spcBef>
              <a:spcAft>
                <a:spcPts val="0"/>
              </a:spcAft>
              <a:buClrTx/>
              <a:buSzTx/>
              <a:buFontTx/>
              <a:buNone/>
              <a:tabLst/>
              <a:defRPr/>
            </a:lvl1pPr>
          </a:lstStyle>
          <a:p>
            <a:r>
              <a:rPr lang="en-US" sz="4267" dirty="0">
                <a:latin typeface="Montserrat" pitchFamily="2" charset="77"/>
              </a:rPr>
              <a:t>Click to Edit Client Name: Project Name</a:t>
            </a:r>
          </a:p>
        </p:txBody>
      </p:sp>
      <p:sp>
        <p:nvSpPr>
          <p:cNvPr id="6" name="Text Placeholder 5">
            <a:extLst>
              <a:ext uri="{FF2B5EF4-FFF2-40B4-BE49-F238E27FC236}">
                <a16:creationId xmlns:a16="http://schemas.microsoft.com/office/drawing/2014/main" id="{EC548121-455E-F91C-29DE-A7FED640177C}"/>
              </a:ext>
            </a:extLst>
          </p:cNvPr>
          <p:cNvSpPr>
            <a:spLocks noGrp="1"/>
          </p:cNvSpPr>
          <p:nvPr>
            <p:ph type="body" sz="quarter" idx="12" hasCustomPrompt="1"/>
          </p:nvPr>
        </p:nvSpPr>
        <p:spPr>
          <a:xfrm>
            <a:off x="6720418" y="4988758"/>
            <a:ext cx="4709583" cy="156633"/>
          </a:xfrm>
          <a:prstGeom prst="rect">
            <a:avLst/>
          </a:prstGeom>
        </p:spPr>
        <p:txBody>
          <a:bodyPr>
            <a:noAutofit/>
          </a:bodyPr>
          <a:lstStyle>
            <a:lvl5pPr marL="0" indent="0">
              <a:buNone/>
              <a:defRPr sz="1067" b="0" i="0">
                <a:solidFill>
                  <a:schemeClr val="tx1"/>
                </a:solidFill>
                <a:latin typeface="Roboto Light" panose="02000000000000000000" pitchFamily="2" charset="0"/>
                <a:ea typeface="Roboto Light" panose="02000000000000000000" pitchFamily="2" charset="0"/>
                <a:cs typeface="Roboto Light" panose="02000000000000000000" pitchFamily="2" charset="0"/>
              </a:defRPr>
            </a:lvl5pPr>
          </a:lstStyle>
          <a:p>
            <a:pPr lvl="4"/>
            <a:r>
              <a:rPr lang="en-US" dirty="0"/>
              <a:t>Insert date using Month, Day, Year format</a:t>
            </a:r>
          </a:p>
        </p:txBody>
      </p:sp>
    </p:spTree>
    <p:extLst>
      <p:ext uri="{BB962C8B-B14F-4D97-AF65-F5344CB8AC3E}">
        <p14:creationId xmlns:p14="http://schemas.microsoft.com/office/powerpoint/2010/main" val="4261812099"/>
      </p:ext>
    </p:extLst>
  </p:cSld>
  <p:clrMapOvr>
    <a:masterClrMapping/>
  </p:clrMapOvr>
  <p:transition spd="slow">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Statement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BF1A34B-A3EC-9422-280A-B8CD7415505C}"/>
              </a:ext>
            </a:extLst>
          </p:cNvPr>
          <p:cNvSpPr>
            <a:spLocks noGrp="1"/>
          </p:cNvSpPr>
          <p:nvPr>
            <p:ph type="body" sz="quarter" idx="10" hasCustomPrompt="1"/>
          </p:nvPr>
        </p:nvSpPr>
        <p:spPr>
          <a:xfrm>
            <a:off x="3810000" y="1603044"/>
            <a:ext cx="4933952" cy="145371"/>
          </a:xfrm>
          <a:prstGeom prst="rect">
            <a:avLst/>
          </a:prstGeom>
        </p:spPr>
        <p:txBody>
          <a:bodyPr lIns="0" tIns="0" rIns="0" bIns="0">
            <a:noAutofit/>
          </a:bodyPr>
          <a:lstStyle>
            <a:lvl4pPr marL="0" indent="0">
              <a:buNone/>
              <a:defRPr b="1" i="0" cap="all" baseline="0">
                <a:latin typeface="Montserrat SemiBold" panose="00000700000000000000" pitchFamily="2" charset="0"/>
                <a:ea typeface="Roboto" panose="02000000000000000000" pitchFamily="2" charset="0"/>
                <a:cs typeface="Roboto" panose="02000000000000000000" pitchFamily="2" charset="0"/>
              </a:defRPr>
            </a:lvl4pPr>
            <a:lvl5pPr marL="1828709" indent="0">
              <a:buNone/>
              <a:defRPr/>
            </a:lvl5pPr>
          </a:lstStyle>
          <a:p>
            <a:pPr lvl="3"/>
            <a:r>
              <a:rPr lang="en-US" dirty="0"/>
              <a:t>[STATEMENT TITLE USING UPPERCASE]</a:t>
            </a:r>
          </a:p>
        </p:txBody>
      </p:sp>
      <p:sp>
        <p:nvSpPr>
          <p:cNvPr id="17" name="Text Placeholder 16">
            <a:extLst>
              <a:ext uri="{FF2B5EF4-FFF2-40B4-BE49-F238E27FC236}">
                <a16:creationId xmlns:a16="http://schemas.microsoft.com/office/drawing/2014/main" id="{5A2E761E-E336-4504-39E4-5DC462C7BE1D}"/>
              </a:ext>
            </a:extLst>
          </p:cNvPr>
          <p:cNvSpPr>
            <a:spLocks noGrp="1"/>
          </p:cNvSpPr>
          <p:nvPr>
            <p:ph type="body" sz="quarter" idx="11" hasCustomPrompt="1"/>
          </p:nvPr>
        </p:nvSpPr>
        <p:spPr>
          <a:xfrm>
            <a:off x="3810001" y="2067984"/>
            <a:ext cx="8039100" cy="3041603"/>
          </a:xfrm>
          <a:prstGeom prst="rect">
            <a:avLst/>
          </a:prstGeom>
        </p:spPr>
        <p:txBody>
          <a:bodyPr lIns="0" tIns="0" rIns="0" bIns="0">
            <a:noAutofit/>
          </a:bodyPr>
          <a:lstStyle>
            <a:lvl1pPr marL="0" indent="0">
              <a:lnSpc>
                <a:spcPct val="90000"/>
              </a:lnSpc>
              <a:buNone/>
              <a:defRPr sz="2400" b="0" i="0">
                <a:latin typeface="Montserrat" pitchFamily="2" charset="77"/>
              </a:defRPr>
            </a:lvl1pPr>
          </a:lstStyle>
          <a:p>
            <a:pPr lvl="0"/>
            <a:r>
              <a:rPr lang="en-US" dirty="0"/>
              <a:t>[Statement in Montserrat Regular. Highlight some words, using Montserrat </a:t>
            </a:r>
            <a:r>
              <a:rPr lang="en-US" dirty="0" err="1"/>
              <a:t>SemiBold</a:t>
            </a:r>
            <a:r>
              <a:rPr lang="en-US" dirty="0"/>
              <a:t>. Don’t overuse it]</a:t>
            </a:r>
          </a:p>
        </p:txBody>
      </p:sp>
    </p:spTree>
    <p:extLst>
      <p:ext uri="{BB962C8B-B14F-4D97-AF65-F5344CB8AC3E}">
        <p14:creationId xmlns:p14="http://schemas.microsoft.com/office/powerpoint/2010/main" val="3940952638"/>
      </p:ext>
    </p:extLst>
  </p:cSld>
  <p:clrMapOvr>
    <a:masterClrMapping/>
  </p:clrMapOvr>
  <p:transition spd="slow">
    <p:fade/>
  </p:transition>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ontent Two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00101" y="685800"/>
            <a:ext cx="10553700" cy="829565"/>
          </a:xfrm>
        </p:spPr>
        <p:txBody>
          <a:bodyPr lIns="0" tIns="0" rIns="0" bIns="0">
            <a:noAutofit/>
          </a:bodyPr>
          <a:lstStyle>
            <a:lvl1pPr>
              <a:defRPr sz="3200"/>
            </a:lvl1pPr>
          </a:lstStyle>
          <a:p>
            <a:r>
              <a:rPr lang="en-US" dirty="0"/>
              <a:t>[Title-Montserrat Regular 24pts. Capitalize Each Word]</a:t>
            </a:r>
          </a:p>
        </p:txBody>
      </p:sp>
      <p:sp>
        <p:nvSpPr>
          <p:cNvPr id="3" name="Content Placeholder 2"/>
          <p:cNvSpPr>
            <a:spLocks noGrp="1"/>
          </p:cNvSpPr>
          <p:nvPr>
            <p:ph idx="1" hasCustomPrompt="1"/>
          </p:nvPr>
        </p:nvSpPr>
        <p:spPr>
          <a:xfrm>
            <a:off x="800100" y="2703032"/>
            <a:ext cx="10591800" cy="3336261"/>
          </a:xfrm>
        </p:spPr>
        <p:txBody>
          <a:bodyPr lIns="0" tIns="0" rIns="0" bIns="0" numCol="2" spcCol="457200">
            <a:noAutofit/>
          </a:bodyPr>
          <a:lstStyle>
            <a:lvl1pPr marL="0" indent="0">
              <a:lnSpc>
                <a:spcPct val="100000"/>
              </a:lnSpc>
              <a:buNone/>
              <a:defRPr sz="1600" b="0" i="0">
                <a:latin typeface="Montserrat" pitchFamily="2" charset="77"/>
              </a:defRPr>
            </a:lvl1pPr>
            <a:lvl2pPr>
              <a:lnSpc>
                <a:spcPct val="125000"/>
              </a:lnSpc>
              <a:defRPr>
                <a:latin typeface="Montserrat SemiBold" panose="00000700000000000000" pitchFamily="2" charset="0"/>
              </a:defRPr>
            </a:lvl2pPr>
            <a:lvl3pPr>
              <a:lnSpc>
                <a:spcPct val="100000"/>
              </a:lnSpc>
              <a:defRPr/>
            </a:lvl3pPr>
            <a:lvl4pPr>
              <a:lnSpc>
                <a:spcPct val="100000"/>
              </a:lnSpc>
              <a:defRPr/>
            </a:lvl4pPr>
            <a:lvl5pPr>
              <a:lnSpc>
                <a:spcPct val="100000"/>
              </a:lnSpc>
              <a:defRPr sz="700"/>
            </a:lvl5pPr>
            <a:lvl6pPr marL="670543" indent="-228594">
              <a:lnSpc>
                <a:spcPct val="125000"/>
              </a:lnSpc>
              <a:buSzPct val="90000"/>
              <a:buFont typeface="Courier New" panose="02070309020205020404" pitchFamily="49" charset="0"/>
              <a:buChar char="o"/>
              <a:defRPr sz="1333" b="0" i="0">
                <a:latin typeface="Roboto Light" panose="02000000000000000000" pitchFamily="2" charset="0"/>
                <a:ea typeface="Roboto Light" panose="02000000000000000000" pitchFamily="2" charset="0"/>
                <a:cs typeface="Roboto Light" panose="02000000000000000000" pitchFamily="2" charset="0"/>
              </a:defRPr>
            </a:lvl6pPr>
          </a:lstStyle>
          <a:p>
            <a:pPr lvl="1"/>
            <a:r>
              <a:rPr lang="en-US" dirty="0"/>
              <a:t>[Body-Roboto Light in 10pts] Format using different weights. For emphasis use Roboto Medium. For quoting, use Roboto Italic. For links use Roboto Light in Teal from the theme color palette. </a:t>
            </a:r>
          </a:p>
          <a:p>
            <a:pPr lvl="5"/>
            <a:r>
              <a:rPr lang="en-US" dirty="0"/>
              <a:t>[Bullets for a list within body text, use rounded-filled bullets primarily. If you have a subsection, use rounded-outlined bullets. Bullets can be Black or Yellow.</a:t>
            </a:r>
          </a:p>
        </p:txBody>
      </p:sp>
      <p:sp>
        <p:nvSpPr>
          <p:cNvPr id="9" name="Text Placeholder 8">
            <a:extLst>
              <a:ext uri="{FF2B5EF4-FFF2-40B4-BE49-F238E27FC236}">
                <a16:creationId xmlns:a16="http://schemas.microsoft.com/office/drawing/2014/main" id="{FBAF088D-F5F9-CEAF-C49A-C7D3A1723143}"/>
              </a:ext>
            </a:extLst>
          </p:cNvPr>
          <p:cNvSpPr>
            <a:spLocks noGrp="1"/>
          </p:cNvSpPr>
          <p:nvPr>
            <p:ph type="body" sz="quarter" idx="13" hasCustomPrompt="1"/>
          </p:nvPr>
        </p:nvSpPr>
        <p:spPr>
          <a:xfrm>
            <a:off x="800100" y="1625669"/>
            <a:ext cx="10591800" cy="273264"/>
          </a:xfrm>
        </p:spPr>
        <p:txBody>
          <a:bodyPr>
            <a:noAutofit/>
          </a:bodyPr>
          <a:lstStyle>
            <a:lvl1pPr marL="0" indent="0">
              <a:lnSpc>
                <a:spcPct val="100000"/>
              </a:lnSpc>
              <a:buNone/>
              <a:defRPr sz="1333"/>
            </a:lvl1pPr>
          </a:lstStyle>
          <a:p>
            <a:pPr lvl="0"/>
            <a:r>
              <a:rPr lang="en-US" dirty="0"/>
              <a:t>[</a:t>
            </a:r>
            <a:r>
              <a:rPr lang="en-US" dirty="0" err="1"/>
              <a:t>Subheader</a:t>
            </a:r>
            <a:r>
              <a:rPr lang="en-US" dirty="0"/>
              <a:t>-Montserrat Light 10pts]</a:t>
            </a:r>
          </a:p>
        </p:txBody>
      </p:sp>
      <p:sp>
        <p:nvSpPr>
          <p:cNvPr id="8" name="Content Placeholder 2">
            <a:extLst>
              <a:ext uri="{FF2B5EF4-FFF2-40B4-BE49-F238E27FC236}">
                <a16:creationId xmlns:a16="http://schemas.microsoft.com/office/drawing/2014/main" id="{5AD1DF31-5D7E-5B79-F7B1-3D8ACECA454C}"/>
              </a:ext>
            </a:extLst>
          </p:cNvPr>
          <p:cNvSpPr>
            <a:spLocks noGrp="1"/>
          </p:cNvSpPr>
          <p:nvPr>
            <p:ph idx="14" hasCustomPrompt="1"/>
          </p:nvPr>
        </p:nvSpPr>
        <p:spPr>
          <a:xfrm>
            <a:off x="800100" y="2087741"/>
            <a:ext cx="10591800" cy="504987"/>
          </a:xfrm>
        </p:spPr>
        <p:txBody>
          <a:bodyPr lIns="0" tIns="0" rIns="0" bIns="0">
            <a:noAutofit/>
          </a:bodyPr>
          <a:lstStyle>
            <a:lvl1pPr marL="0" indent="0">
              <a:lnSpc>
                <a:spcPct val="100000"/>
              </a:lnSpc>
              <a:buFont typeface="Arial" panose="020B0604020202020204" pitchFamily="34" charset="0"/>
              <a:buNone/>
              <a:defRPr sz="1600" b="0" i="0">
                <a:latin typeface="Montserrat" pitchFamily="2" charset="77"/>
              </a:defRPr>
            </a:lvl1pPr>
            <a:lvl2pPr>
              <a:lnSpc>
                <a:spcPct val="125000"/>
              </a:lnSpc>
              <a:defRPr/>
            </a:lvl2pPr>
            <a:lvl3pPr>
              <a:lnSpc>
                <a:spcPct val="100000"/>
              </a:lnSpc>
              <a:defRPr/>
            </a:lvl3pPr>
            <a:lvl4pPr>
              <a:lnSpc>
                <a:spcPct val="100000"/>
              </a:lnSpc>
              <a:defRPr/>
            </a:lvl4pPr>
            <a:lvl5pPr>
              <a:lnSpc>
                <a:spcPct val="100000"/>
              </a:lnSpc>
              <a:defRPr sz="700"/>
            </a:lvl5pPr>
          </a:lstStyle>
          <a:p>
            <a:pPr lvl="0"/>
            <a:r>
              <a:rPr lang="en-US" dirty="0"/>
              <a:t>[Subtitle-Montserrat Regular 12pts. Don’t use Bold, Italic, or Underline. To emphasize use Montserrat </a:t>
            </a:r>
            <a:r>
              <a:rPr lang="en-US" dirty="0" err="1"/>
              <a:t>SemiBold</a:t>
            </a:r>
            <a:r>
              <a:rPr lang="en-US" dirty="0"/>
              <a:t> in 12pts]</a:t>
            </a:r>
          </a:p>
        </p:txBody>
      </p:sp>
      <p:sp>
        <p:nvSpPr>
          <p:cNvPr id="5" name="Rectangle 4">
            <a:extLst>
              <a:ext uri="{FF2B5EF4-FFF2-40B4-BE49-F238E27FC236}">
                <a16:creationId xmlns:a16="http://schemas.microsoft.com/office/drawing/2014/main" id="{1A797123-7886-F0AA-B356-FD3F71E0529B}"/>
              </a:ext>
            </a:extLst>
          </p:cNvPr>
          <p:cNvSpPr/>
          <p:nvPr userDrawn="1"/>
        </p:nvSpPr>
        <p:spPr>
          <a:xfrm>
            <a:off x="0" y="6580096"/>
            <a:ext cx="421341" cy="277905"/>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fld id="{D4B238CA-8298-9847-A038-EDDC61FBD32B}" type="slidenum">
              <a:rPr lang="en-US" sz="800" smtClean="0">
                <a:latin typeface="Montserrat SemiBold" panose="00000700000000000000" pitchFamily="2" charset="0"/>
                <a:ea typeface="Roboto" panose="02000000000000000000" pitchFamily="2" charset="0"/>
                <a:cs typeface="Roboto" panose="02000000000000000000" pitchFamily="2" charset="0"/>
              </a:rPr>
              <a:pPr/>
              <a:t>‹#›</a:t>
            </a:fld>
            <a:endParaRPr lang="en-US" sz="800" dirty="0">
              <a:latin typeface="Montserrat SemiBold" panose="00000700000000000000" pitchFamily="2" charset="0"/>
              <a:ea typeface="Roboto" panose="02000000000000000000" pitchFamily="2" charset="0"/>
              <a:cs typeface="Roboto" panose="02000000000000000000" pitchFamily="2" charset="0"/>
            </a:endParaRPr>
          </a:p>
        </p:txBody>
      </p:sp>
      <p:pic>
        <p:nvPicPr>
          <p:cNvPr id="6" name="Graphic 5">
            <a:extLst>
              <a:ext uri="{FF2B5EF4-FFF2-40B4-BE49-F238E27FC236}">
                <a16:creationId xmlns:a16="http://schemas.microsoft.com/office/drawing/2014/main" id="{C545D826-BBAC-FFB7-0253-0D8E170B25E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53392" y="6087919"/>
            <a:ext cx="664437" cy="482043"/>
          </a:xfrm>
          <a:prstGeom prst="rect">
            <a:avLst/>
          </a:prstGeom>
        </p:spPr>
      </p:pic>
      <p:sp>
        <p:nvSpPr>
          <p:cNvPr id="7" name="Slide Number Placeholder 5">
            <a:extLst>
              <a:ext uri="{FF2B5EF4-FFF2-40B4-BE49-F238E27FC236}">
                <a16:creationId xmlns:a16="http://schemas.microsoft.com/office/drawing/2014/main" id="{8518E4C9-40A5-48C1-DB19-7BD38EC8215B}"/>
              </a:ext>
            </a:extLst>
          </p:cNvPr>
          <p:cNvSpPr txBox="1">
            <a:spLocks/>
          </p:cNvSpPr>
          <p:nvPr userDrawn="1"/>
        </p:nvSpPr>
        <p:spPr>
          <a:xfrm>
            <a:off x="800100" y="6590109"/>
            <a:ext cx="3514312" cy="267891"/>
          </a:xfrm>
          <a:prstGeom prst="rect">
            <a:avLst/>
          </a:prstGeom>
        </p:spPr>
        <p:txBody>
          <a:bodyPr vert="horz" lIns="0" tIns="0" rIns="0" bIns="0" rtlCol="0" anchor="ctr"/>
          <a:lstStyle>
            <a:defPPr>
              <a:defRPr lang="en-US"/>
            </a:defPPr>
            <a:lvl1pPr marL="0" algn="l" defTabSz="342900" rtl="0" eaLnBrk="1" latinLnBrk="0" hangingPunct="1">
              <a:defRPr sz="500" b="0" i="0" kern="1200">
                <a:solidFill>
                  <a:schemeClr val="accent3">
                    <a:lumMod val="60000"/>
                    <a:lumOff val="40000"/>
                  </a:schemeClr>
                </a:solidFill>
                <a:latin typeface="Roboto" panose="02000000000000000000" pitchFamily="2" charset="0"/>
                <a:ea typeface="Roboto" panose="02000000000000000000" pitchFamily="2" charset="0"/>
                <a:cs typeface="Roboto" panose="02000000000000000000" pitchFamily="2" charset="0"/>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667" dirty="0">
                <a:latin typeface="Montserrat SemiBold" panose="00000700000000000000" pitchFamily="2" charset="0"/>
                <a:sym typeface="Gill Sans" charset="0"/>
              </a:rPr>
              <a:t>Community Reinvestment Fund, USA © Copyright 2023 – CONFIDENTIAL</a:t>
            </a:r>
          </a:p>
        </p:txBody>
      </p:sp>
    </p:spTree>
    <p:extLst>
      <p:ext uri="{BB962C8B-B14F-4D97-AF65-F5344CB8AC3E}">
        <p14:creationId xmlns:p14="http://schemas.microsoft.com/office/powerpoint/2010/main" val="1533098464"/>
      </p:ext>
    </p:extLst>
  </p:cSld>
  <p:clrMapOvr>
    <a:masterClrMapping/>
  </p:clrMapOvr>
  <p:transition spd="slow">
    <p:fade/>
  </p:transition>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ontent With Strip">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B149024-D1E3-1CC1-7566-DE3EAE13CC44}"/>
              </a:ext>
            </a:extLst>
          </p:cNvPr>
          <p:cNvSpPr/>
          <p:nvPr/>
        </p:nvSpPr>
        <p:spPr>
          <a:xfrm>
            <a:off x="-1316" y="0"/>
            <a:ext cx="194441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latin typeface="Montserrat Light" pitchFamily="2" charset="77"/>
            </a:endParaRPr>
          </a:p>
        </p:txBody>
      </p:sp>
      <p:sp>
        <p:nvSpPr>
          <p:cNvPr id="2" name="Title 1"/>
          <p:cNvSpPr>
            <a:spLocks noGrp="1"/>
          </p:cNvSpPr>
          <p:nvPr>
            <p:ph type="title" hasCustomPrompt="1"/>
          </p:nvPr>
        </p:nvSpPr>
        <p:spPr>
          <a:xfrm>
            <a:off x="2438400" y="685801"/>
            <a:ext cx="8915400" cy="816933"/>
          </a:xfrm>
        </p:spPr>
        <p:txBody>
          <a:bodyPr lIns="0" tIns="0" rIns="0" bIns="0"/>
          <a:lstStyle>
            <a:lvl1pPr>
              <a:defRPr sz="3200"/>
            </a:lvl1pPr>
          </a:lstStyle>
          <a:p>
            <a:r>
              <a:rPr lang="en-US" dirty="0"/>
              <a:t>[Title-Montserrat Regular 24pts. Capitalize Each Word]</a:t>
            </a:r>
          </a:p>
        </p:txBody>
      </p:sp>
      <p:sp>
        <p:nvSpPr>
          <p:cNvPr id="12" name="Slide Number Placeholder 5">
            <a:extLst>
              <a:ext uri="{FF2B5EF4-FFF2-40B4-BE49-F238E27FC236}">
                <a16:creationId xmlns:a16="http://schemas.microsoft.com/office/drawing/2014/main" id="{69DD7094-7E2B-2CBB-EB6D-736D5FCD3C58}"/>
              </a:ext>
            </a:extLst>
          </p:cNvPr>
          <p:cNvSpPr>
            <a:spLocks noGrp="1"/>
          </p:cNvSpPr>
          <p:nvPr>
            <p:ph type="sldNum" sz="quarter" idx="4"/>
          </p:nvPr>
        </p:nvSpPr>
        <p:spPr>
          <a:xfrm>
            <a:off x="8551694" y="6345750"/>
            <a:ext cx="3297407" cy="365125"/>
          </a:xfrm>
          <a:prstGeom prst="rect">
            <a:avLst/>
          </a:prstGeom>
        </p:spPr>
        <p:txBody>
          <a:bodyPr vert="horz" lIns="0" tIns="0" rIns="0" bIns="0" rtlCol="0" anchor="ctr"/>
          <a:lstStyle>
            <a:lvl1pPr algn="r">
              <a:defRPr sz="667" b="0" i="0">
                <a:solidFill>
                  <a:schemeClr val="accent3">
                    <a:lumMod val="40000"/>
                    <a:lumOff val="60000"/>
                  </a:schemeClr>
                </a:solidFill>
                <a:latin typeface="Roboto Medium" panose="02000000000000000000" pitchFamily="2" charset="0"/>
                <a:ea typeface="Roboto Medium" panose="02000000000000000000" pitchFamily="2" charset="0"/>
                <a:cs typeface="Roboto Medium" panose="02000000000000000000" pitchFamily="2" charset="0"/>
              </a:defRPr>
            </a:lvl1pPr>
          </a:lstStyle>
          <a:p>
            <a:pPr defTabSz="914104">
              <a:defRPr/>
            </a:pPr>
            <a:fld id="{AEACC2C1-74EF-4D17-8FCA-30885DD06988}" type="slidenum">
              <a:rPr lang="en-US" sz="1200" smtClean="0">
                <a:solidFill>
                  <a:srgbClr val="1D2B36">
                    <a:tint val="75000"/>
                  </a:srgbClr>
                </a:solidFill>
              </a:rPr>
              <a:pPr defTabSz="914104">
                <a:defRPr/>
              </a:pPr>
              <a:t>‹#›</a:t>
            </a:fld>
            <a:endParaRPr lang="en-US" sz="1200" dirty="0">
              <a:solidFill>
                <a:srgbClr val="1D2B36">
                  <a:tint val="75000"/>
                </a:srgbClr>
              </a:solidFill>
            </a:endParaRPr>
          </a:p>
        </p:txBody>
      </p:sp>
      <p:sp>
        <p:nvSpPr>
          <p:cNvPr id="10" name="Content Placeholder 2">
            <a:extLst>
              <a:ext uri="{FF2B5EF4-FFF2-40B4-BE49-F238E27FC236}">
                <a16:creationId xmlns:a16="http://schemas.microsoft.com/office/drawing/2014/main" id="{B3AA6C73-10F7-374E-C3AB-D3018E5EC114}"/>
              </a:ext>
            </a:extLst>
          </p:cNvPr>
          <p:cNvSpPr>
            <a:spLocks noGrp="1"/>
          </p:cNvSpPr>
          <p:nvPr>
            <p:ph idx="1" hasCustomPrompt="1"/>
          </p:nvPr>
        </p:nvSpPr>
        <p:spPr>
          <a:xfrm>
            <a:off x="2438399" y="2087741"/>
            <a:ext cx="8953500" cy="504987"/>
          </a:xfrm>
        </p:spPr>
        <p:txBody>
          <a:bodyPr lIns="0" tIns="0" rIns="0" bIns="0">
            <a:noAutofit/>
          </a:bodyPr>
          <a:lstStyle>
            <a:lvl1pPr marL="0" indent="0">
              <a:lnSpc>
                <a:spcPct val="100000"/>
              </a:lnSpc>
              <a:buFont typeface="Arial" panose="020B0604020202020204" pitchFamily="34" charset="0"/>
              <a:buNone/>
              <a:defRPr sz="1600" b="0" i="0">
                <a:latin typeface="Montserrat" pitchFamily="2" charset="77"/>
              </a:defRPr>
            </a:lvl1pPr>
            <a:lvl2pPr>
              <a:lnSpc>
                <a:spcPct val="125000"/>
              </a:lnSpc>
              <a:defRPr/>
            </a:lvl2pPr>
            <a:lvl3pPr>
              <a:lnSpc>
                <a:spcPct val="100000"/>
              </a:lnSpc>
              <a:defRPr/>
            </a:lvl3pPr>
            <a:lvl4pPr>
              <a:lnSpc>
                <a:spcPct val="100000"/>
              </a:lnSpc>
              <a:defRPr/>
            </a:lvl4pPr>
            <a:lvl5pPr>
              <a:lnSpc>
                <a:spcPct val="100000"/>
              </a:lnSpc>
              <a:defRPr sz="700"/>
            </a:lvl5pPr>
          </a:lstStyle>
          <a:p>
            <a:pPr lvl="0"/>
            <a:r>
              <a:rPr lang="en-US" dirty="0"/>
              <a:t>[Subtitle-Montserrat Regular 12pts. Don’t use Bold, Italic, or Underline. To emphasize use Montserrat </a:t>
            </a:r>
            <a:r>
              <a:rPr lang="en-US" dirty="0" err="1"/>
              <a:t>SemiBold</a:t>
            </a:r>
            <a:r>
              <a:rPr lang="en-US" dirty="0"/>
              <a:t> in 12pts]</a:t>
            </a:r>
          </a:p>
        </p:txBody>
      </p:sp>
      <p:sp>
        <p:nvSpPr>
          <p:cNvPr id="11" name="Text Placeholder 8">
            <a:extLst>
              <a:ext uri="{FF2B5EF4-FFF2-40B4-BE49-F238E27FC236}">
                <a16:creationId xmlns:a16="http://schemas.microsoft.com/office/drawing/2014/main" id="{D37CE9C6-5372-9233-BFB2-087AE6DBA2E7}"/>
              </a:ext>
            </a:extLst>
          </p:cNvPr>
          <p:cNvSpPr>
            <a:spLocks noGrp="1"/>
          </p:cNvSpPr>
          <p:nvPr>
            <p:ph type="body" sz="quarter" idx="13" hasCustomPrompt="1"/>
          </p:nvPr>
        </p:nvSpPr>
        <p:spPr>
          <a:xfrm>
            <a:off x="2438399" y="1633608"/>
            <a:ext cx="8953500" cy="188528"/>
          </a:xfrm>
        </p:spPr>
        <p:txBody>
          <a:bodyPr>
            <a:noAutofit/>
          </a:bodyPr>
          <a:lstStyle>
            <a:lvl1pPr marL="0" indent="0">
              <a:lnSpc>
                <a:spcPct val="100000"/>
              </a:lnSpc>
              <a:buFont typeface="Arial" panose="020B0604020202020204" pitchFamily="34" charset="0"/>
              <a:buNone/>
              <a:defRPr sz="1333"/>
            </a:lvl1pPr>
          </a:lstStyle>
          <a:p>
            <a:pPr lvl="0"/>
            <a:r>
              <a:rPr lang="en-US" dirty="0"/>
              <a:t>[</a:t>
            </a:r>
            <a:r>
              <a:rPr lang="en-US" dirty="0" err="1"/>
              <a:t>Subheader</a:t>
            </a:r>
            <a:r>
              <a:rPr lang="en-US" dirty="0"/>
              <a:t>-Montserrat Light 10pts]</a:t>
            </a:r>
          </a:p>
        </p:txBody>
      </p:sp>
      <p:sp>
        <p:nvSpPr>
          <p:cNvPr id="13" name="Text Placeholder 4">
            <a:extLst>
              <a:ext uri="{FF2B5EF4-FFF2-40B4-BE49-F238E27FC236}">
                <a16:creationId xmlns:a16="http://schemas.microsoft.com/office/drawing/2014/main" id="{953561AE-6941-5501-72A7-724C49CB6F1D}"/>
              </a:ext>
            </a:extLst>
          </p:cNvPr>
          <p:cNvSpPr>
            <a:spLocks noGrp="1"/>
          </p:cNvSpPr>
          <p:nvPr>
            <p:ph type="body" sz="quarter" idx="14" hasCustomPrompt="1"/>
          </p:nvPr>
        </p:nvSpPr>
        <p:spPr>
          <a:xfrm>
            <a:off x="2438399" y="2737049"/>
            <a:ext cx="8953500" cy="3333551"/>
          </a:xfrm>
        </p:spPr>
        <p:txBody>
          <a:bodyPr/>
          <a:lstStyle>
            <a:lvl2pPr marL="228594" indent="-228594">
              <a:lnSpc>
                <a:spcPct val="125000"/>
              </a:lnSpc>
              <a:buFont typeface="Arial" panose="020B0604020202020204" pitchFamily="34" charset="0"/>
              <a:buChar char="•"/>
              <a:defRPr>
                <a:latin typeface="Montserrat SemiBold" panose="00000700000000000000" pitchFamily="2" charset="0"/>
              </a:defRPr>
            </a:lvl2pPr>
            <a:lvl6pPr marL="670543" indent="-228594">
              <a:lnSpc>
                <a:spcPct val="125000"/>
              </a:lnSpc>
              <a:buSzPct val="90000"/>
              <a:buFont typeface="Courier New" panose="02070309020205020404" pitchFamily="49" charset="0"/>
              <a:buChar char="o"/>
              <a:defRPr sz="1333" b="0" i="0">
                <a:latin typeface="Roboto Light" panose="02000000000000000000" pitchFamily="2" charset="0"/>
                <a:ea typeface="Roboto Light" panose="02000000000000000000" pitchFamily="2" charset="0"/>
                <a:cs typeface="Roboto Light" panose="02000000000000000000" pitchFamily="2" charset="0"/>
              </a:defRPr>
            </a:lvl6pPr>
          </a:lstStyle>
          <a:p>
            <a:pPr lvl="1"/>
            <a:r>
              <a:rPr lang="en-US" dirty="0"/>
              <a:t>[Body-Roboto Light in 10pts] Format using different weights. For emphasis use Roboto Medium. For quoting, use Roboto Italic. For links use Roboto Light in Teal from the theme color palette. </a:t>
            </a:r>
          </a:p>
          <a:p>
            <a:pPr lvl="5"/>
            <a:r>
              <a:rPr lang="en-US" dirty="0"/>
              <a:t>[Bullets for a list within body text, use rounded-filled bullets primarily. If you have a subsection, use rounded-outlined bullets. Bullets can be Black or Yellow.</a:t>
            </a:r>
          </a:p>
        </p:txBody>
      </p:sp>
      <p:pic>
        <p:nvPicPr>
          <p:cNvPr id="16" name="Picture 15">
            <a:extLst>
              <a:ext uri="{FF2B5EF4-FFF2-40B4-BE49-F238E27FC236}">
                <a16:creationId xmlns:a16="http://schemas.microsoft.com/office/drawing/2014/main" id="{4F72702A-99E5-633F-D526-1BE2A82CA5B6}"/>
              </a:ext>
            </a:extLst>
          </p:cNvPr>
          <p:cNvPicPr>
            <a:picLocks noChangeAspect="1"/>
          </p:cNvPicPr>
          <p:nvPr/>
        </p:nvPicPr>
        <p:blipFill rotWithShape="1">
          <a:blip r:embed="rId2" cstate="screen">
            <a:alphaModFix amt="35000"/>
            <a:extLst>
              <a:ext uri="{28A0092B-C50C-407E-A947-70E740481C1C}">
                <a14:useLocalDpi xmlns:a14="http://schemas.microsoft.com/office/drawing/2010/main"/>
              </a:ext>
            </a:extLst>
          </a:blip>
          <a:srcRect/>
          <a:stretch/>
        </p:blipFill>
        <p:spPr>
          <a:xfrm rot="5400000" flipH="1" flipV="1">
            <a:off x="-1924207" y="1922891"/>
            <a:ext cx="5476928" cy="1631147"/>
          </a:xfrm>
          <a:prstGeom prst="rect">
            <a:avLst/>
          </a:prstGeom>
        </p:spPr>
      </p:pic>
    </p:spTree>
    <p:extLst>
      <p:ext uri="{BB962C8B-B14F-4D97-AF65-F5344CB8AC3E}">
        <p14:creationId xmlns:p14="http://schemas.microsoft.com/office/powerpoint/2010/main" val="4141063539"/>
      </p:ext>
    </p:extLst>
  </p:cSld>
  <p:clrMapOvr>
    <a:masterClrMapping/>
  </p:clrMapOvr>
  <p:transition spd="slow">
    <p:fade/>
  </p:transition>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ase Study With Logo">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F422ECC-2F3F-BC58-5C32-05D36380979F}"/>
              </a:ext>
            </a:extLst>
          </p:cNvPr>
          <p:cNvSpPr>
            <a:spLocks noGrp="1"/>
          </p:cNvSpPr>
          <p:nvPr>
            <p:ph type="pic" sz="quarter" idx="20" hasCustomPrompt="1"/>
          </p:nvPr>
        </p:nvSpPr>
        <p:spPr>
          <a:xfrm>
            <a:off x="609601" y="2194985"/>
            <a:ext cx="4033961" cy="2300153"/>
          </a:xfrm>
        </p:spPr>
        <p:txBody>
          <a:bodyPr/>
          <a:lstStyle/>
          <a:p>
            <a:r>
              <a:rPr lang="en-US" dirty="0"/>
              <a:t>Place Client Logo Here. Look for the best quality and size file in either, JPEG or PNG format, in full-color version.</a:t>
            </a:r>
          </a:p>
        </p:txBody>
      </p:sp>
      <p:sp>
        <p:nvSpPr>
          <p:cNvPr id="7" name="Title 1">
            <a:extLst>
              <a:ext uri="{FF2B5EF4-FFF2-40B4-BE49-F238E27FC236}">
                <a16:creationId xmlns:a16="http://schemas.microsoft.com/office/drawing/2014/main" id="{847255A8-18ED-12BF-3D36-9FA3A137DE27}"/>
              </a:ext>
            </a:extLst>
          </p:cNvPr>
          <p:cNvSpPr>
            <a:spLocks noGrp="1"/>
          </p:cNvSpPr>
          <p:nvPr>
            <p:ph type="title" hasCustomPrompt="1"/>
          </p:nvPr>
        </p:nvSpPr>
        <p:spPr>
          <a:xfrm>
            <a:off x="825501" y="843281"/>
            <a:ext cx="10553700" cy="821967"/>
          </a:xfrm>
        </p:spPr>
        <p:txBody>
          <a:bodyPr lIns="0" tIns="0" rIns="0" bIns="0"/>
          <a:lstStyle>
            <a:lvl1pPr>
              <a:defRPr sz="3200"/>
            </a:lvl1pPr>
          </a:lstStyle>
          <a:p>
            <a:r>
              <a:rPr lang="en-US" dirty="0"/>
              <a:t>[Title-Montserrat Regular 24pts. Capitalize Each Word]</a:t>
            </a:r>
          </a:p>
        </p:txBody>
      </p:sp>
      <p:sp>
        <p:nvSpPr>
          <p:cNvPr id="10" name="Text Placeholder 4">
            <a:extLst>
              <a:ext uri="{FF2B5EF4-FFF2-40B4-BE49-F238E27FC236}">
                <a16:creationId xmlns:a16="http://schemas.microsoft.com/office/drawing/2014/main" id="{2662B4B1-09BA-1A37-785B-21185735847F}"/>
              </a:ext>
            </a:extLst>
          </p:cNvPr>
          <p:cNvSpPr>
            <a:spLocks noGrp="1"/>
          </p:cNvSpPr>
          <p:nvPr>
            <p:ph type="body" sz="quarter" idx="14" hasCustomPrompt="1"/>
          </p:nvPr>
        </p:nvSpPr>
        <p:spPr>
          <a:xfrm>
            <a:off x="5029200" y="1899920"/>
            <a:ext cx="6350000" cy="4272280"/>
          </a:xfrm>
        </p:spPr>
        <p:txBody>
          <a:bodyPr/>
          <a:lstStyle>
            <a:lvl2pPr marL="228594" indent="-228594">
              <a:lnSpc>
                <a:spcPct val="125000"/>
              </a:lnSpc>
              <a:buFont typeface="Arial" panose="020B0604020202020204" pitchFamily="34" charset="0"/>
              <a:buChar char="•"/>
              <a:defRPr>
                <a:latin typeface="Montserrat SemiBold" panose="00000700000000000000" pitchFamily="2" charset="0"/>
              </a:defRPr>
            </a:lvl2pPr>
            <a:lvl6pPr marL="670543" indent="-228594">
              <a:lnSpc>
                <a:spcPct val="125000"/>
              </a:lnSpc>
              <a:buSzPct val="90000"/>
              <a:buFont typeface="Courier New" panose="02070309020205020404" pitchFamily="49" charset="0"/>
              <a:buChar char="o"/>
              <a:defRPr sz="1333" b="0" i="0">
                <a:latin typeface="Roboto Light" panose="02000000000000000000" pitchFamily="2" charset="0"/>
                <a:ea typeface="Roboto Light" panose="02000000000000000000" pitchFamily="2" charset="0"/>
                <a:cs typeface="Roboto Light" panose="02000000000000000000" pitchFamily="2" charset="0"/>
              </a:defRPr>
            </a:lvl6pPr>
          </a:lstStyle>
          <a:p>
            <a:pPr lvl="1"/>
            <a:r>
              <a:rPr lang="en-US" dirty="0"/>
              <a:t>[Body-Roboto Light in 10pts] Format using different weights. For emphasis use Roboto Medium. For quoting, use Roboto Italic. For links use Roboto Light in Teal from the theme color palette. </a:t>
            </a:r>
          </a:p>
          <a:p>
            <a:pPr lvl="5"/>
            <a:r>
              <a:rPr lang="en-US" dirty="0"/>
              <a:t>[Bullets for a list within body text, use rounded-filled bullets primarily. If you have a subsection, use rounded-outlined bullets. Bullets can be Black or Yellow.</a:t>
            </a:r>
          </a:p>
        </p:txBody>
      </p:sp>
      <p:sp>
        <p:nvSpPr>
          <p:cNvPr id="3" name="Rectangle 2">
            <a:extLst>
              <a:ext uri="{FF2B5EF4-FFF2-40B4-BE49-F238E27FC236}">
                <a16:creationId xmlns:a16="http://schemas.microsoft.com/office/drawing/2014/main" id="{71D9F200-C992-CC48-7B1C-820BEA976922}"/>
              </a:ext>
            </a:extLst>
          </p:cNvPr>
          <p:cNvSpPr/>
          <p:nvPr userDrawn="1"/>
        </p:nvSpPr>
        <p:spPr>
          <a:xfrm>
            <a:off x="0" y="6580096"/>
            <a:ext cx="421341" cy="277905"/>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fld id="{D4B238CA-8298-9847-A038-EDDC61FBD32B}" type="slidenum">
              <a:rPr lang="en-US" sz="800" smtClean="0">
                <a:latin typeface="Montserrat SemiBold" panose="00000700000000000000" pitchFamily="2" charset="0"/>
                <a:ea typeface="Roboto" panose="02000000000000000000" pitchFamily="2" charset="0"/>
                <a:cs typeface="Roboto" panose="02000000000000000000" pitchFamily="2" charset="0"/>
              </a:rPr>
              <a:pPr/>
              <a:t>‹#›</a:t>
            </a:fld>
            <a:endParaRPr lang="en-US" sz="800" dirty="0">
              <a:latin typeface="Montserrat SemiBold" panose="00000700000000000000" pitchFamily="2" charset="0"/>
              <a:ea typeface="Roboto" panose="02000000000000000000" pitchFamily="2" charset="0"/>
              <a:cs typeface="Roboto" panose="02000000000000000000" pitchFamily="2" charset="0"/>
            </a:endParaRPr>
          </a:p>
        </p:txBody>
      </p:sp>
      <p:pic>
        <p:nvPicPr>
          <p:cNvPr id="5" name="Graphic 4">
            <a:extLst>
              <a:ext uri="{FF2B5EF4-FFF2-40B4-BE49-F238E27FC236}">
                <a16:creationId xmlns:a16="http://schemas.microsoft.com/office/drawing/2014/main" id="{0207A047-4E75-8B60-7A24-84E1DE17CDC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53392" y="6087919"/>
            <a:ext cx="664437" cy="482043"/>
          </a:xfrm>
          <a:prstGeom prst="rect">
            <a:avLst/>
          </a:prstGeom>
        </p:spPr>
      </p:pic>
      <p:sp>
        <p:nvSpPr>
          <p:cNvPr id="6" name="Slide Number Placeholder 5">
            <a:extLst>
              <a:ext uri="{FF2B5EF4-FFF2-40B4-BE49-F238E27FC236}">
                <a16:creationId xmlns:a16="http://schemas.microsoft.com/office/drawing/2014/main" id="{484630C6-9982-055D-B687-2D852520CBAF}"/>
              </a:ext>
            </a:extLst>
          </p:cNvPr>
          <p:cNvSpPr txBox="1">
            <a:spLocks/>
          </p:cNvSpPr>
          <p:nvPr userDrawn="1"/>
        </p:nvSpPr>
        <p:spPr>
          <a:xfrm>
            <a:off x="800100" y="6590109"/>
            <a:ext cx="3514312" cy="267891"/>
          </a:xfrm>
          <a:prstGeom prst="rect">
            <a:avLst/>
          </a:prstGeom>
        </p:spPr>
        <p:txBody>
          <a:bodyPr vert="horz" lIns="0" tIns="0" rIns="0" bIns="0" rtlCol="0" anchor="ctr"/>
          <a:lstStyle>
            <a:defPPr>
              <a:defRPr lang="en-US"/>
            </a:defPPr>
            <a:lvl1pPr marL="0" algn="l" defTabSz="342900" rtl="0" eaLnBrk="1" latinLnBrk="0" hangingPunct="1">
              <a:defRPr sz="500" b="0" i="0" kern="1200">
                <a:solidFill>
                  <a:schemeClr val="accent3">
                    <a:lumMod val="60000"/>
                    <a:lumOff val="40000"/>
                  </a:schemeClr>
                </a:solidFill>
                <a:latin typeface="Roboto" panose="02000000000000000000" pitchFamily="2" charset="0"/>
                <a:ea typeface="Roboto" panose="02000000000000000000" pitchFamily="2" charset="0"/>
                <a:cs typeface="Roboto" panose="02000000000000000000" pitchFamily="2" charset="0"/>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667" dirty="0">
                <a:latin typeface="Montserrat SemiBold" panose="00000700000000000000" pitchFamily="2" charset="0"/>
                <a:sym typeface="Gill Sans" charset="0"/>
              </a:rPr>
              <a:t>Community Reinvestment Fund, USA © Copyright 2023 – CONFIDENTIAL</a:t>
            </a:r>
          </a:p>
        </p:txBody>
      </p:sp>
    </p:spTree>
    <p:extLst>
      <p:ext uri="{BB962C8B-B14F-4D97-AF65-F5344CB8AC3E}">
        <p14:creationId xmlns:p14="http://schemas.microsoft.com/office/powerpoint/2010/main" val="2596251902"/>
      </p:ext>
    </p:extLst>
  </p:cSld>
  <p:clrMapOvr>
    <a:masterClrMapping/>
  </p:clrMapOvr>
  <p:transition spd="slow">
    <p:fade/>
  </p:transition>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BAD8982-46DE-90DC-D7BE-E5FEF6E9498F}"/>
              </a:ext>
            </a:extLst>
          </p:cNvPr>
          <p:cNvSpPr>
            <a:spLocks noGrp="1"/>
          </p:cNvSpPr>
          <p:nvPr>
            <p:ph type="title" hasCustomPrompt="1"/>
          </p:nvPr>
        </p:nvSpPr>
        <p:spPr>
          <a:xfrm>
            <a:off x="819150" y="685801"/>
            <a:ext cx="10553700" cy="821967"/>
          </a:xfrm>
        </p:spPr>
        <p:txBody>
          <a:bodyPr lIns="0" tIns="0" rIns="0" bIns="0"/>
          <a:lstStyle>
            <a:lvl1pPr>
              <a:defRPr sz="3200"/>
            </a:lvl1pPr>
          </a:lstStyle>
          <a:p>
            <a:r>
              <a:rPr lang="en-US" dirty="0"/>
              <a:t>[Title-Montserrat Regular 24pts. Capitalize Each Word]</a:t>
            </a:r>
          </a:p>
        </p:txBody>
      </p:sp>
      <p:sp>
        <p:nvSpPr>
          <p:cNvPr id="3" name="Content Placeholder 2">
            <a:extLst>
              <a:ext uri="{FF2B5EF4-FFF2-40B4-BE49-F238E27FC236}">
                <a16:creationId xmlns:a16="http://schemas.microsoft.com/office/drawing/2014/main" id="{5A754FAE-E9C3-4BE0-6DD8-DC53876CA10A}"/>
              </a:ext>
            </a:extLst>
          </p:cNvPr>
          <p:cNvSpPr>
            <a:spLocks noGrp="1"/>
          </p:cNvSpPr>
          <p:nvPr>
            <p:ph sz="quarter" idx="10" hasCustomPrompt="1"/>
          </p:nvPr>
        </p:nvSpPr>
        <p:spPr>
          <a:xfrm>
            <a:off x="800101" y="1718734"/>
            <a:ext cx="10572751" cy="2738967"/>
          </a:xfrm>
        </p:spPr>
        <p:txBody>
          <a:bodyPr/>
          <a:lstStyle>
            <a:lvl2pPr>
              <a:defRPr>
                <a:latin typeface="Montserrat SemiBold" panose="00000700000000000000" pitchFamily="2" charset="0"/>
              </a:defRPr>
            </a:lvl2pPr>
            <a:lvl4pPr>
              <a:defRPr/>
            </a:lvl4pPr>
            <a:lvl6pPr>
              <a:defRPr sz="1333" b="0" i="0">
                <a:latin typeface="Roboto Light" panose="02000000000000000000" pitchFamily="2" charset="0"/>
                <a:ea typeface="Roboto Light" panose="02000000000000000000" pitchFamily="2" charset="0"/>
                <a:cs typeface="Roboto Light" panose="02000000000000000000" pitchFamily="2" charset="0"/>
              </a:defRPr>
            </a:lvl6pPr>
          </a:lstStyle>
          <a:p>
            <a:pPr lvl="0"/>
            <a:r>
              <a:rPr lang="en-US" dirty="0"/>
              <a:t>[Subtitle-Montserrat Regular 14pts]</a:t>
            </a:r>
          </a:p>
          <a:p>
            <a:pPr lvl="1"/>
            <a:r>
              <a:rPr lang="en-US" dirty="0"/>
              <a:t>[Body text–Roboto Light 10pts]</a:t>
            </a:r>
          </a:p>
          <a:p>
            <a:pPr lvl="2"/>
            <a:r>
              <a:rPr lang="en-US" dirty="0"/>
              <a:t>[Intro text-Montserrat Light 12pts]</a:t>
            </a:r>
          </a:p>
          <a:p>
            <a:pPr lvl="3"/>
            <a:r>
              <a:rPr lang="en-US" dirty="0"/>
              <a:t>[Sub header-Montserrat Light 10pts]</a:t>
            </a:r>
          </a:p>
          <a:p>
            <a:pPr lvl="4"/>
            <a:r>
              <a:rPr lang="en-US" dirty="0"/>
              <a:t>[Body text-Roboto Light 10pts]</a:t>
            </a:r>
          </a:p>
          <a:p>
            <a:pPr lvl="5"/>
            <a:endParaRPr lang="en-US" dirty="0"/>
          </a:p>
        </p:txBody>
      </p:sp>
      <p:sp>
        <p:nvSpPr>
          <p:cNvPr id="4" name="Rectangle 3">
            <a:extLst>
              <a:ext uri="{FF2B5EF4-FFF2-40B4-BE49-F238E27FC236}">
                <a16:creationId xmlns:a16="http://schemas.microsoft.com/office/drawing/2014/main" id="{1DC7F375-65DF-B2FC-B67E-3ED1D4F028EC}"/>
              </a:ext>
            </a:extLst>
          </p:cNvPr>
          <p:cNvSpPr/>
          <p:nvPr userDrawn="1"/>
        </p:nvSpPr>
        <p:spPr>
          <a:xfrm>
            <a:off x="0" y="6580096"/>
            <a:ext cx="421341" cy="277905"/>
          </a:xfrm>
          <a:prstGeom prst="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fld id="{D4B238CA-8298-9847-A038-EDDC61FBD32B}" type="slidenum">
              <a:rPr lang="en-US" sz="800" smtClean="0">
                <a:latin typeface="Montserrat SemiBold" panose="00000700000000000000" pitchFamily="2" charset="0"/>
                <a:ea typeface="Roboto" panose="02000000000000000000" pitchFamily="2" charset="0"/>
                <a:cs typeface="Roboto" panose="02000000000000000000" pitchFamily="2" charset="0"/>
              </a:rPr>
              <a:pPr/>
              <a:t>‹#›</a:t>
            </a:fld>
            <a:endParaRPr lang="en-US" sz="800" dirty="0">
              <a:latin typeface="Montserrat SemiBold" panose="00000700000000000000" pitchFamily="2" charset="0"/>
              <a:ea typeface="Roboto" panose="02000000000000000000" pitchFamily="2" charset="0"/>
              <a:cs typeface="Roboto" panose="02000000000000000000" pitchFamily="2" charset="0"/>
            </a:endParaRPr>
          </a:p>
        </p:txBody>
      </p:sp>
      <p:pic>
        <p:nvPicPr>
          <p:cNvPr id="5" name="Graphic 4">
            <a:extLst>
              <a:ext uri="{FF2B5EF4-FFF2-40B4-BE49-F238E27FC236}">
                <a16:creationId xmlns:a16="http://schemas.microsoft.com/office/drawing/2014/main" id="{9DE82C77-FA4E-3EAE-1A5E-2FD327CCE135}"/>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53392" y="6087919"/>
            <a:ext cx="664437" cy="482043"/>
          </a:xfrm>
          <a:prstGeom prst="rect">
            <a:avLst/>
          </a:prstGeom>
        </p:spPr>
      </p:pic>
      <p:sp>
        <p:nvSpPr>
          <p:cNvPr id="7" name="Slide Number Placeholder 5">
            <a:extLst>
              <a:ext uri="{FF2B5EF4-FFF2-40B4-BE49-F238E27FC236}">
                <a16:creationId xmlns:a16="http://schemas.microsoft.com/office/drawing/2014/main" id="{B1D1F806-6B3B-9B83-3E79-3DFE6E204ED7}"/>
              </a:ext>
            </a:extLst>
          </p:cNvPr>
          <p:cNvSpPr txBox="1">
            <a:spLocks/>
          </p:cNvSpPr>
          <p:nvPr userDrawn="1"/>
        </p:nvSpPr>
        <p:spPr>
          <a:xfrm>
            <a:off x="800100" y="6590109"/>
            <a:ext cx="3514312" cy="267891"/>
          </a:xfrm>
          <a:prstGeom prst="rect">
            <a:avLst/>
          </a:prstGeom>
        </p:spPr>
        <p:txBody>
          <a:bodyPr vert="horz" lIns="0" tIns="0" rIns="0" bIns="0" rtlCol="0" anchor="ctr"/>
          <a:lstStyle>
            <a:defPPr>
              <a:defRPr lang="en-US"/>
            </a:defPPr>
            <a:lvl1pPr marL="0" algn="l" defTabSz="342900" rtl="0" eaLnBrk="1" latinLnBrk="0" hangingPunct="1">
              <a:defRPr sz="500" b="0" i="0" kern="1200">
                <a:solidFill>
                  <a:schemeClr val="accent3">
                    <a:lumMod val="60000"/>
                    <a:lumOff val="40000"/>
                  </a:schemeClr>
                </a:solidFill>
                <a:latin typeface="Roboto" panose="02000000000000000000" pitchFamily="2" charset="0"/>
                <a:ea typeface="Roboto" panose="02000000000000000000" pitchFamily="2" charset="0"/>
                <a:cs typeface="Roboto" panose="02000000000000000000" pitchFamily="2" charset="0"/>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r>
              <a:rPr lang="en-US" sz="667" dirty="0">
                <a:latin typeface="Montserrat SemiBold" panose="00000700000000000000" pitchFamily="2" charset="0"/>
                <a:sym typeface="Gill Sans" charset="0"/>
              </a:rPr>
              <a:t>Community Reinvestment Fund, USA © Copyright 2023 – CONFIDENTIAL</a:t>
            </a:r>
          </a:p>
        </p:txBody>
      </p:sp>
    </p:spTree>
    <p:extLst>
      <p:ext uri="{BB962C8B-B14F-4D97-AF65-F5344CB8AC3E}">
        <p14:creationId xmlns:p14="http://schemas.microsoft.com/office/powerpoint/2010/main" val="511012744"/>
      </p:ext>
    </p:extLst>
  </p:cSld>
  <p:clrMapOvr>
    <a:masterClrMapping/>
  </p:clrMapOvr>
  <p:transition spd="slow">
    <p:fade/>
  </p:transition>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1320305" y="881954"/>
            <a:ext cx="10033497" cy="779461"/>
          </a:xfrm>
          <a:prstGeom prst="rect">
            <a:avLst/>
          </a:prstGeom>
        </p:spPr>
        <p:txBody>
          <a:bodyPr anchor="ctr">
            <a:normAutofit/>
          </a:bodyPr>
          <a:lstStyle>
            <a:lvl1pPr>
              <a:defRPr sz="3200" b="0">
                <a:solidFill>
                  <a:schemeClr val="tx2"/>
                </a:solidFill>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1320305" y="1825624"/>
            <a:ext cx="10033497" cy="4351339"/>
          </a:xfrm>
          <a:prstGeom prst="rect">
            <a:avLst/>
          </a:prstGeom>
        </p:spPr>
        <p:txBody>
          <a:bodyPr/>
          <a:lstStyle>
            <a:lvl1pPr>
              <a:defRPr>
                <a:solidFill>
                  <a:schemeClr val="tx2"/>
                </a:solidFill>
              </a:defRPr>
            </a:lvl1pPr>
            <a:lvl2pPr>
              <a:defRPr>
                <a:solidFill>
                  <a:schemeClr val="tx2"/>
                </a:solidFill>
                <a:latin typeface="Montserrat SemiBold" panose="00000700000000000000" pitchFamily="2" charset="0"/>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a:xfrm>
            <a:off x="11441213" y="3"/>
            <a:ext cx="496387" cy="365125"/>
          </a:xfrm>
          <a:solidFill>
            <a:schemeClr val="accent2">
              <a:lumMod val="40000"/>
              <a:lumOff val="60000"/>
            </a:schemeClr>
          </a:solidFill>
        </p:spPr>
        <p:txBody>
          <a:bodyPr/>
          <a:lstStyle>
            <a:lvl1pPr>
              <a:defRPr>
                <a:latin typeface="Montserrat SemiBold" panose="00000700000000000000" pitchFamily="2" charset="0"/>
              </a:defRPr>
            </a:lvl1pPr>
          </a:lstStyle>
          <a:p>
            <a:pPr algn="r" defTabSz="914104">
              <a:defRPr/>
            </a:pPr>
            <a:fld id="{AEACC2C1-74EF-4D17-8FCA-30885DD06988}" type="slidenum">
              <a:rPr lang="en-US" sz="1200" smtClean="0">
                <a:solidFill>
                  <a:srgbClr val="1D2B36">
                    <a:tint val="75000"/>
                  </a:srgbClr>
                </a:solidFill>
              </a:rPr>
              <a:pPr algn="r" defTabSz="914104">
                <a:defRPr/>
              </a:pPr>
              <a:t>‹#›</a:t>
            </a:fld>
            <a:endParaRPr lang="en-US" sz="1200" dirty="0">
              <a:solidFill>
                <a:srgbClr val="1D2B36">
                  <a:tint val="75000"/>
                </a:srgbClr>
              </a:solidFill>
            </a:endParaRPr>
          </a:p>
        </p:txBody>
      </p:sp>
      <p:pic>
        <p:nvPicPr>
          <p:cNvPr id="7" name="Picture 6" descr="A close up of a logo&#10;&#10;Description automatically generated">
            <a:extLst>
              <a:ext uri="{FF2B5EF4-FFF2-40B4-BE49-F238E27FC236}">
                <a16:creationId xmlns:a16="http://schemas.microsoft.com/office/drawing/2014/main" id="{F26F8D9A-36A6-4494-BFB0-D04A616C0AA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2872"/>
          <a:stretch/>
        </p:blipFill>
        <p:spPr>
          <a:xfrm>
            <a:off x="297095" y="422579"/>
            <a:ext cx="912223" cy="664556"/>
          </a:xfrm>
          <a:prstGeom prst="rect">
            <a:avLst/>
          </a:prstGeom>
        </p:spPr>
      </p:pic>
      <p:pic>
        <p:nvPicPr>
          <p:cNvPr id="5" name="Graphic 4">
            <a:extLst>
              <a:ext uri="{FF2B5EF4-FFF2-40B4-BE49-F238E27FC236}">
                <a16:creationId xmlns:a16="http://schemas.microsoft.com/office/drawing/2014/main" id="{0DB3DEA0-B43F-40D3-9FA5-650397634AC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401" y="110698"/>
            <a:ext cx="768936" cy="557855"/>
          </a:xfrm>
          <a:prstGeom prst="rect">
            <a:avLst/>
          </a:prstGeom>
        </p:spPr>
      </p:pic>
      <p:pic>
        <p:nvPicPr>
          <p:cNvPr id="2050" name="Picture 2" descr="National Development Council Award | Carsey School of Public Policy | UNH">
            <a:extLst>
              <a:ext uri="{FF2B5EF4-FFF2-40B4-BE49-F238E27FC236}">
                <a16:creationId xmlns:a16="http://schemas.microsoft.com/office/drawing/2014/main" id="{DE6B03C7-D399-92B3-43AF-37EFF4A3CD5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538847" y="244492"/>
            <a:ext cx="722828" cy="424059"/>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a:extLst>
              <a:ext uri="{FF2B5EF4-FFF2-40B4-BE49-F238E27FC236}">
                <a16:creationId xmlns:a16="http://schemas.microsoft.com/office/drawing/2014/main" id="{2D838B16-FF02-F412-9903-D825E1AA2A5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8341" y="182566"/>
            <a:ext cx="863827" cy="424060"/>
          </a:xfrm>
          <a:prstGeom prst="rect">
            <a:avLst/>
          </a:prstGeom>
        </p:spPr>
      </p:pic>
    </p:spTree>
    <p:extLst>
      <p:ext uri="{BB962C8B-B14F-4D97-AF65-F5344CB8AC3E}">
        <p14:creationId xmlns:p14="http://schemas.microsoft.com/office/powerpoint/2010/main" val="2760972079"/>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Intro - Blue">
    <p:spTree>
      <p:nvGrpSpPr>
        <p:cNvPr id="1" name=""/>
        <p:cNvGrpSpPr/>
        <p:nvPr/>
      </p:nvGrpSpPr>
      <p:grpSpPr>
        <a:xfrm>
          <a:off x="0" y="0"/>
          <a:ext cx="0" cy="0"/>
          <a:chOff x="0" y="0"/>
          <a:chExt cx="0" cy="0"/>
        </a:xfrm>
      </p:grpSpPr>
      <p:sp>
        <p:nvSpPr>
          <p:cNvPr id="6" name="Rectangle 5"/>
          <p:cNvSpPr/>
          <p:nvPr userDrawn="1"/>
        </p:nvSpPr>
        <p:spPr>
          <a:xfrm>
            <a:off x="2" y="-8021"/>
            <a:ext cx="12192000" cy="5333470"/>
          </a:xfrm>
          <a:prstGeom prst="rect">
            <a:avLst/>
          </a:prstGeom>
          <a:solidFill>
            <a:srgbClr val="1D2B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91416" rIns="91416" bIns="91416" numCol="1" spcCol="0" rtlCol="0" fromWordArt="0" anchor="b" anchorCtr="0" forceAA="0" compatLnSpc="1">
            <a:prstTxWarp prst="textNoShape">
              <a:avLst/>
            </a:prstTxWarp>
            <a:no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3" name="Subtitle 2"/>
          <p:cNvSpPr>
            <a:spLocks noGrp="1"/>
          </p:cNvSpPr>
          <p:nvPr>
            <p:ph type="subTitle" idx="1"/>
          </p:nvPr>
        </p:nvSpPr>
        <p:spPr>
          <a:xfrm>
            <a:off x="366237" y="3116652"/>
            <a:ext cx="6939552" cy="1090993"/>
          </a:xfrm>
          <a:prstGeom prst="rect">
            <a:avLst/>
          </a:prstGeom>
          <a:noFill/>
        </p:spPr>
        <p:txBody>
          <a:bodyPr lIns="114268" tIns="152357" rIns="76171" bIns="76171">
            <a:noAutofit/>
          </a:bodyPr>
          <a:lstStyle>
            <a:lvl1pPr marL="0" indent="0" algn="l">
              <a:lnSpc>
                <a:spcPct val="80000"/>
              </a:lnSpc>
              <a:buNone/>
              <a:defRPr sz="2799" i="1">
                <a:solidFill>
                  <a:schemeClr val="accent1"/>
                </a:solidFill>
                <a:latin typeface="Arial Narrow" panose="020B0606020202030204" pitchFamily="34" charset="0"/>
                <a:ea typeface="Arial Narrow" panose="020B0606020202030204" pitchFamily="34" charset="0"/>
                <a:cs typeface="Segoe UI" pitchFamily="34" charset="0"/>
              </a:defRPr>
            </a:lvl1pPr>
            <a:lvl2pPr marL="543890" indent="0" algn="ctr">
              <a:buNone/>
              <a:defRPr>
                <a:solidFill>
                  <a:schemeClr val="tx1">
                    <a:tint val="75000"/>
                  </a:schemeClr>
                </a:solidFill>
              </a:defRPr>
            </a:lvl2pPr>
            <a:lvl3pPr marL="1087779" indent="0" algn="ctr">
              <a:buNone/>
              <a:defRPr>
                <a:solidFill>
                  <a:schemeClr val="tx1">
                    <a:tint val="75000"/>
                  </a:schemeClr>
                </a:solidFill>
              </a:defRPr>
            </a:lvl3pPr>
            <a:lvl4pPr marL="1631669" indent="0" algn="ctr">
              <a:buNone/>
              <a:defRPr>
                <a:solidFill>
                  <a:schemeClr val="tx1">
                    <a:tint val="75000"/>
                  </a:schemeClr>
                </a:solidFill>
              </a:defRPr>
            </a:lvl4pPr>
            <a:lvl5pPr marL="2175558" indent="0" algn="ctr">
              <a:buNone/>
              <a:defRPr>
                <a:solidFill>
                  <a:schemeClr val="tx1">
                    <a:tint val="75000"/>
                  </a:schemeClr>
                </a:solidFill>
              </a:defRPr>
            </a:lvl5pPr>
            <a:lvl6pPr marL="2719448" indent="0" algn="ctr">
              <a:buNone/>
              <a:defRPr>
                <a:solidFill>
                  <a:schemeClr val="tx1">
                    <a:tint val="75000"/>
                  </a:schemeClr>
                </a:solidFill>
              </a:defRPr>
            </a:lvl6pPr>
            <a:lvl7pPr marL="3263337" indent="0" algn="ctr">
              <a:buNone/>
              <a:defRPr>
                <a:solidFill>
                  <a:schemeClr val="tx1">
                    <a:tint val="75000"/>
                  </a:schemeClr>
                </a:solidFill>
              </a:defRPr>
            </a:lvl7pPr>
            <a:lvl8pPr marL="3807226" indent="0" algn="ctr">
              <a:buNone/>
              <a:defRPr>
                <a:solidFill>
                  <a:schemeClr val="tx1">
                    <a:tint val="75000"/>
                  </a:schemeClr>
                </a:solidFill>
              </a:defRPr>
            </a:lvl8pPr>
            <a:lvl9pPr marL="4351116"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ctrTitle"/>
          </p:nvPr>
        </p:nvSpPr>
        <p:spPr>
          <a:xfrm>
            <a:off x="366236" y="2125585"/>
            <a:ext cx="11475923" cy="980661"/>
          </a:xfrm>
          <a:prstGeom prst="rect">
            <a:avLst/>
          </a:prstGeom>
          <a:noFill/>
        </p:spPr>
        <p:txBody>
          <a:bodyPr lIns="114268" tIns="152357" rIns="76171" bIns="76171" anchor="t">
            <a:noAutofit/>
          </a:bodyPr>
          <a:lstStyle>
            <a:lvl1pPr algn="l">
              <a:lnSpc>
                <a:spcPct val="80000"/>
              </a:lnSpc>
              <a:defRPr sz="4399" b="1" baseline="0">
                <a:solidFill>
                  <a:srgbClr val="FFFFFF"/>
                </a:solidFill>
                <a:latin typeface="Franklin Gothic Book" panose="020B0503020102020204" pitchFamily="34" charset="0"/>
                <a:ea typeface="Franklin Gothic Book" panose="020B0503020102020204" pitchFamily="34" charset="0"/>
                <a:cs typeface="Segoe UI Light" panose="020B0502040204020203" pitchFamily="34" charset="0"/>
              </a:defRPr>
            </a:lvl1pPr>
          </a:lstStyle>
          <a:p>
            <a:r>
              <a:rPr lang="en-US"/>
              <a:t>Click to edit Master title style</a:t>
            </a:r>
          </a:p>
        </p:txBody>
      </p:sp>
      <p:sp>
        <p:nvSpPr>
          <p:cNvPr id="5" name="TextBox 4"/>
          <p:cNvSpPr txBox="1"/>
          <p:nvPr userDrawn="1"/>
        </p:nvSpPr>
        <p:spPr>
          <a:xfrm>
            <a:off x="355082" y="6411956"/>
            <a:ext cx="3814710" cy="334537"/>
          </a:xfrm>
          <a:prstGeom prst="rect">
            <a:avLst/>
          </a:prstGeom>
          <a:ln>
            <a:noFill/>
          </a:ln>
        </p:spPr>
        <p:txBody>
          <a:bodyPr vert="horz" wrap="square" lIns="91416" tIns="91416" rIns="91416" bIns="91416" rtlCol="0" anchor="t">
            <a:noAutofit/>
          </a:bodyPr>
          <a:lstStyle/>
          <a:p>
            <a:pPr marL="0" marR="0" lvl="0" indent="0" algn="l" defTabSz="914126" rtl="0" eaLnBrk="1" fontAlgn="auto" latinLnBrk="0" hangingPunct="1">
              <a:lnSpc>
                <a:spcPct val="100000"/>
              </a:lnSpc>
              <a:spcBef>
                <a:spcPts val="0"/>
              </a:spcBef>
              <a:spcAft>
                <a:spcPts val="0"/>
              </a:spcAft>
              <a:buClrTx/>
              <a:buSzTx/>
              <a:buFont typeface="Wingdings" pitchFamily="2" charset="2"/>
              <a:buNone/>
              <a:tabLst/>
              <a:defRPr/>
            </a:pPr>
            <a:r>
              <a:rPr kumimoji="0" lang="en-US" sz="1000" b="0" i="0" u="none" strike="noStrike" kern="1200" cap="none" spc="0" normalizeH="0" baseline="0" noProof="0" dirty="0">
                <a:ln>
                  <a:noFill/>
                </a:ln>
                <a:solidFill>
                  <a:srgbClr val="1D2B36">
                    <a:lumMod val="75000"/>
                    <a:lumOff val="25000"/>
                  </a:srgbClr>
                </a:solidFill>
                <a:effectLst/>
                <a:uLnTx/>
                <a:uFillTx/>
                <a:latin typeface="Arial Narrow" panose="020B0606020202030204" pitchFamily="34" charset="0"/>
                <a:ea typeface="Segoe UI" pitchFamily="34" charset="0"/>
                <a:cs typeface="Segoe UI" pitchFamily="34" charset="0"/>
              </a:rPr>
              <a:t>Community Reinvestment Fund, USA (CRF) is an equal opportunity provider</a:t>
            </a:r>
          </a:p>
        </p:txBody>
      </p:sp>
      <p:sp>
        <p:nvSpPr>
          <p:cNvPr id="4" name="Rectangle 3">
            <a:extLst>
              <a:ext uri="{FF2B5EF4-FFF2-40B4-BE49-F238E27FC236}">
                <a16:creationId xmlns:a16="http://schemas.microsoft.com/office/drawing/2014/main" id="{091F9749-499C-44A9-8E5E-7A23808C3921}"/>
              </a:ext>
            </a:extLst>
          </p:cNvPr>
          <p:cNvSpPr/>
          <p:nvPr userDrawn="1"/>
        </p:nvSpPr>
        <p:spPr>
          <a:xfrm>
            <a:off x="-1" y="5441674"/>
            <a:ext cx="12192001" cy="1416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pic>
        <p:nvPicPr>
          <p:cNvPr id="7" name="Picture 17">
            <a:extLst>
              <a:ext uri="{FF2B5EF4-FFF2-40B4-BE49-F238E27FC236}">
                <a16:creationId xmlns:a16="http://schemas.microsoft.com/office/drawing/2014/main" id="{CF140438-8E62-49B5-A130-FE7D32A52C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6141" y="5584509"/>
            <a:ext cx="1371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a:extLst>
              <a:ext uri="{FF2B5EF4-FFF2-40B4-BE49-F238E27FC236}">
                <a16:creationId xmlns:a16="http://schemas.microsoft.com/office/drawing/2014/main" id="{CD7BFFAD-A4DA-41CB-9545-675F95895395}"/>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9" name="Footer Placeholder 8">
            <a:extLst>
              <a:ext uri="{FF2B5EF4-FFF2-40B4-BE49-F238E27FC236}">
                <a16:creationId xmlns:a16="http://schemas.microsoft.com/office/drawing/2014/main" id="{D7D20F90-724E-4680-9141-32F668FC404F}"/>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10" name="Slide Number Placeholder 9">
            <a:extLst>
              <a:ext uri="{FF2B5EF4-FFF2-40B4-BE49-F238E27FC236}">
                <a16:creationId xmlns:a16="http://schemas.microsoft.com/office/drawing/2014/main" id="{55565E78-E99F-41D8-BA90-D66FBB0BB172}"/>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4023833755"/>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Intro - Blue">
    <p:spTree>
      <p:nvGrpSpPr>
        <p:cNvPr id="1" name=""/>
        <p:cNvGrpSpPr/>
        <p:nvPr/>
      </p:nvGrpSpPr>
      <p:grpSpPr>
        <a:xfrm>
          <a:off x="0" y="0"/>
          <a:ext cx="0" cy="0"/>
          <a:chOff x="0" y="0"/>
          <a:chExt cx="0" cy="0"/>
        </a:xfrm>
      </p:grpSpPr>
      <p:sp>
        <p:nvSpPr>
          <p:cNvPr id="2" name="Title 1"/>
          <p:cNvSpPr>
            <a:spLocks noGrp="1"/>
          </p:cNvSpPr>
          <p:nvPr>
            <p:ph type="ctrTitle"/>
          </p:nvPr>
        </p:nvSpPr>
        <p:spPr>
          <a:xfrm>
            <a:off x="366236" y="2125585"/>
            <a:ext cx="11475923" cy="980661"/>
          </a:xfrm>
          <a:prstGeom prst="rect">
            <a:avLst/>
          </a:prstGeom>
          <a:noFill/>
        </p:spPr>
        <p:txBody>
          <a:bodyPr lIns="114268" tIns="152357" rIns="76171" bIns="76171" anchor="t">
            <a:noAutofit/>
          </a:bodyPr>
          <a:lstStyle>
            <a:lvl1pPr algn="l">
              <a:lnSpc>
                <a:spcPct val="80000"/>
              </a:lnSpc>
              <a:defRPr sz="4399" b="1" baseline="0">
                <a:solidFill>
                  <a:srgbClr val="FFFFFF"/>
                </a:solidFill>
                <a:latin typeface="Franklin Gothic Book" panose="020B0503020102020204" pitchFamily="34" charset="0"/>
                <a:ea typeface="Franklin Gothic Book" panose="020B0503020102020204" pitchFamily="34" charset="0"/>
                <a:cs typeface="Segoe UI Light" panose="020B0502040204020203" pitchFamily="34" charset="0"/>
              </a:defRPr>
            </a:lvl1pPr>
          </a:lstStyle>
          <a:p>
            <a:r>
              <a:rPr lang="en-US"/>
              <a:t>Click to edit Master title style</a:t>
            </a:r>
          </a:p>
        </p:txBody>
      </p:sp>
      <p:sp>
        <p:nvSpPr>
          <p:cNvPr id="5" name="TextBox 4"/>
          <p:cNvSpPr txBox="1"/>
          <p:nvPr userDrawn="1"/>
        </p:nvSpPr>
        <p:spPr>
          <a:xfrm>
            <a:off x="355082" y="6411956"/>
            <a:ext cx="3814710" cy="334537"/>
          </a:xfrm>
          <a:prstGeom prst="rect">
            <a:avLst/>
          </a:prstGeom>
          <a:ln>
            <a:noFill/>
          </a:ln>
        </p:spPr>
        <p:txBody>
          <a:bodyPr vert="horz" wrap="square" lIns="91416" tIns="91416" rIns="91416" bIns="91416" rtlCol="0" anchor="t">
            <a:noAutofit/>
          </a:bodyPr>
          <a:lstStyle/>
          <a:p>
            <a:pPr marL="0" marR="0" lvl="0" indent="0" algn="l" defTabSz="914126" rtl="0" eaLnBrk="1" fontAlgn="auto" latinLnBrk="0" hangingPunct="1">
              <a:lnSpc>
                <a:spcPct val="100000"/>
              </a:lnSpc>
              <a:spcBef>
                <a:spcPts val="0"/>
              </a:spcBef>
              <a:spcAft>
                <a:spcPts val="0"/>
              </a:spcAft>
              <a:buClrTx/>
              <a:buSzTx/>
              <a:buFont typeface="Wingdings" pitchFamily="2" charset="2"/>
              <a:buNone/>
              <a:tabLst/>
              <a:defRPr/>
            </a:pPr>
            <a:r>
              <a:rPr kumimoji="0" lang="en-US" sz="1000" b="0" i="0" u="none" strike="noStrike" kern="1200" cap="none" spc="0" normalizeH="0" baseline="0" noProof="0" dirty="0">
                <a:ln>
                  <a:noFill/>
                </a:ln>
                <a:solidFill>
                  <a:srgbClr val="1D2B36">
                    <a:lumMod val="75000"/>
                    <a:lumOff val="25000"/>
                  </a:srgbClr>
                </a:solidFill>
                <a:effectLst/>
                <a:uLnTx/>
                <a:uFillTx/>
                <a:latin typeface="Arial Narrow" panose="020B0606020202030204" pitchFamily="34" charset="0"/>
                <a:ea typeface="Segoe UI" pitchFamily="34" charset="0"/>
                <a:cs typeface="Segoe UI" pitchFamily="34" charset="0"/>
              </a:rPr>
              <a:t>Community Reinvestment Fund, USA (CRF) is an equal opportunity provider</a:t>
            </a:r>
          </a:p>
        </p:txBody>
      </p:sp>
      <p:sp>
        <p:nvSpPr>
          <p:cNvPr id="8" name="Date Placeholder 7">
            <a:extLst>
              <a:ext uri="{FF2B5EF4-FFF2-40B4-BE49-F238E27FC236}">
                <a16:creationId xmlns:a16="http://schemas.microsoft.com/office/drawing/2014/main" id="{CD7BFFAD-A4DA-41CB-9545-675F95895395}"/>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9" name="Footer Placeholder 8">
            <a:extLst>
              <a:ext uri="{FF2B5EF4-FFF2-40B4-BE49-F238E27FC236}">
                <a16:creationId xmlns:a16="http://schemas.microsoft.com/office/drawing/2014/main" id="{D7D20F90-724E-4680-9141-32F668FC404F}"/>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10" name="Slide Number Placeholder 9">
            <a:extLst>
              <a:ext uri="{FF2B5EF4-FFF2-40B4-BE49-F238E27FC236}">
                <a16:creationId xmlns:a16="http://schemas.microsoft.com/office/drawing/2014/main" id="{55565E78-E99F-41D8-BA90-D66FBB0BB172}"/>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6" name="Freeform: Shape 5">
            <a:extLst>
              <a:ext uri="{FF2B5EF4-FFF2-40B4-BE49-F238E27FC236}">
                <a16:creationId xmlns:a16="http://schemas.microsoft.com/office/drawing/2014/main" id="{88A0A975-7E38-4F15-B85D-21F4F2D862A8}"/>
              </a:ext>
            </a:extLst>
          </p:cNvPr>
          <p:cNvSpPr/>
          <p:nvPr userDrawn="1"/>
        </p:nvSpPr>
        <p:spPr>
          <a:xfrm>
            <a:off x="0" y="8708"/>
            <a:ext cx="12174583" cy="6849292"/>
          </a:xfrm>
          <a:custGeom>
            <a:avLst/>
            <a:gdLst>
              <a:gd name="connsiteX0" fmla="*/ 4354 w 12174583"/>
              <a:gd name="connsiteY0" fmla="*/ 0 h 6849292"/>
              <a:gd name="connsiteX1" fmla="*/ 12174583 w 12174583"/>
              <a:gd name="connsiteY1" fmla="*/ 6849292 h 6849292"/>
              <a:gd name="connsiteX2" fmla="*/ 0 w 12174583"/>
              <a:gd name="connsiteY2" fmla="*/ 6849292 h 6849292"/>
              <a:gd name="connsiteX3" fmla="*/ 4354 w 12174583"/>
              <a:gd name="connsiteY3" fmla="*/ 0 h 6849292"/>
            </a:gdLst>
            <a:ahLst/>
            <a:cxnLst>
              <a:cxn ang="0">
                <a:pos x="connsiteX0" y="connsiteY0"/>
              </a:cxn>
              <a:cxn ang="0">
                <a:pos x="connsiteX1" y="connsiteY1"/>
              </a:cxn>
              <a:cxn ang="0">
                <a:pos x="connsiteX2" y="connsiteY2"/>
              </a:cxn>
              <a:cxn ang="0">
                <a:pos x="connsiteX3" y="connsiteY3"/>
              </a:cxn>
            </a:cxnLst>
            <a:rect l="l" t="t" r="r" b="b"/>
            <a:pathLst>
              <a:path w="12174583" h="6849292">
                <a:moveTo>
                  <a:pt x="4354" y="0"/>
                </a:moveTo>
                <a:lnTo>
                  <a:pt x="12174583" y="6849292"/>
                </a:lnTo>
                <a:lnTo>
                  <a:pt x="0" y="6849292"/>
                </a:lnTo>
                <a:cubicBezTo>
                  <a:pt x="1451" y="4566195"/>
                  <a:pt x="2903" y="2283097"/>
                  <a:pt x="4354" y="0"/>
                </a:cubicBezTo>
                <a:close/>
              </a:path>
            </a:pathLst>
          </a:cu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3" name="Subtitle 2"/>
          <p:cNvSpPr>
            <a:spLocks noGrp="1"/>
          </p:cNvSpPr>
          <p:nvPr>
            <p:ph type="subTitle" idx="1" hasCustomPrompt="1"/>
          </p:nvPr>
        </p:nvSpPr>
        <p:spPr>
          <a:xfrm>
            <a:off x="608014" y="4531160"/>
            <a:ext cx="6939552" cy="1090993"/>
          </a:xfrm>
          <a:prstGeom prst="rect">
            <a:avLst/>
          </a:prstGeom>
          <a:noFill/>
        </p:spPr>
        <p:txBody>
          <a:bodyPr lIns="114268" tIns="152357" rIns="76171" bIns="76171">
            <a:noAutofit/>
          </a:bodyPr>
          <a:lstStyle>
            <a:lvl1pPr marL="0" indent="0" algn="l">
              <a:lnSpc>
                <a:spcPct val="80000"/>
              </a:lnSpc>
              <a:buNone/>
              <a:defRPr sz="5400" i="0">
                <a:solidFill>
                  <a:schemeClr val="tx1"/>
                </a:solidFill>
                <a:latin typeface="Franklin Gothic Demi" panose="020B0703020102020204" pitchFamily="34" charset="0"/>
                <a:ea typeface="Franklin Gothic Demi" panose="020B0703020102020204" pitchFamily="34" charset="0"/>
                <a:cs typeface="Arial" panose="020B0604020202020204" pitchFamily="34" charset="0"/>
              </a:defRPr>
            </a:lvl1pPr>
            <a:lvl2pPr marL="543890" indent="0" algn="ctr">
              <a:buNone/>
              <a:defRPr>
                <a:solidFill>
                  <a:schemeClr val="tx1">
                    <a:tint val="75000"/>
                  </a:schemeClr>
                </a:solidFill>
              </a:defRPr>
            </a:lvl2pPr>
            <a:lvl3pPr marL="1087779" indent="0" algn="ctr">
              <a:buNone/>
              <a:defRPr>
                <a:solidFill>
                  <a:schemeClr val="tx1">
                    <a:tint val="75000"/>
                  </a:schemeClr>
                </a:solidFill>
              </a:defRPr>
            </a:lvl3pPr>
            <a:lvl4pPr marL="1631669" indent="0" algn="ctr">
              <a:buNone/>
              <a:defRPr>
                <a:solidFill>
                  <a:schemeClr val="tx1">
                    <a:tint val="75000"/>
                  </a:schemeClr>
                </a:solidFill>
              </a:defRPr>
            </a:lvl4pPr>
            <a:lvl5pPr marL="2175558" indent="0" algn="ctr">
              <a:buNone/>
              <a:defRPr>
                <a:solidFill>
                  <a:schemeClr val="tx1">
                    <a:tint val="75000"/>
                  </a:schemeClr>
                </a:solidFill>
              </a:defRPr>
            </a:lvl5pPr>
            <a:lvl6pPr marL="2719448" indent="0" algn="ctr">
              <a:buNone/>
              <a:defRPr>
                <a:solidFill>
                  <a:schemeClr val="tx1">
                    <a:tint val="75000"/>
                  </a:schemeClr>
                </a:solidFill>
              </a:defRPr>
            </a:lvl6pPr>
            <a:lvl7pPr marL="3263337" indent="0" algn="ctr">
              <a:buNone/>
              <a:defRPr>
                <a:solidFill>
                  <a:schemeClr val="tx1">
                    <a:tint val="75000"/>
                  </a:schemeClr>
                </a:solidFill>
              </a:defRPr>
            </a:lvl7pPr>
            <a:lvl8pPr marL="3807226" indent="0" algn="ctr">
              <a:buNone/>
              <a:defRPr>
                <a:solidFill>
                  <a:schemeClr val="tx1">
                    <a:tint val="75000"/>
                  </a:schemeClr>
                </a:solidFill>
              </a:defRPr>
            </a:lvl8pPr>
            <a:lvl9pPr marL="4351116" indent="0" algn="ctr">
              <a:buNone/>
              <a:defRPr>
                <a:solidFill>
                  <a:schemeClr val="tx1">
                    <a:tint val="75000"/>
                  </a:schemeClr>
                </a:solidFill>
              </a:defRPr>
            </a:lvl9pPr>
          </a:lstStyle>
          <a:p>
            <a:r>
              <a:rPr lang="en-US"/>
              <a:t>A just economy that works for all.</a:t>
            </a:r>
          </a:p>
        </p:txBody>
      </p:sp>
    </p:spTree>
    <p:extLst>
      <p:ext uri="{BB962C8B-B14F-4D97-AF65-F5344CB8AC3E}">
        <p14:creationId xmlns:p14="http://schemas.microsoft.com/office/powerpoint/2010/main" val="3660609113"/>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06DD7-7257-42CB-95DA-09B72D41B459}"/>
              </a:ext>
            </a:extLst>
          </p:cNvPr>
          <p:cNvSpPr>
            <a:spLocks noGrp="1"/>
          </p:cNvSpPr>
          <p:nvPr>
            <p:ph type="title"/>
          </p:nvPr>
        </p:nvSpPr>
        <p:spPr>
          <a:xfrm>
            <a:off x="831850" y="1709740"/>
            <a:ext cx="10515600" cy="2852737"/>
          </a:xfrm>
          <a:prstGeom prst="rect">
            <a:avLst/>
          </a:prstGeom>
        </p:spPr>
        <p:txBody>
          <a:bodyPr anchor="b"/>
          <a:lstStyle>
            <a:lvl1pPr>
              <a:defRPr sz="5998" b="0">
                <a:latin typeface="Franklin Gothic Demi" panose="020B07030201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DBCFDBD5-7EA4-48CC-B381-D7C8636B4CCD}"/>
              </a:ext>
            </a:extLst>
          </p:cNvPr>
          <p:cNvSpPr>
            <a:spLocks noGrp="1"/>
          </p:cNvSpPr>
          <p:nvPr>
            <p:ph type="body" idx="1"/>
          </p:nvPr>
        </p:nvSpPr>
        <p:spPr>
          <a:xfrm>
            <a:off x="831850" y="4589465"/>
            <a:ext cx="10515600" cy="1500187"/>
          </a:xfrm>
          <a:prstGeom prst="rect">
            <a:avLst/>
          </a:prstGeo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BDFA68A-D8EF-4D10-8614-9D1D592A683A}"/>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3CDCFF3E-D33F-48CE-A307-88EE50FB1B8E}"/>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238D04AA-BDD6-4C43-8138-09BEAEB4D51C}"/>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3279729983"/>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F0AC2E-E943-417B-907F-EB2CF721605B}"/>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1320304" y="917637"/>
            <a:ext cx="10033497" cy="779461"/>
          </a:xfrm>
          <a:prstGeom prst="rect">
            <a:avLst/>
          </a:prstGeom>
        </p:spPr>
        <p:txBody>
          <a:bodyPr anchor="ctr">
            <a:normAutofit/>
          </a:bodyPr>
          <a:lstStyle>
            <a:lvl1pPr>
              <a:defRPr sz="3200" b="0">
                <a:solidFill>
                  <a:schemeClr val="bg1"/>
                </a:solidFill>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1320304" y="1825625"/>
            <a:ext cx="10033497" cy="435133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a:xfrm>
            <a:off x="9448799" y="2"/>
            <a:ext cx="2743200" cy="365125"/>
          </a:xfrm>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pic>
        <p:nvPicPr>
          <p:cNvPr id="7" name="Picture 6" descr="A close up of a logo&#10;&#10;Description automatically generated">
            <a:extLst>
              <a:ext uri="{FF2B5EF4-FFF2-40B4-BE49-F238E27FC236}">
                <a16:creationId xmlns:a16="http://schemas.microsoft.com/office/drawing/2014/main" id="{F26F8D9A-36A6-4494-BFB0-D04A616C0AA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2872"/>
          <a:stretch/>
        </p:blipFill>
        <p:spPr>
          <a:xfrm>
            <a:off x="297094" y="253081"/>
            <a:ext cx="912223" cy="664556"/>
          </a:xfrm>
          <a:prstGeom prst="rect">
            <a:avLst/>
          </a:prstGeom>
        </p:spPr>
      </p:pic>
    </p:spTree>
    <p:extLst>
      <p:ext uri="{BB962C8B-B14F-4D97-AF65-F5344CB8AC3E}">
        <p14:creationId xmlns:p14="http://schemas.microsoft.com/office/powerpoint/2010/main" val="3998712894"/>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1320303" y="881953"/>
            <a:ext cx="10033497" cy="779461"/>
          </a:xfrm>
          <a:prstGeom prst="rect">
            <a:avLst/>
          </a:prstGeom>
        </p:spPr>
        <p:txBody>
          <a:bodyPr anchor="ctr">
            <a:normAutofit/>
          </a:bodyPr>
          <a:lstStyle>
            <a:lvl1pPr>
              <a:defRPr sz="3200" b="0">
                <a:solidFill>
                  <a:schemeClr val="tx2"/>
                </a:solidFill>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1320304" y="1825625"/>
            <a:ext cx="10033497" cy="4351338"/>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a:xfrm>
            <a:off x="9448799" y="2"/>
            <a:ext cx="2743200" cy="365125"/>
          </a:xfrm>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pic>
        <p:nvPicPr>
          <p:cNvPr id="7" name="Picture 6" descr="A close up of a logo&#10;&#10;Description automatically generated">
            <a:extLst>
              <a:ext uri="{FF2B5EF4-FFF2-40B4-BE49-F238E27FC236}">
                <a16:creationId xmlns:a16="http://schemas.microsoft.com/office/drawing/2014/main" id="{F26F8D9A-36A6-4494-BFB0-D04A616C0AA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2872"/>
          <a:stretch/>
        </p:blipFill>
        <p:spPr>
          <a:xfrm>
            <a:off x="297094" y="422579"/>
            <a:ext cx="912223" cy="664556"/>
          </a:xfrm>
          <a:prstGeom prst="rect">
            <a:avLst/>
          </a:prstGeom>
        </p:spPr>
      </p:pic>
      <p:pic>
        <p:nvPicPr>
          <p:cNvPr id="5" name="Graphic 4">
            <a:extLst>
              <a:ext uri="{FF2B5EF4-FFF2-40B4-BE49-F238E27FC236}">
                <a16:creationId xmlns:a16="http://schemas.microsoft.com/office/drawing/2014/main" id="{0DB3DEA0-B43F-40D3-9FA5-650397634AC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401" y="217397"/>
            <a:ext cx="916010" cy="664556"/>
          </a:xfrm>
          <a:prstGeom prst="rect">
            <a:avLst/>
          </a:prstGeom>
        </p:spPr>
      </p:pic>
    </p:spTree>
    <p:extLst>
      <p:ext uri="{BB962C8B-B14F-4D97-AF65-F5344CB8AC3E}">
        <p14:creationId xmlns:p14="http://schemas.microsoft.com/office/powerpoint/2010/main" val="2953520543"/>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Large Content Are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301926" y="1825625"/>
            <a:ext cx="11051875" cy="331571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7" name="Rectangle 6">
            <a:extLst>
              <a:ext uri="{FF2B5EF4-FFF2-40B4-BE49-F238E27FC236}">
                <a16:creationId xmlns:a16="http://schemas.microsoft.com/office/drawing/2014/main" id="{06B17150-02B9-4990-A949-1923F427A9EF}"/>
              </a:ext>
            </a:extLst>
          </p:cNvPr>
          <p:cNvSpPr/>
          <p:nvPr userDrawn="1"/>
        </p:nvSpPr>
        <p:spPr>
          <a:xfrm>
            <a:off x="1571625" y="5922964"/>
            <a:ext cx="2009775" cy="676275"/>
          </a:xfrm>
          <a:prstGeom prst="rect">
            <a:avLst/>
          </a:prstGeom>
          <a:solidFill>
            <a:srgbClr val="1D2B36"/>
          </a:solidFill>
          <a:ln>
            <a:solidFill>
              <a:srgbClr val="1D2B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8" name="Rectangle 7">
            <a:extLst>
              <a:ext uri="{FF2B5EF4-FFF2-40B4-BE49-F238E27FC236}">
                <a16:creationId xmlns:a16="http://schemas.microsoft.com/office/drawing/2014/main" id="{9368A3F1-6E36-419B-985D-F0F6D3A04AE2}"/>
              </a:ext>
            </a:extLst>
          </p:cNvPr>
          <p:cNvSpPr/>
          <p:nvPr userDrawn="1"/>
        </p:nvSpPr>
        <p:spPr>
          <a:xfrm>
            <a:off x="1" y="5296621"/>
            <a:ext cx="12192000" cy="14248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Tree>
    <p:extLst>
      <p:ext uri="{BB962C8B-B14F-4D97-AF65-F5344CB8AC3E}">
        <p14:creationId xmlns:p14="http://schemas.microsoft.com/office/powerpoint/2010/main" val="116696444"/>
      </p:ext>
    </p:extLst>
  </p:cSld>
  <p:clrMapOvr>
    <a:masterClrMapping/>
  </p:clrMapOvr>
  <p:transition spd="slow">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1467504" y="199953"/>
            <a:ext cx="9886296" cy="779461"/>
          </a:xfrm>
          <a:prstGeom prst="rect">
            <a:avLst/>
          </a:prstGeom>
        </p:spPr>
        <p:txBody>
          <a:bodyPr anchor="ctr">
            <a:normAutofit/>
          </a:bodyPr>
          <a:lstStyle>
            <a:lvl1pPr>
              <a:defRPr sz="3200" b="0">
                <a:solidFill>
                  <a:schemeClr val="tx2"/>
                </a:solidFill>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1320304" y="1825625"/>
            <a:ext cx="10033497" cy="4351338"/>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a:xfrm>
            <a:off x="9448799" y="2"/>
            <a:ext cx="2743200" cy="365125"/>
          </a:xfrm>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pic>
        <p:nvPicPr>
          <p:cNvPr id="7" name="Picture 6" descr="A close up of a logo&#10;&#10;Description automatically generated">
            <a:extLst>
              <a:ext uri="{FF2B5EF4-FFF2-40B4-BE49-F238E27FC236}">
                <a16:creationId xmlns:a16="http://schemas.microsoft.com/office/drawing/2014/main" id="{F26F8D9A-36A6-4494-BFB0-D04A616C0AA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2872"/>
          <a:stretch/>
        </p:blipFill>
        <p:spPr>
          <a:xfrm>
            <a:off x="297094" y="422579"/>
            <a:ext cx="912223" cy="664556"/>
          </a:xfrm>
          <a:prstGeom prst="rect">
            <a:avLst/>
          </a:prstGeom>
        </p:spPr>
      </p:pic>
      <p:sp>
        <p:nvSpPr>
          <p:cNvPr id="4" name="Rectangle 3">
            <a:extLst>
              <a:ext uri="{FF2B5EF4-FFF2-40B4-BE49-F238E27FC236}">
                <a16:creationId xmlns:a16="http://schemas.microsoft.com/office/drawing/2014/main" id="{ADC1E7F7-09CC-4814-AA3D-E81124E5C9BF}"/>
              </a:ext>
            </a:extLst>
          </p:cNvPr>
          <p:cNvSpPr/>
          <p:nvPr userDrawn="1"/>
        </p:nvSpPr>
        <p:spPr>
          <a:xfrm>
            <a:off x="1" y="1046164"/>
            <a:ext cx="12191998" cy="581183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pic>
        <p:nvPicPr>
          <p:cNvPr id="5" name="Graphic 4">
            <a:extLst>
              <a:ext uri="{FF2B5EF4-FFF2-40B4-BE49-F238E27FC236}">
                <a16:creationId xmlns:a16="http://schemas.microsoft.com/office/drawing/2014/main" id="{0DB3DEA0-B43F-40D3-9FA5-650397634AC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401" y="217397"/>
            <a:ext cx="916010" cy="664556"/>
          </a:xfrm>
          <a:prstGeom prst="rect">
            <a:avLst/>
          </a:prstGeom>
        </p:spPr>
      </p:pic>
    </p:spTree>
    <p:extLst>
      <p:ext uri="{BB962C8B-B14F-4D97-AF65-F5344CB8AC3E}">
        <p14:creationId xmlns:p14="http://schemas.microsoft.com/office/powerpoint/2010/main" val="1027841306"/>
      </p:ext>
    </p:extLst>
  </p:cSld>
  <p:clrMapOvr>
    <a:masterClrMapping/>
  </p:clrMapOvr>
  <p:transition spd="slow">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1467504" y="199953"/>
            <a:ext cx="9886296" cy="779461"/>
          </a:xfrm>
          <a:prstGeom prst="rect">
            <a:avLst/>
          </a:prstGeom>
        </p:spPr>
        <p:txBody>
          <a:bodyPr anchor="ctr">
            <a:normAutofit/>
          </a:bodyPr>
          <a:lstStyle>
            <a:lvl1pPr>
              <a:defRPr sz="3200" b="0">
                <a:solidFill>
                  <a:schemeClr val="tx2"/>
                </a:solidFill>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1320304" y="1825625"/>
            <a:ext cx="10033497" cy="4351338"/>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a:xfrm>
            <a:off x="9448799" y="2"/>
            <a:ext cx="2743200" cy="365125"/>
          </a:xfrm>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pic>
        <p:nvPicPr>
          <p:cNvPr id="7" name="Picture 6" descr="A close up of a logo&#10;&#10;Description automatically generated">
            <a:extLst>
              <a:ext uri="{FF2B5EF4-FFF2-40B4-BE49-F238E27FC236}">
                <a16:creationId xmlns:a16="http://schemas.microsoft.com/office/drawing/2014/main" id="{F26F8D9A-36A6-4494-BFB0-D04A616C0AA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2872"/>
          <a:stretch/>
        </p:blipFill>
        <p:spPr>
          <a:xfrm>
            <a:off x="297094" y="422579"/>
            <a:ext cx="912223" cy="664556"/>
          </a:xfrm>
          <a:prstGeom prst="rect">
            <a:avLst/>
          </a:prstGeom>
        </p:spPr>
      </p:pic>
      <p:sp>
        <p:nvSpPr>
          <p:cNvPr id="4" name="Rectangle 3">
            <a:extLst>
              <a:ext uri="{FF2B5EF4-FFF2-40B4-BE49-F238E27FC236}">
                <a16:creationId xmlns:a16="http://schemas.microsoft.com/office/drawing/2014/main" id="{ADC1E7F7-09CC-4814-AA3D-E81124E5C9BF}"/>
              </a:ext>
            </a:extLst>
          </p:cNvPr>
          <p:cNvSpPr/>
          <p:nvPr userDrawn="1"/>
        </p:nvSpPr>
        <p:spPr>
          <a:xfrm>
            <a:off x="1" y="1046164"/>
            <a:ext cx="12191998" cy="581183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pic>
        <p:nvPicPr>
          <p:cNvPr id="5" name="Graphic 4">
            <a:extLst>
              <a:ext uri="{FF2B5EF4-FFF2-40B4-BE49-F238E27FC236}">
                <a16:creationId xmlns:a16="http://schemas.microsoft.com/office/drawing/2014/main" id="{0DB3DEA0-B43F-40D3-9FA5-650397634AC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401" y="217397"/>
            <a:ext cx="916010" cy="664556"/>
          </a:xfrm>
          <a:prstGeom prst="rect">
            <a:avLst/>
          </a:prstGeom>
        </p:spPr>
      </p:pic>
    </p:spTree>
    <p:extLst>
      <p:ext uri="{BB962C8B-B14F-4D97-AF65-F5344CB8AC3E}">
        <p14:creationId xmlns:p14="http://schemas.microsoft.com/office/powerpoint/2010/main" val="3168151356"/>
      </p:ext>
    </p:extLst>
  </p:cSld>
  <p:clrMapOvr>
    <a:masterClrMapping/>
  </p:clrMapOvr>
  <p:transition spd="slow">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1467504" y="199953"/>
            <a:ext cx="9886296" cy="779461"/>
          </a:xfrm>
          <a:prstGeom prst="rect">
            <a:avLst/>
          </a:prstGeom>
        </p:spPr>
        <p:txBody>
          <a:bodyPr anchor="ctr">
            <a:normAutofit/>
          </a:bodyPr>
          <a:lstStyle>
            <a:lvl1pPr>
              <a:defRPr sz="3200" b="0">
                <a:solidFill>
                  <a:schemeClr val="tx2"/>
                </a:solidFill>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6B92E8A-844C-4801-954A-A55AFBA52531}"/>
              </a:ext>
            </a:extLst>
          </p:cNvPr>
          <p:cNvSpPr>
            <a:spLocks noGrp="1"/>
          </p:cNvSpPr>
          <p:nvPr>
            <p:ph idx="1"/>
          </p:nvPr>
        </p:nvSpPr>
        <p:spPr>
          <a:xfrm>
            <a:off x="1320304" y="1825625"/>
            <a:ext cx="10033497" cy="4351338"/>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a:xfrm>
            <a:off x="9448799" y="2"/>
            <a:ext cx="2743200" cy="365125"/>
          </a:xfrm>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pic>
        <p:nvPicPr>
          <p:cNvPr id="7" name="Picture 6" descr="A close up of a logo&#10;&#10;Description automatically generated">
            <a:extLst>
              <a:ext uri="{FF2B5EF4-FFF2-40B4-BE49-F238E27FC236}">
                <a16:creationId xmlns:a16="http://schemas.microsoft.com/office/drawing/2014/main" id="{F26F8D9A-36A6-4494-BFB0-D04A616C0AA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2872"/>
          <a:stretch/>
        </p:blipFill>
        <p:spPr>
          <a:xfrm>
            <a:off x="297094" y="422579"/>
            <a:ext cx="912223" cy="664556"/>
          </a:xfrm>
          <a:prstGeom prst="rect">
            <a:avLst/>
          </a:prstGeom>
        </p:spPr>
      </p:pic>
      <p:sp>
        <p:nvSpPr>
          <p:cNvPr id="4" name="Rectangle 3">
            <a:extLst>
              <a:ext uri="{FF2B5EF4-FFF2-40B4-BE49-F238E27FC236}">
                <a16:creationId xmlns:a16="http://schemas.microsoft.com/office/drawing/2014/main" id="{ADC1E7F7-09CC-4814-AA3D-E81124E5C9BF}"/>
              </a:ext>
            </a:extLst>
          </p:cNvPr>
          <p:cNvSpPr/>
          <p:nvPr userDrawn="1"/>
        </p:nvSpPr>
        <p:spPr>
          <a:xfrm>
            <a:off x="1" y="1046164"/>
            <a:ext cx="12191998" cy="5811836"/>
          </a:xfrm>
          <a:prstGeom prst="rect">
            <a:avLst/>
          </a:prstGeom>
          <a:solidFill>
            <a:schemeClr val="accent6">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pic>
        <p:nvPicPr>
          <p:cNvPr id="5" name="Graphic 4">
            <a:extLst>
              <a:ext uri="{FF2B5EF4-FFF2-40B4-BE49-F238E27FC236}">
                <a16:creationId xmlns:a16="http://schemas.microsoft.com/office/drawing/2014/main" id="{0DB3DEA0-B43F-40D3-9FA5-650397634AC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401" y="217397"/>
            <a:ext cx="916010" cy="664556"/>
          </a:xfrm>
          <a:prstGeom prst="rect">
            <a:avLst/>
          </a:prstGeom>
        </p:spPr>
      </p:pic>
    </p:spTree>
    <p:extLst>
      <p:ext uri="{BB962C8B-B14F-4D97-AF65-F5344CB8AC3E}">
        <p14:creationId xmlns:p14="http://schemas.microsoft.com/office/powerpoint/2010/main" val="3979480015"/>
      </p:ext>
    </p:extLst>
  </p:cSld>
  <p:clrMapOvr>
    <a:masterClrMapping/>
  </p:clrMapOvr>
  <p:transition spd="slow">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0824A-C650-4DD1-A22A-6995A60C0A2C}"/>
              </a:ext>
            </a:extLst>
          </p:cNvPr>
          <p:cNvSpPr>
            <a:spLocks noGrp="1"/>
          </p:cNvSpPr>
          <p:nvPr>
            <p:ph type="title"/>
          </p:nvPr>
        </p:nvSpPr>
        <p:spPr>
          <a:xfrm>
            <a:off x="301752" y="365760"/>
            <a:ext cx="10788162" cy="1325563"/>
          </a:xfrm>
          <a:prstGeom prst="rect">
            <a:avLst/>
          </a:prstGeom>
        </p:spPr>
        <p:txBody>
          <a:bodyPr/>
          <a:lstStyle>
            <a:lvl1pPr>
              <a:defRPr b="0">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8253ED13-A124-4E2E-BB34-04AC0FF633EB}"/>
              </a:ext>
            </a:extLst>
          </p:cNvPr>
          <p:cNvSpPr>
            <a:spLocks noGrp="1"/>
          </p:cNvSpPr>
          <p:nvPr>
            <p:ph sz="half" idx="1"/>
          </p:nvPr>
        </p:nvSpPr>
        <p:spPr>
          <a:xfrm>
            <a:off x="301752" y="1825625"/>
            <a:ext cx="5181600" cy="39564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A40A79-0A1B-4609-897A-58E09B34E83F}"/>
              </a:ext>
            </a:extLst>
          </p:cNvPr>
          <p:cNvSpPr>
            <a:spLocks noGrp="1"/>
          </p:cNvSpPr>
          <p:nvPr>
            <p:ph sz="half" idx="2"/>
          </p:nvPr>
        </p:nvSpPr>
        <p:spPr>
          <a:xfrm>
            <a:off x="6172200" y="1825625"/>
            <a:ext cx="5181600" cy="39564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849836-7246-4DF5-894B-CCBB3F2BC34E}"/>
              </a:ext>
            </a:extLst>
          </p:cNvPr>
          <p:cNvSpPr>
            <a:spLocks noGrp="1"/>
          </p:cNvSpPr>
          <p:nvPr>
            <p:ph type="dt" sz="half" idx="10"/>
          </p:nvPr>
        </p:nvSpPr>
        <p:spPr/>
        <p:txBody>
          <a:bodyPr/>
          <a:lstStyle>
            <a:lvl1pPr>
              <a:defRPr>
                <a:latin typeface="Montserrat SemiBold" panose="00000700000000000000" pitchFamily="2" charset="0"/>
              </a:defRPr>
            </a:lvl1pPr>
          </a:lstStyle>
          <a:p>
            <a:pPr>
              <a:defRPr/>
            </a:pPr>
            <a:endParaRPr lang="en-US" dirty="0">
              <a:solidFill>
                <a:srgbClr val="1D2B36">
                  <a:tint val="75000"/>
                </a:srgbClr>
              </a:solidFill>
            </a:endParaRPr>
          </a:p>
        </p:txBody>
      </p:sp>
      <p:sp>
        <p:nvSpPr>
          <p:cNvPr id="6" name="Footer Placeholder 5">
            <a:extLst>
              <a:ext uri="{FF2B5EF4-FFF2-40B4-BE49-F238E27FC236}">
                <a16:creationId xmlns:a16="http://schemas.microsoft.com/office/drawing/2014/main" id="{188CFBFB-922E-4567-8C2D-909E06967ED3}"/>
              </a:ext>
            </a:extLst>
          </p:cNvPr>
          <p:cNvSpPr>
            <a:spLocks noGrp="1"/>
          </p:cNvSpPr>
          <p:nvPr>
            <p:ph type="ftr" sz="quarter" idx="11"/>
          </p:nvPr>
        </p:nvSpPr>
        <p:spPr/>
        <p:txBody>
          <a:bodyPr/>
          <a:lstStyle>
            <a:lvl1pPr>
              <a:defRPr>
                <a:latin typeface="Montserrat SemiBold" panose="00000700000000000000" pitchFamily="2" charset="0"/>
              </a:defRPr>
            </a:lvl1pPr>
          </a:lstStyle>
          <a:p>
            <a:pPr>
              <a:defRPr/>
            </a:pPr>
            <a:endParaRPr lang="en-US" dirty="0">
              <a:solidFill>
                <a:srgbClr val="1D2B36">
                  <a:tint val="75000"/>
                </a:srgbClr>
              </a:solidFill>
            </a:endParaRPr>
          </a:p>
        </p:txBody>
      </p:sp>
      <p:sp>
        <p:nvSpPr>
          <p:cNvPr id="7" name="Slide Number Placeholder 6">
            <a:extLst>
              <a:ext uri="{FF2B5EF4-FFF2-40B4-BE49-F238E27FC236}">
                <a16:creationId xmlns:a16="http://schemas.microsoft.com/office/drawing/2014/main" id="{82604876-43D9-4137-A77C-7DE66BD64F29}"/>
              </a:ext>
            </a:extLst>
          </p:cNvPr>
          <p:cNvSpPr>
            <a:spLocks noGrp="1"/>
          </p:cNvSpPr>
          <p:nvPr>
            <p:ph type="sldNum" sz="quarter" idx="12"/>
          </p:nvPr>
        </p:nvSpPr>
        <p:spPr/>
        <p:txBody>
          <a:bodyPr/>
          <a:lstStyle>
            <a:lvl1pPr>
              <a:defRPr>
                <a:latin typeface="Montserrat SemiBold" panose="00000700000000000000" pitchFamily="2" charset="0"/>
              </a:defRPr>
            </a:lvl1pPr>
          </a:lstStyle>
          <a:p>
            <a:pPr>
              <a:defRPr/>
            </a:pPr>
            <a:fld id="{AEACC2C1-74EF-4D17-8FCA-30885DD06988}" type="slidenum">
              <a:rPr lang="en-US" smtClean="0">
                <a:solidFill>
                  <a:srgbClr val="1D2B36">
                    <a:tint val="75000"/>
                  </a:srgbClr>
                </a:solidFill>
              </a:rPr>
              <a:pPr>
                <a:defRPr/>
              </a:pPr>
              <a:t>‹#›</a:t>
            </a:fld>
            <a:endParaRPr lang="en-US" dirty="0">
              <a:solidFill>
                <a:srgbClr val="1D2B36">
                  <a:tint val="75000"/>
                </a:srgbClr>
              </a:solidFill>
            </a:endParaRPr>
          </a:p>
        </p:txBody>
      </p:sp>
    </p:spTree>
    <p:extLst>
      <p:ext uri="{BB962C8B-B14F-4D97-AF65-F5344CB8AC3E}">
        <p14:creationId xmlns:p14="http://schemas.microsoft.com/office/powerpoint/2010/main" val="3698115606"/>
      </p:ext>
    </p:extLst>
  </p:cSld>
  <p:clrMapOvr>
    <a:masterClrMapping/>
  </p:clrMapOvr>
  <p:transition spd="slow">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Matrix 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cxnSp>
        <p:nvCxnSpPr>
          <p:cNvPr id="9" name="Straight Connector 8">
            <a:extLst>
              <a:ext uri="{FF2B5EF4-FFF2-40B4-BE49-F238E27FC236}">
                <a16:creationId xmlns:a16="http://schemas.microsoft.com/office/drawing/2014/main" id="{D9D9D676-7C92-43AC-84A3-60F4FEED7822}"/>
              </a:ext>
            </a:extLst>
          </p:cNvPr>
          <p:cNvCxnSpPr>
            <a:cxnSpLocks/>
          </p:cNvCxnSpPr>
          <p:nvPr userDrawn="1"/>
        </p:nvCxnSpPr>
        <p:spPr>
          <a:xfrm>
            <a:off x="4104170" y="1701204"/>
            <a:ext cx="0" cy="374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61B6D6-1B41-4751-B27A-1F1FE8CA765C}"/>
              </a:ext>
            </a:extLst>
          </p:cNvPr>
          <p:cNvCxnSpPr>
            <a:cxnSpLocks/>
          </p:cNvCxnSpPr>
          <p:nvPr userDrawn="1"/>
        </p:nvCxnSpPr>
        <p:spPr>
          <a:xfrm>
            <a:off x="8071883" y="1701204"/>
            <a:ext cx="0" cy="374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F12FE0D-6DD3-4F58-A0B1-7EB069127ACD}"/>
              </a:ext>
            </a:extLst>
          </p:cNvPr>
          <p:cNvCxnSpPr>
            <a:cxnSpLocks/>
          </p:cNvCxnSpPr>
          <p:nvPr userDrawn="1"/>
        </p:nvCxnSpPr>
        <p:spPr>
          <a:xfrm>
            <a:off x="301925" y="3530010"/>
            <a:ext cx="11532112"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58DDB5D5-3B50-4031-99CE-4763A745DED6}"/>
              </a:ext>
            </a:extLst>
          </p:cNvPr>
          <p:cNvSpPr>
            <a:spLocks noGrp="1"/>
          </p:cNvSpPr>
          <p:nvPr>
            <p:ph idx="13"/>
          </p:nvPr>
        </p:nvSpPr>
        <p:spPr>
          <a:xfrm>
            <a:off x="301926" y="1707417"/>
            <a:ext cx="3674660" cy="1693752"/>
          </a:xfrm>
          <a:prstGeom prst="rect">
            <a:avLst/>
          </a:prstGeom>
        </p:spPr>
        <p:txBody>
          <a:bodyPr/>
          <a:lstStyle>
            <a:lvl1pPr marL="0" indent="0">
              <a:buNone/>
              <a:defRPr/>
            </a:lvl1pPr>
          </a:lstStyle>
          <a:p>
            <a:pPr lvl="0"/>
            <a:r>
              <a:rPr lang="en-US"/>
              <a:t>Edit Master text styles</a:t>
            </a:r>
          </a:p>
        </p:txBody>
      </p:sp>
      <p:sp>
        <p:nvSpPr>
          <p:cNvPr id="25" name="Content Placeholder 2">
            <a:extLst>
              <a:ext uri="{FF2B5EF4-FFF2-40B4-BE49-F238E27FC236}">
                <a16:creationId xmlns:a16="http://schemas.microsoft.com/office/drawing/2014/main" id="{1754F248-EA38-4F55-ABB9-713DC3B02C99}"/>
              </a:ext>
            </a:extLst>
          </p:cNvPr>
          <p:cNvSpPr>
            <a:spLocks noGrp="1"/>
          </p:cNvSpPr>
          <p:nvPr>
            <p:ph idx="14"/>
          </p:nvPr>
        </p:nvSpPr>
        <p:spPr>
          <a:xfrm>
            <a:off x="4258671" y="1707417"/>
            <a:ext cx="3674660" cy="1693752"/>
          </a:xfrm>
          <a:prstGeom prst="rect">
            <a:avLst/>
          </a:prstGeom>
        </p:spPr>
        <p:txBody>
          <a:bodyPr/>
          <a:lstStyle>
            <a:lvl1pPr marL="0" indent="0">
              <a:buNone/>
              <a:defRPr/>
            </a:lvl1pPr>
          </a:lstStyle>
          <a:p>
            <a:pPr lvl="0"/>
            <a:r>
              <a:rPr lang="en-US"/>
              <a:t>Edit Master text styles</a:t>
            </a:r>
          </a:p>
        </p:txBody>
      </p:sp>
      <p:sp>
        <p:nvSpPr>
          <p:cNvPr id="26" name="Content Placeholder 2">
            <a:extLst>
              <a:ext uri="{FF2B5EF4-FFF2-40B4-BE49-F238E27FC236}">
                <a16:creationId xmlns:a16="http://schemas.microsoft.com/office/drawing/2014/main" id="{40E66249-E45C-4E2C-ACEC-FBBFB1E59ED0}"/>
              </a:ext>
            </a:extLst>
          </p:cNvPr>
          <p:cNvSpPr>
            <a:spLocks noGrp="1"/>
          </p:cNvSpPr>
          <p:nvPr>
            <p:ph idx="15"/>
          </p:nvPr>
        </p:nvSpPr>
        <p:spPr>
          <a:xfrm>
            <a:off x="8215415" y="1707417"/>
            <a:ext cx="3674660" cy="1693752"/>
          </a:xfrm>
          <a:prstGeom prst="rect">
            <a:avLst/>
          </a:prstGeom>
        </p:spPr>
        <p:txBody>
          <a:bodyPr/>
          <a:lstStyle>
            <a:lvl1pPr marL="0" indent="0">
              <a:buNone/>
              <a:defRPr/>
            </a:lvl1pPr>
          </a:lstStyle>
          <a:p>
            <a:pPr lvl="0"/>
            <a:r>
              <a:rPr lang="en-US"/>
              <a:t>Edit Master text styles</a:t>
            </a:r>
          </a:p>
        </p:txBody>
      </p:sp>
      <p:sp>
        <p:nvSpPr>
          <p:cNvPr id="27" name="Content Placeholder 2">
            <a:extLst>
              <a:ext uri="{FF2B5EF4-FFF2-40B4-BE49-F238E27FC236}">
                <a16:creationId xmlns:a16="http://schemas.microsoft.com/office/drawing/2014/main" id="{7107FE61-486A-4043-BAEE-70354D1FEF3C}"/>
              </a:ext>
            </a:extLst>
          </p:cNvPr>
          <p:cNvSpPr>
            <a:spLocks noGrp="1"/>
          </p:cNvSpPr>
          <p:nvPr>
            <p:ph idx="16"/>
          </p:nvPr>
        </p:nvSpPr>
        <p:spPr>
          <a:xfrm>
            <a:off x="301925" y="3750768"/>
            <a:ext cx="3674660" cy="1693752"/>
          </a:xfrm>
          <a:prstGeom prst="rect">
            <a:avLst/>
          </a:prstGeom>
        </p:spPr>
        <p:txBody>
          <a:bodyPr/>
          <a:lstStyle>
            <a:lvl1pPr marL="0" indent="0">
              <a:buNone/>
              <a:defRPr/>
            </a:lvl1pPr>
          </a:lstStyle>
          <a:p>
            <a:pPr lvl="0"/>
            <a:r>
              <a:rPr lang="en-US"/>
              <a:t>Edit Master text styles</a:t>
            </a:r>
          </a:p>
        </p:txBody>
      </p:sp>
      <p:sp>
        <p:nvSpPr>
          <p:cNvPr id="28" name="Content Placeholder 2">
            <a:extLst>
              <a:ext uri="{FF2B5EF4-FFF2-40B4-BE49-F238E27FC236}">
                <a16:creationId xmlns:a16="http://schemas.microsoft.com/office/drawing/2014/main" id="{9E50F90D-6A29-4370-9476-46548AFDA713}"/>
              </a:ext>
            </a:extLst>
          </p:cNvPr>
          <p:cNvSpPr>
            <a:spLocks noGrp="1"/>
          </p:cNvSpPr>
          <p:nvPr>
            <p:ph idx="17"/>
          </p:nvPr>
        </p:nvSpPr>
        <p:spPr>
          <a:xfrm>
            <a:off x="4258669" y="3750768"/>
            <a:ext cx="3674660" cy="1693752"/>
          </a:xfrm>
          <a:prstGeom prst="rect">
            <a:avLst/>
          </a:prstGeom>
        </p:spPr>
        <p:txBody>
          <a:bodyPr/>
          <a:lstStyle>
            <a:lvl1pPr marL="0" indent="0">
              <a:buNone/>
              <a:defRPr/>
            </a:lvl1pPr>
          </a:lstStyle>
          <a:p>
            <a:pPr lvl="0"/>
            <a:r>
              <a:rPr lang="en-US"/>
              <a:t>Edit Master text styles</a:t>
            </a:r>
          </a:p>
        </p:txBody>
      </p:sp>
      <p:sp>
        <p:nvSpPr>
          <p:cNvPr id="29" name="Content Placeholder 2">
            <a:extLst>
              <a:ext uri="{FF2B5EF4-FFF2-40B4-BE49-F238E27FC236}">
                <a16:creationId xmlns:a16="http://schemas.microsoft.com/office/drawing/2014/main" id="{D72660AD-654F-44D2-A1E2-766CCF7EC13A}"/>
              </a:ext>
            </a:extLst>
          </p:cNvPr>
          <p:cNvSpPr>
            <a:spLocks noGrp="1"/>
          </p:cNvSpPr>
          <p:nvPr>
            <p:ph idx="18"/>
          </p:nvPr>
        </p:nvSpPr>
        <p:spPr>
          <a:xfrm>
            <a:off x="8215414" y="3750768"/>
            <a:ext cx="3674660" cy="1693752"/>
          </a:xfrm>
          <a:prstGeom prst="rect">
            <a:avLst/>
          </a:prstGeo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4111781409"/>
      </p:ext>
    </p:extLst>
  </p:cSld>
  <p:clrMapOvr>
    <a:masterClrMapping/>
  </p:clrMapOvr>
  <p:transition spd="slow">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 Matrix 2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cxnSp>
        <p:nvCxnSpPr>
          <p:cNvPr id="9" name="Straight Connector 8">
            <a:extLst>
              <a:ext uri="{FF2B5EF4-FFF2-40B4-BE49-F238E27FC236}">
                <a16:creationId xmlns:a16="http://schemas.microsoft.com/office/drawing/2014/main" id="{D9D9D676-7C92-43AC-84A3-60F4FEED7822}"/>
              </a:ext>
            </a:extLst>
          </p:cNvPr>
          <p:cNvCxnSpPr>
            <a:cxnSpLocks/>
          </p:cNvCxnSpPr>
          <p:nvPr userDrawn="1"/>
        </p:nvCxnSpPr>
        <p:spPr>
          <a:xfrm>
            <a:off x="5940392" y="1701204"/>
            <a:ext cx="0" cy="374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F12FE0D-6DD3-4F58-A0B1-7EB069127ACD}"/>
              </a:ext>
            </a:extLst>
          </p:cNvPr>
          <p:cNvCxnSpPr>
            <a:cxnSpLocks/>
          </p:cNvCxnSpPr>
          <p:nvPr userDrawn="1"/>
        </p:nvCxnSpPr>
        <p:spPr>
          <a:xfrm>
            <a:off x="301925" y="3530010"/>
            <a:ext cx="11532112"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58DDB5D5-3B50-4031-99CE-4763A745DED6}"/>
              </a:ext>
            </a:extLst>
          </p:cNvPr>
          <p:cNvSpPr>
            <a:spLocks noGrp="1"/>
          </p:cNvSpPr>
          <p:nvPr>
            <p:ph idx="13"/>
          </p:nvPr>
        </p:nvSpPr>
        <p:spPr>
          <a:xfrm>
            <a:off x="301926" y="1707417"/>
            <a:ext cx="5202530" cy="1693752"/>
          </a:xfrm>
          <a:prstGeom prst="rect">
            <a:avLst/>
          </a:prstGeom>
        </p:spPr>
        <p:txBody>
          <a:bodyPr/>
          <a:lstStyle>
            <a:lvl1pPr marL="0" indent="0">
              <a:buNone/>
              <a:defRPr/>
            </a:lvl1pPr>
          </a:lstStyle>
          <a:p>
            <a:pPr lvl="0"/>
            <a:r>
              <a:rPr lang="en-US"/>
              <a:t>Edit Master text styles</a:t>
            </a:r>
          </a:p>
        </p:txBody>
      </p:sp>
      <p:sp>
        <p:nvSpPr>
          <p:cNvPr id="25" name="Content Placeholder 2">
            <a:extLst>
              <a:ext uri="{FF2B5EF4-FFF2-40B4-BE49-F238E27FC236}">
                <a16:creationId xmlns:a16="http://schemas.microsoft.com/office/drawing/2014/main" id="{1754F248-EA38-4F55-ABB9-713DC3B02C99}"/>
              </a:ext>
            </a:extLst>
          </p:cNvPr>
          <p:cNvSpPr>
            <a:spLocks noGrp="1"/>
          </p:cNvSpPr>
          <p:nvPr>
            <p:ph idx="14"/>
          </p:nvPr>
        </p:nvSpPr>
        <p:spPr>
          <a:xfrm>
            <a:off x="6355061" y="1707417"/>
            <a:ext cx="5202530" cy="1693752"/>
          </a:xfrm>
          <a:prstGeom prst="rect">
            <a:avLst/>
          </a:prstGeom>
        </p:spPr>
        <p:txBody>
          <a:bodyPr/>
          <a:lstStyle>
            <a:lvl1pPr marL="0" indent="0">
              <a:buNone/>
              <a:defRPr/>
            </a:lvl1pPr>
          </a:lstStyle>
          <a:p>
            <a:pPr lvl="0"/>
            <a:r>
              <a:rPr lang="en-US"/>
              <a:t>Edit Master text styles</a:t>
            </a:r>
          </a:p>
        </p:txBody>
      </p:sp>
      <p:sp>
        <p:nvSpPr>
          <p:cNvPr id="17" name="Content Placeholder 2">
            <a:extLst>
              <a:ext uri="{FF2B5EF4-FFF2-40B4-BE49-F238E27FC236}">
                <a16:creationId xmlns:a16="http://schemas.microsoft.com/office/drawing/2014/main" id="{B1BD9E1F-BF43-4CB8-98E4-1CDB20903A25}"/>
              </a:ext>
            </a:extLst>
          </p:cNvPr>
          <p:cNvSpPr>
            <a:spLocks noGrp="1"/>
          </p:cNvSpPr>
          <p:nvPr>
            <p:ph idx="15"/>
          </p:nvPr>
        </p:nvSpPr>
        <p:spPr>
          <a:xfrm>
            <a:off x="301926" y="3707480"/>
            <a:ext cx="5202530" cy="1693752"/>
          </a:xfrm>
          <a:prstGeom prst="rect">
            <a:avLst/>
          </a:prstGeom>
        </p:spPr>
        <p:txBody>
          <a:bodyPr/>
          <a:lstStyle>
            <a:lvl1pPr marL="0" indent="0">
              <a:buNone/>
              <a:defRPr/>
            </a:lvl1pPr>
          </a:lstStyle>
          <a:p>
            <a:pPr lvl="0"/>
            <a:r>
              <a:rPr lang="en-US"/>
              <a:t>Edit Master text styles</a:t>
            </a:r>
          </a:p>
        </p:txBody>
      </p:sp>
      <p:sp>
        <p:nvSpPr>
          <p:cNvPr id="18" name="Content Placeholder 2">
            <a:extLst>
              <a:ext uri="{FF2B5EF4-FFF2-40B4-BE49-F238E27FC236}">
                <a16:creationId xmlns:a16="http://schemas.microsoft.com/office/drawing/2014/main" id="{4D770076-8B1C-47F5-95F9-75132EB63E53}"/>
              </a:ext>
            </a:extLst>
          </p:cNvPr>
          <p:cNvSpPr>
            <a:spLocks noGrp="1"/>
          </p:cNvSpPr>
          <p:nvPr>
            <p:ph idx="16"/>
          </p:nvPr>
        </p:nvSpPr>
        <p:spPr>
          <a:xfrm>
            <a:off x="6355061" y="3707480"/>
            <a:ext cx="5202530" cy="1693752"/>
          </a:xfrm>
          <a:prstGeom prst="rect">
            <a:avLst/>
          </a:prstGeo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596616636"/>
      </p:ext>
    </p:extLst>
  </p:cSld>
  <p:clrMapOvr>
    <a:masterClrMapping/>
  </p:clrMapOvr>
  <p:transition spd="slow">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Matrix 1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6" y="365127"/>
            <a:ext cx="11051875" cy="1325563"/>
          </a:xfrm>
          <a:prstGeom prst="rect">
            <a:avLst/>
          </a:prstGeo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pic>
        <p:nvPicPr>
          <p:cNvPr id="15" name="Picture 14" descr="A picture containing sky, building, water, outdoor&#10;&#10;Description generated with high confidence">
            <a:extLst>
              <a:ext uri="{FF2B5EF4-FFF2-40B4-BE49-F238E27FC236}">
                <a16:creationId xmlns:a16="http://schemas.microsoft.com/office/drawing/2014/main" id="{7C40013B-51CD-405D-9936-7ED2F63C50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9834" b="17203"/>
          <a:stretch/>
        </p:blipFill>
        <p:spPr>
          <a:xfrm>
            <a:off x="1" y="1276596"/>
            <a:ext cx="12191999" cy="4359216"/>
          </a:xfrm>
          <a:prstGeom prst="rect">
            <a:avLst/>
          </a:prstGeom>
        </p:spPr>
      </p:pic>
      <p:sp>
        <p:nvSpPr>
          <p:cNvPr id="13" name="Rectangle 12">
            <a:extLst>
              <a:ext uri="{FF2B5EF4-FFF2-40B4-BE49-F238E27FC236}">
                <a16:creationId xmlns:a16="http://schemas.microsoft.com/office/drawing/2014/main" id="{E2399398-1B55-40C3-BC2E-20036CF27898}"/>
              </a:ext>
            </a:extLst>
          </p:cNvPr>
          <p:cNvSpPr/>
          <p:nvPr userDrawn="1"/>
        </p:nvSpPr>
        <p:spPr>
          <a:xfrm>
            <a:off x="1" y="1264725"/>
            <a:ext cx="12191999" cy="4371089"/>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16" name="Content Placeholder 2">
            <a:extLst>
              <a:ext uri="{FF2B5EF4-FFF2-40B4-BE49-F238E27FC236}">
                <a16:creationId xmlns:a16="http://schemas.microsoft.com/office/drawing/2014/main" id="{58DDB5D5-3B50-4031-99CE-4763A745DED6}"/>
              </a:ext>
            </a:extLst>
          </p:cNvPr>
          <p:cNvSpPr>
            <a:spLocks noGrp="1"/>
          </p:cNvSpPr>
          <p:nvPr>
            <p:ph idx="13"/>
          </p:nvPr>
        </p:nvSpPr>
        <p:spPr>
          <a:xfrm>
            <a:off x="301926" y="1707417"/>
            <a:ext cx="2600760" cy="3586478"/>
          </a:xfrm>
          <a:prstGeom prst="rect">
            <a:avLst/>
          </a:prstGeom>
        </p:spPr>
        <p:txBody>
          <a:bodyPr/>
          <a:lstStyle>
            <a:lvl1pPr marL="0" indent="0">
              <a:buNone/>
              <a:defRPr>
                <a:solidFill>
                  <a:schemeClr val="tx1"/>
                </a:solidFill>
              </a:defRPr>
            </a:lvl1pPr>
          </a:lstStyle>
          <a:p>
            <a:pPr lvl="0"/>
            <a:r>
              <a:rPr lang="en-US"/>
              <a:t>Edit Master text styles</a:t>
            </a:r>
          </a:p>
        </p:txBody>
      </p:sp>
      <p:cxnSp>
        <p:nvCxnSpPr>
          <p:cNvPr id="10" name="Straight Connector 9">
            <a:extLst>
              <a:ext uri="{FF2B5EF4-FFF2-40B4-BE49-F238E27FC236}">
                <a16:creationId xmlns:a16="http://schemas.microsoft.com/office/drawing/2014/main" id="{6A942513-2C9C-4556-BE09-03B2979E2FE0}"/>
              </a:ext>
            </a:extLst>
          </p:cNvPr>
          <p:cNvCxnSpPr/>
          <p:nvPr userDrawn="1"/>
        </p:nvCxnSpPr>
        <p:spPr>
          <a:xfrm>
            <a:off x="3040164" y="1690688"/>
            <a:ext cx="0" cy="32813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2DB8EBA-484C-407E-ACAB-7D142A3AFAE0}"/>
              </a:ext>
            </a:extLst>
          </p:cNvPr>
          <p:cNvCxnSpPr/>
          <p:nvPr userDrawn="1"/>
        </p:nvCxnSpPr>
        <p:spPr>
          <a:xfrm>
            <a:off x="6087410" y="1690688"/>
            <a:ext cx="0" cy="32813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B50D76-29AB-4A3A-8398-2718C45C2090}"/>
              </a:ext>
            </a:extLst>
          </p:cNvPr>
          <p:cNvCxnSpPr/>
          <p:nvPr userDrawn="1"/>
        </p:nvCxnSpPr>
        <p:spPr>
          <a:xfrm>
            <a:off x="9142341" y="1690688"/>
            <a:ext cx="0" cy="32813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D373FB94-7B7D-4449-B34B-CD64A6B8B703}"/>
              </a:ext>
            </a:extLst>
          </p:cNvPr>
          <p:cNvSpPr>
            <a:spLocks noGrp="1"/>
          </p:cNvSpPr>
          <p:nvPr>
            <p:ph idx="14"/>
          </p:nvPr>
        </p:nvSpPr>
        <p:spPr>
          <a:xfrm>
            <a:off x="3292001" y="1707416"/>
            <a:ext cx="2600760" cy="3586477"/>
          </a:xfrm>
          <a:prstGeom prst="rect">
            <a:avLst/>
          </a:prstGeom>
        </p:spPr>
        <p:txBody>
          <a:bodyPr/>
          <a:lstStyle>
            <a:lvl1pPr marL="0" indent="0">
              <a:buNone/>
              <a:defRPr>
                <a:solidFill>
                  <a:schemeClr val="tx1"/>
                </a:solidFill>
              </a:defRPr>
            </a:lvl1pPr>
          </a:lstStyle>
          <a:p>
            <a:pPr lvl="0"/>
            <a:r>
              <a:rPr lang="en-US"/>
              <a:t>Edit Master text styles</a:t>
            </a:r>
          </a:p>
        </p:txBody>
      </p:sp>
      <p:sp>
        <p:nvSpPr>
          <p:cNvPr id="26" name="Content Placeholder 2">
            <a:extLst>
              <a:ext uri="{FF2B5EF4-FFF2-40B4-BE49-F238E27FC236}">
                <a16:creationId xmlns:a16="http://schemas.microsoft.com/office/drawing/2014/main" id="{AE1F53E6-33F7-49FA-8888-5EA614DFEABA}"/>
              </a:ext>
            </a:extLst>
          </p:cNvPr>
          <p:cNvSpPr>
            <a:spLocks noGrp="1"/>
          </p:cNvSpPr>
          <p:nvPr>
            <p:ph idx="15"/>
          </p:nvPr>
        </p:nvSpPr>
        <p:spPr>
          <a:xfrm>
            <a:off x="6346930" y="1707417"/>
            <a:ext cx="2600760" cy="3586476"/>
          </a:xfrm>
          <a:prstGeom prst="rect">
            <a:avLst/>
          </a:prstGeom>
        </p:spPr>
        <p:txBody>
          <a:bodyPr/>
          <a:lstStyle>
            <a:lvl1pPr marL="0" indent="0">
              <a:buNone/>
              <a:defRPr>
                <a:solidFill>
                  <a:schemeClr val="tx1"/>
                </a:solidFill>
              </a:defRPr>
            </a:lvl1pPr>
          </a:lstStyle>
          <a:p>
            <a:pPr lvl="0"/>
            <a:r>
              <a:rPr lang="en-US"/>
              <a:t>Edit Master text styles</a:t>
            </a:r>
          </a:p>
        </p:txBody>
      </p:sp>
      <p:sp>
        <p:nvSpPr>
          <p:cNvPr id="27" name="Content Placeholder 2">
            <a:extLst>
              <a:ext uri="{FF2B5EF4-FFF2-40B4-BE49-F238E27FC236}">
                <a16:creationId xmlns:a16="http://schemas.microsoft.com/office/drawing/2014/main" id="{0EA07414-8AF2-4D7D-AA93-706E0E85BF34}"/>
              </a:ext>
            </a:extLst>
          </p:cNvPr>
          <p:cNvSpPr>
            <a:spLocks noGrp="1"/>
          </p:cNvSpPr>
          <p:nvPr>
            <p:ph idx="16"/>
          </p:nvPr>
        </p:nvSpPr>
        <p:spPr>
          <a:xfrm>
            <a:off x="9396588" y="1707416"/>
            <a:ext cx="2600760" cy="3586475"/>
          </a:xfrm>
          <a:prstGeom prst="rect">
            <a:avLst/>
          </a:prstGeom>
        </p:spPr>
        <p:txBody>
          <a:bodyPr/>
          <a:lstStyle>
            <a:lvl1pPr marL="0" indent="0">
              <a:buNone/>
              <a:defRPr>
                <a:solidFill>
                  <a:schemeClr val="tx1"/>
                </a:solidFill>
              </a:defRPr>
            </a:lvl1pPr>
          </a:lstStyle>
          <a:p>
            <a:pPr lvl="0"/>
            <a:r>
              <a:rPr lang="en-US"/>
              <a:t>Edit Master text styles</a:t>
            </a:r>
          </a:p>
        </p:txBody>
      </p:sp>
    </p:spTree>
    <p:extLst>
      <p:ext uri="{BB962C8B-B14F-4D97-AF65-F5344CB8AC3E}">
        <p14:creationId xmlns:p14="http://schemas.microsoft.com/office/powerpoint/2010/main" val="2303249745"/>
      </p:ext>
    </p:extLst>
  </p:cSld>
  <p:clrMapOvr>
    <a:masterClrMapping/>
  </p:clrMapOvr>
  <p:transition spd="slow">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7D59D-DDFE-449F-B235-B8F5451C5C7C}"/>
              </a:ext>
            </a:extLst>
          </p:cNvPr>
          <p:cNvSpPr>
            <a:spLocks noGrp="1"/>
          </p:cNvSpPr>
          <p:nvPr>
            <p:ph type="title"/>
          </p:nvPr>
        </p:nvSpPr>
        <p:spPr>
          <a:xfrm>
            <a:off x="301752" y="365127"/>
            <a:ext cx="10887974" cy="1325563"/>
          </a:xfrm>
          <a:prstGeom prst="rect">
            <a:avLst/>
          </a:prstGeom>
        </p:spPr>
        <p:txBody>
          <a:bodyPr/>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B00F5C45-CC3D-4A69-8E86-8B0E1EC76A62}"/>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4" name="Footer Placeholder 3">
            <a:extLst>
              <a:ext uri="{FF2B5EF4-FFF2-40B4-BE49-F238E27FC236}">
                <a16:creationId xmlns:a16="http://schemas.microsoft.com/office/drawing/2014/main" id="{87102589-F94C-40F1-83C6-080D94E2247D}"/>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Slide Number Placeholder 4">
            <a:extLst>
              <a:ext uri="{FF2B5EF4-FFF2-40B4-BE49-F238E27FC236}">
                <a16:creationId xmlns:a16="http://schemas.microsoft.com/office/drawing/2014/main" id="{1E0B2980-9702-4C6B-A208-B264C7BBFC92}"/>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557765087"/>
      </p:ext>
    </p:extLst>
  </p:cSld>
  <p:clrMapOvr>
    <a:masterClrMapping/>
  </p:clrMapOvr>
  <p:transition spd="slow">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0FC51-7624-4C80-A2BA-A8888AC1EF18}"/>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3" name="Footer Placeholder 2">
            <a:extLst>
              <a:ext uri="{FF2B5EF4-FFF2-40B4-BE49-F238E27FC236}">
                <a16:creationId xmlns:a16="http://schemas.microsoft.com/office/drawing/2014/main" id="{5CBB1C05-C780-413A-90CA-1C3B700CB1B5}"/>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4" name="Slide Number Placeholder 3">
            <a:extLst>
              <a:ext uri="{FF2B5EF4-FFF2-40B4-BE49-F238E27FC236}">
                <a16:creationId xmlns:a16="http://schemas.microsoft.com/office/drawing/2014/main" id="{07F1DB59-5CDC-47E1-AB90-5F0A7488E08D}"/>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678940714"/>
      </p:ext>
    </p:extLst>
  </p:cSld>
  <p:clrMapOvr>
    <a:masterClrMapping/>
  </p:clrMapOvr>
  <p:transition spd="slow">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0B23-836E-4110-9804-4C9592C0E5E0}"/>
              </a:ext>
            </a:extLst>
          </p:cNvPr>
          <p:cNvSpPr>
            <a:spLocks noGrp="1"/>
          </p:cNvSpPr>
          <p:nvPr>
            <p:ph type="title"/>
          </p:nvPr>
        </p:nvSpPr>
        <p:spPr>
          <a:xfrm>
            <a:off x="839789" y="457200"/>
            <a:ext cx="3932237" cy="1600200"/>
          </a:xfrm>
          <a:prstGeom prst="rect">
            <a:avLst/>
          </a:prstGeom>
        </p:spPr>
        <p:txBody>
          <a:bodyPr anchor="b"/>
          <a:lstStyle>
            <a:lvl1pPr>
              <a:defRPr sz="3199" b="0">
                <a:latin typeface="Franklin Gothic Demi" panose="020B07030201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C7384199-8D8C-441F-893B-EC2B6E6EC7D2}"/>
              </a:ext>
            </a:extLst>
          </p:cNvPr>
          <p:cNvSpPr>
            <a:spLocks noGrp="1"/>
          </p:cNvSpPr>
          <p:nvPr>
            <p:ph idx="1"/>
          </p:nvPr>
        </p:nvSpPr>
        <p:spPr>
          <a:xfrm>
            <a:off x="5183188" y="987427"/>
            <a:ext cx="6172200" cy="4873625"/>
          </a:xfrm>
          <a:prstGeom prst="rect">
            <a:avLst/>
          </a:prstGeo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892706-05B8-49FA-8969-C49999619D2C}"/>
              </a:ext>
            </a:extLst>
          </p:cNvPr>
          <p:cNvSpPr>
            <a:spLocks noGrp="1"/>
          </p:cNvSpPr>
          <p:nvPr>
            <p:ph type="body" sz="half" idx="2"/>
          </p:nvPr>
        </p:nvSpPr>
        <p:spPr>
          <a:xfrm>
            <a:off x="839789" y="2057400"/>
            <a:ext cx="3932237" cy="3811588"/>
          </a:xfrm>
          <a:prstGeom prst="rect">
            <a:avLst/>
          </a:prstGeo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0E762F6-F964-4B34-BB7C-409631973DB1}"/>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Footer Placeholder 5">
            <a:extLst>
              <a:ext uri="{FF2B5EF4-FFF2-40B4-BE49-F238E27FC236}">
                <a16:creationId xmlns:a16="http://schemas.microsoft.com/office/drawing/2014/main" id="{DE8C797D-545C-4AE2-8C86-6AFD1DECF806}"/>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7" name="Slide Number Placeholder 6">
            <a:extLst>
              <a:ext uri="{FF2B5EF4-FFF2-40B4-BE49-F238E27FC236}">
                <a16:creationId xmlns:a16="http://schemas.microsoft.com/office/drawing/2014/main" id="{D311CA0C-9F41-473B-AD32-35B845D17F86}"/>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1287367727"/>
      </p:ext>
    </p:extLst>
  </p:cSld>
  <p:clrMapOvr>
    <a:masterClrMapping/>
  </p:clrMapOvr>
  <p:transition spd="slow">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020D2-D199-4642-91C3-C92BB845ABEE}"/>
              </a:ext>
            </a:extLst>
          </p:cNvPr>
          <p:cNvSpPr>
            <a:spLocks noGrp="1"/>
          </p:cNvSpPr>
          <p:nvPr>
            <p:ph type="title"/>
          </p:nvPr>
        </p:nvSpPr>
        <p:spPr>
          <a:xfrm>
            <a:off x="839789" y="457200"/>
            <a:ext cx="3932237" cy="1600200"/>
          </a:xfrm>
          <a:prstGeom prst="rect">
            <a:avLst/>
          </a:prstGeom>
        </p:spPr>
        <p:txBody>
          <a:bodyPr anchor="b"/>
          <a:lstStyle>
            <a:lvl1pPr>
              <a:defRPr sz="3199" b="0">
                <a:latin typeface="Franklin Gothic Demi" panose="020B07030201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E492EE43-E4B1-4A20-B94A-198840A22831}"/>
              </a:ext>
            </a:extLst>
          </p:cNvPr>
          <p:cNvSpPr>
            <a:spLocks noGrp="1"/>
          </p:cNvSpPr>
          <p:nvPr>
            <p:ph type="pic" idx="1"/>
          </p:nvPr>
        </p:nvSpPr>
        <p:spPr>
          <a:xfrm>
            <a:off x="5183188" y="987427"/>
            <a:ext cx="6172200" cy="4873625"/>
          </a:xfrm>
          <a:prstGeom prst="rect">
            <a:avLst/>
          </a:prstGeom>
        </p:spPr>
        <p:txBody>
          <a:bodyPr/>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dirty="0"/>
              <a:t>Click icon to add picture</a:t>
            </a:r>
          </a:p>
        </p:txBody>
      </p:sp>
      <p:sp>
        <p:nvSpPr>
          <p:cNvPr id="4" name="Text Placeholder 3">
            <a:extLst>
              <a:ext uri="{FF2B5EF4-FFF2-40B4-BE49-F238E27FC236}">
                <a16:creationId xmlns:a16="http://schemas.microsoft.com/office/drawing/2014/main" id="{08E9556E-4666-4752-96AC-BC16E0DDD14D}"/>
              </a:ext>
            </a:extLst>
          </p:cNvPr>
          <p:cNvSpPr>
            <a:spLocks noGrp="1"/>
          </p:cNvSpPr>
          <p:nvPr>
            <p:ph type="body" sz="half" idx="2"/>
          </p:nvPr>
        </p:nvSpPr>
        <p:spPr>
          <a:xfrm>
            <a:off x="839789" y="2057400"/>
            <a:ext cx="3932237" cy="3811588"/>
          </a:xfrm>
          <a:prstGeom prst="rect">
            <a:avLst/>
          </a:prstGeo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2FCD147-378B-443E-B4F3-BCBF73C660E8}"/>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Footer Placeholder 5">
            <a:extLst>
              <a:ext uri="{FF2B5EF4-FFF2-40B4-BE49-F238E27FC236}">
                <a16:creationId xmlns:a16="http://schemas.microsoft.com/office/drawing/2014/main" id="{A1302E32-7D2B-4756-96F2-2E76F83EAC18}"/>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7" name="Slide Number Placeholder 6">
            <a:extLst>
              <a:ext uri="{FF2B5EF4-FFF2-40B4-BE49-F238E27FC236}">
                <a16:creationId xmlns:a16="http://schemas.microsoft.com/office/drawing/2014/main" id="{0C38E172-5DD9-4030-B21E-2B24FF744838}"/>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1683532034"/>
      </p:ext>
    </p:extLst>
  </p:cSld>
  <p:clrMapOvr>
    <a:masterClrMapping/>
  </p:clrMapOvr>
  <p:transition spd="slow">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F3D9C-7AC9-494F-ABC8-D78F40AE3BCB}"/>
              </a:ext>
            </a:extLst>
          </p:cNvPr>
          <p:cNvSpPr>
            <a:spLocks noGrp="1"/>
          </p:cNvSpPr>
          <p:nvPr>
            <p:ph type="title"/>
          </p:nvPr>
        </p:nvSpPr>
        <p:spPr>
          <a:xfrm>
            <a:off x="565638" y="365127"/>
            <a:ext cx="10788162" cy="1325563"/>
          </a:xfrm>
          <a:prstGeom prst="rect">
            <a:avLst/>
          </a:prstGeom>
        </p:spPr>
        <p:txBody>
          <a:bodyPr/>
          <a:lstStyle>
            <a:lvl1pPr>
              <a:defRPr b="0">
                <a:latin typeface="Franklin Gothic Demi" panose="020B0703020102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6E438CE0-D5E6-4BCE-BC43-3D23FF859BE1}"/>
              </a:ext>
            </a:extLst>
          </p:cNvPr>
          <p:cNvSpPr>
            <a:spLocks noGrp="1"/>
          </p:cNvSpPr>
          <p:nvPr>
            <p:ph type="body" orient="vert" idx="1"/>
          </p:nvPr>
        </p:nvSpPr>
        <p:spPr>
          <a:xfrm>
            <a:off x="565638" y="1825625"/>
            <a:ext cx="10788162"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4E5594-78B3-439D-83D9-2733754E9BA6}"/>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B6FC0BA3-0ADF-4E00-A70C-5FED2D085152}"/>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411AC8C6-B9D8-4255-820A-C441BD0280E6}"/>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3274485298"/>
      </p:ext>
    </p:extLst>
  </p:cSld>
  <p:clrMapOvr>
    <a:masterClrMapping/>
  </p:clrMapOvr>
  <p:transition spd="slow">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9F7FAB-20BA-4577-B903-6692436E84B6}"/>
              </a:ext>
            </a:extLst>
          </p:cNvPr>
          <p:cNvSpPr>
            <a:spLocks noGrp="1"/>
          </p:cNvSpPr>
          <p:nvPr>
            <p:ph type="title" orient="vert"/>
          </p:nvPr>
        </p:nvSpPr>
        <p:spPr>
          <a:xfrm>
            <a:off x="8724900" y="365125"/>
            <a:ext cx="2628900" cy="5811838"/>
          </a:xfrm>
          <a:prstGeom prst="rect">
            <a:avLst/>
          </a:prstGeom>
        </p:spPr>
        <p:txBody>
          <a:bodyPr vert="eaVert"/>
          <a:lstStyle>
            <a:lvl1pPr>
              <a:defRPr b="0">
                <a:latin typeface="Franklin Gothic Demi" panose="020B0703020102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C3E3D1CB-B486-4AEF-B6D2-4B83109BAF6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EA647F-8B5F-4D2F-BA54-6D9E47CFAAC6}"/>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DE72A51B-5CCE-4B68-B679-3ED0C5222075}"/>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1932A5CE-9806-46B1-B9BB-51372DCAA0FC}"/>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3195759494"/>
      </p:ext>
    </p:extLst>
  </p:cSld>
  <p:clrMapOvr>
    <a:masterClrMapping/>
  </p:clrMapOvr>
  <p:transition spd="slow">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Full 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9D9D96-CF3D-4F16-B5D5-4C8FDE0D06C5}"/>
              </a:ext>
            </a:extLst>
          </p:cNvPr>
          <p:cNvSpPr/>
          <p:nvPr userDrawn="1"/>
        </p:nvSpPr>
        <p:spPr>
          <a:xfrm>
            <a:off x="1" y="5011948"/>
            <a:ext cx="12192000" cy="1846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Tree>
    <p:extLst>
      <p:ext uri="{BB962C8B-B14F-4D97-AF65-F5344CB8AC3E}">
        <p14:creationId xmlns:p14="http://schemas.microsoft.com/office/powerpoint/2010/main" val="3717188539"/>
      </p:ext>
    </p:extLst>
  </p:cSld>
  <p:clrMapOvr>
    <a:masterClrMapping/>
  </p:clrMapOvr>
  <p:transition spd="slow">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ue BG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F580AE-B20A-45F1-BB37-69FB5F7C8444}"/>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05B04D18-7FDF-4632-8E69-382059BACEF7}"/>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419A73CF-836D-4368-8AA4-C3A06C44B17A}"/>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7" name="Rectangle 6">
            <a:extLst>
              <a:ext uri="{FF2B5EF4-FFF2-40B4-BE49-F238E27FC236}">
                <a16:creationId xmlns:a16="http://schemas.microsoft.com/office/drawing/2014/main" id="{9921DFA1-7FED-4C05-A3D4-9D34DE1E740F}"/>
              </a:ext>
            </a:extLst>
          </p:cNvPr>
          <p:cNvSpPr/>
          <p:nvPr userDrawn="1"/>
        </p:nvSpPr>
        <p:spPr>
          <a:xfrm>
            <a:off x="0" y="0"/>
            <a:ext cx="12192000" cy="56088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Tree>
    <p:extLst>
      <p:ext uri="{BB962C8B-B14F-4D97-AF65-F5344CB8AC3E}">
        <p14:creationId xmlns:p14="http://schemas.microsoft.com/office/powerpoint/2010/main" val="3658719455"/>
      </p:ext>
    </p:extLst>
  </p:cSld>
  <p:clrMapOvr>
    <a:masterClrMapping/>
  </p:clrMapOvr>
  <p:transition spd="slow">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Blue BG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F580AE-B20A-45F1-BB37-69FB5F7C8444}"/>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05B04D18-7FDF-4632-8E69-382059BACEF7}"/>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419A73CF-836D-4368-8AA4-C3A06C44B17A}"/>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7" name="Rectangle 6">
            <a:extLst>
              <a:ext uri="{FF2B5EF4-FFF2-40B4-BE49-F238E27FC236}">
                <a16:creationId xmlns:a16="http://schemas.microsoft.com/office/drawing/2014/main" id="{9921DFA1-7FED-4C05-A3D4-9D34DE1E740F}"/>
              </a:ext>
            </a:extLst>
          </p:cNvPr>
          <p:cNvSpPr/>
          <p:nvPr userDrawn="1"/>
        </p:nvSpPr>
        <p:spPr>
          <a:xfrm>
            <a:off x="0" y="0"/>
            <a:ext cx="12192000" cy="56088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2" name="Rectangle 1">
            <a:extLst>
              <a:ext uri="{FF2B5EF4-FFF2-40B4-BE49-F238E27FC236}">
                <a16:creationId xmlns:a16="http://schemas.microsoft.com/office/drawing/2014/main" id="{6E50AB24-423E-4CFC-859C-F60861118C6C}"/>
              </a:ext>
            </a:extLst>
          </p:cNvPr>
          <p:cNvSpPr/>
          <p:nvPr userDrawn="1"/>
        </p:nvSpPr>
        <p:spPr>
          <a:xfrm>
            <a:off x="5986819" y="0"/>
            <a:ext cx="6205182" cy="56088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8" name="Title 1">
            <a:extLst>
              <a:ext uri="{FF2B5EF4-FFF2-40B4-BE49-F238E27FC236}">
                <a16:creationId xmlns:a16="http://schemas.microsoft.com/office/drawing/2014/main" id="{CEE09239-0533-4628-8E61-5ADD6DBA6807}"/>
              </a:ext>
            </a:extLst>
          </p:cNvPr>
          <p:cNvSpPr>
            <a:spLocks noGrp="1"/>
          </p:cNvSpPr>
          <p:nvPr>
            <p:ph type="title"/>
          </p:nvPr>
        </p:nvSpPr>
        <p:spPr>
          <a:xfrm>
            <a:off x="301752" y="365127"/>
            <a:ext cx="5427716" cy="1325563"/>
          </a:xfrm>
          <a:prstGeom prst="rect">
            <a:avLst/>
          </a:prstGeom>
        </p:spPr>
        <p:txBody>
          <a:bodyPr/>
          <a:lstStyle>
            <a:lvl1pPr>
              <a:defRPr b="0">
                <a:solidFill>
                  <a:schemeClr val="bg1"/>
                </a:solidFill>
                <a:latin typeface="Franklin Gothic Demi" panose="020B0703020102020204" pitchFamily="34" charset="0"/>
              </a:defRPr>
            </a:lvl1pPr>
          </a:lstStyle>
          <a:p>
            <a:r>
              <a:rPr lang="en-US"/>
              <a:t>Click to edit Master title style</a:t>
            </a:r>
          </a:p>
        </p:txBody>
      </p:sp>
    </p:spTree>
    <p:extLst>
      <p:ext uri="{BB962C8B-B14F-4D97-AF65-F5344CB8AC3E}">
        <p14:creationId xmlns:p14="http://schemas.microsoft.com/office/powerpoint/2010/main" val="3616313707"/>
      </p:ext>
    </p:extLst>
  </p:cSld>
  <p:clrMapOvr>
    <a:masterClrMapping/>
  </p:clrMapOvr>
  <p:transition spd="slow">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Blue BG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F580AE-B20A-45F1-BB37-69FB5F7C8444}"/>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05B04D18-7FDF-4632-8E69-382059BACEF7}"/>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419A73CF-836D-4368-8AA4-C3A06C44B17A}"/>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
        <p:nvSpPr>
          <p:cNvPr id="7" name="Rectangle 6">
            <a:extLst>
              <a:ext uri="{FF2B5EF4-FFF2-40B4-BE49-F238E27FC236}">
                <a16:creationId xmlns:a16="http://schemas.microsoft.com/office/drawing/2014/main" id="{9921DFA1-7FED-4C05-A3D4-9D34DE1E740F}"/>
              </a:ext>
            </a:extLst>
          </p:cNvPr>
          <p:cNvSpPr/>
          <p:nvPr userDrawn="1"/>
        </p:nvSpPr>
        <p:spPr>
          <a:xfrm>
            <a:off x="0" y="0"/>
            <a:ext cx="12192000" cy="5608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2" name="Rectangle 1">
            <a:extLst>
              <a:ext uri="{FF2B5EF4-FFF2-40B4-BE49-F238E27FC236}">
                <a16:creationId xmlns:a16="http://schemas.microsoft.com/office/drawing/2014/main" id="{6E50AB24-423E-4CFC-859C-F60861118C6C}"/>
              </a:ext>
            </a:extLst>
          </p:cNvPr>
          <p:cNvSpPr/>
          <p:nvPr userDrawn="1"/>
        </p:nvSpPr>
        <p:spPr>
          <a:xfrm>
            <a:off x="5986819" y="0"/>
            <a:ext cx="6205182" cy="56088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8" name="Title 1">
            <a:extLst>
              <a:ext uri="{FF2B5EF4-FFF2-40B4-BE49-F238E27FC236}">
                <a16:creationId xmlns:a16="http://schemas.microsoft.com/office/drawing/2014/main" id="{86A95E5B-C4DF-46B4-96AB-735FB6AF82BD}"/>
              </a:ext>
            </a:extLst>
          </p:cNvPr>
          <p:cNvSpPr>
            <a:spLocks noGrp="1"/>
          </p:cNvSpPr>
          <p:nvPr>
            <p:ph type="title"/>
          </p:nvPr>
        </p:nvSpPr>
        <p:spPr>
          <a:xfrm>
            <a:off x="301752" y="365127"/>
            <a:ext cx="5292678" cy="1325563"/>
          </a:xfrm>
          <a:prstGeom prst="rect">
            <a:avLst/>
          </a:prstGeom>
        </p:spPr>
        <p:txBody>
          <a:bodyPr/>
          <a:lstStyle>
            <a:lvl1pPr>
              <a:defRPr b="0">
                <a:solidFill>
                  <a:schemeClr val="accent3"/>
                </a:solidFill>
                <a:latin typeface="Franklin Gothic Demi" panose="020B0703020102020204" pitchFamily="34" charset="0"/>
              </a:defRPr>
            </a:lvl1pPr>
          </a:lstStyle>
          <a:p>
            <a:r>
              <a:rPr lang="en-US"/>
              <a:t>Click to edit Master title style</a:t>
            </a:r>
          </a:p>
        </p:txBody>
      </p:sp>
    </p:spTree>
    <p:extLst>
      <p:ext uri="{BB962C8B-B14F-4D97-AF65-F5344CB8AC3E}">
        <p14:creationId xmlns:p14="http://schemas.microsoft.com/office/powerpoint/2010/main" val="3817185445"/>
      </p:ext>
    </p:extLst>
  </p:cSld>
  <p:clrMapOvr>
    <a:masterClrMapping/>
  </p:clrMapOvr>
  <p:transition spd="slow">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Intro - Blue">
    <p:spTree>
      <p:nvGrpSpPr>
        <p:cNvPr id="1" name=""/>
        <p:cNvGrpSpPr/>
        <p:nvPr/>
      </p:nvGrpSpPr>
      <p:grpSpPr>
        <a:xfrm>
          <a:off x="0" y="0"/>
          <a:ext cx="0" cy="0"/>
          <a:chOff x="0" y="0"/>
          <a:chExt cx="0" cy="0"/>
        </a:xfrm>
      </p:grpSpPr>
      <p:sp>
        <p:nvSpPr>
          <p:cNvPr id="6" name="Rectangle 5"/>
          <p:cNvSpPr/>
          <p:nvPr userDrawn="1"/>
        </p:nvSpPr>
        <p:spPr>
          <a:xfrm>
            <a:off x="2" y="-8021"/>
            <a:ext cx="12192000" cy="5333470"/>
          </a:xfrm>
          <a:prstGeom prst="rect">
            <a:avLst/>
          </a:prstGeom>
          <a:solidFill>
            <a:srgbClr val="1D2B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91416" rIns="91416" bIns="91416" numCol="1" spcCol="0" rtlCol="0" fromWordArt="0" anchor="b" anchorCtr="0" forceAA="0" compatLnSpc="1">
            <a:prstTxWarp prst="textNoShape">
              <a:avLst/>
            </a:prstTxWarp>
            <a:noAutofit/>
          </a:bodyPr>
          <a:lstStyle/>
          <a:p>
            <a:pPr marL="0" marR="0" lvl="0" indent="0" algn="r" defTabSz="91412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3" name="Subtitle 2"/>
          <p:cNvSpPr>
            <a:spLocks noGrp="1"/>
          </p:cNvSpPr>
          <p:nvPr>
            <p:ph type="subTitle" idx="1"/>
          </p:nvPr>
        </p:nvSpPr>
        <p:spPr>
          <a:xfrm>
            <a:off x="366237" y="3116652"/>
            <a:ext cx="6939552" cy="1090993"/>
          </a:xfrm>
          <a:prstGeom prst="rect">
            <a:avLst/>
          </a:prstGeom>
          <a:noFill/>
        </p:spPr>
        <p:txBody>
          <a:bodyPr lIns="114268" tIns="152357" rIns="76171" bIns="76171">
            <a:noAutofit/>
          </a:bodyPr>
          <a:lstStyle>
            <a:lvl1pPr marL="0" indent="0" algn="l">
              <a:lnSpc>
                <a:spcPct val="80000"/>
              </a:lnSpc>
              <a:buNone/>
              <a:defRPr sz="2799" i="1">
                <a:solidFill>
                  <a:schemeClr val="accent1"/>
                </a:solidFill>
                <a:latin typeface="Arial Narrow" panose="020B0606020202030204" pitchFamily="34" charset="0"/>
                <a:ea typeface="Arial Narrow" panose="020B0606020202030204" pitchFamily="34" charset="0"/>
                <a:cs typeface="Segoe UI" pitchFamily="34" charset="0"/>
              </a:defRPr>
            </a:lvl1pPr>
            <a:lvl2pPr marL="543890" indent="0" algn="ctr">
              <a:buNone/>
              <a:defRPr>
                <a:solidFill>
                  <a:schemeClr val="tx1">
                    <a:tint val="75000"/>
                  </a:schemeClr>
                </a:solidFill>
              </a:defRPr>
            </a:lvl2pPr>
            <a:lvl3pPr marL="1087779" indent="0" algn="ctr">
              <a:buNone/>
              <a:defRPr>
                <a:solidFill>
                  <a:schemeClr val="tx1">
                    <a:tint val="75000"/>
                  </a:schemeClr>
                </a:solidFill>
              </a:defRPr>
            </a:lvl3pPr>
            <a:lvl4pPr marL="1631669" indent="0" algn="ctr">
              <a:buNone/>
              <a:defRPr>
                <a:solidFill>
                  <a:schemeClr val="tx1">
                    <a:tint val="75000"/>
                  </a:schemeClr>
                </a:solidFill>
              </a:defRPr>
            </a:lvl4pPr>
            <a:lvl5pPr marL="2175558" indent="0" algn="ctr">
              <a:buNone/>
              <a:defRPr>
                <a:solidFill>
                  <a:schemeClr val="tx1">
                    <a:tint val="75000"/>
                  </a:schemeClr>
                </a:solidFill>
              </a:defRPr>
            </a:lvl5pPr>
            <a:lvl6pPr marL="2719448" indent="0" algn="ctr">
              <a:buNone/>
              <a:defRPr>
                <a:solidFill>
                  <a:schemeClr val="tx1">
                    <a:tint val="75000"/>
                  </a:schemeClr>
                </a:solidFill>
              </a:defRPr>
            </a:lvl6pPr>
            <a:lvl7pPr marL="3263337" indent="0" algn="ctr">
              <a:buNone/>
              <a:defRPr>
                <a:solidFill>
                  <a:schemeClr val="tx1">
                    <a:tint val="75000"/>
                  </a:schemeClr>
                </a:solidFill>
              </a:defRPr>
            </a:lvl7pPr>
            <a:lvl8pPr marL="3807226" indent="0" algn="ctr">
              <a:buNone/>
              <a:defRPr>
                <a:solidFill>
                  <a:schemeClr val="tx1">
                    <a:tint val="75000"/>
                  </a:schemeClr>
                </a:solidFill>
              </a:defRPr>
            </a:lvl8pPr>
            <a:lvl9pPr marL="4351116"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ctrTitle"/>
          </p:nvPr>
        </p:nvSpPr>
        <p:spPr>
          <a:xfrm>
            <a:off x="366236" y="2125585"/>
            <a:ext cx="11475923" cy="980661"/>
          </a:xfrm>
          <a:prstGeom prst="rect">
            <a:avLst/>
          </a:prstGeom>
          <a:noFill/>
        </p:spPr>
        <p:txBody>
          <a:bodyPr lIns="114268" tIns="152357" rIns="76171" bIns="76171" anchor="t">
            <a:noAutofit/>
          </a:bodyPr>
          <a:lstStyle>
            <a:lvl1pPr algn="l">
              <a:lnSpc>
                <a:spcPct val="80000"/>
              </a:lnSpc>
              <a:defRPr sz="4399" b="1" baseline="0">
                <a:solidFill>
                  <a:srgbClr val="FFFFFF"/>
                </a:solidFill>
                <a:latin typeface="Franklin Gothic Book" panose="020B0503020102020204" pitchFamily="34" charset="0"/>
                <a:ea typeface="Franklin Gothic Book" panose="020B0503020102020204" pitchFamily="34" charset="0"/>
                <a:cs typeface="Segoe UI Light" panose="020B0502040204020203" pitchFamily="34" charset="0"/>
              </a:defRPr>
            </a:lvl1pPr>
          </a:lstStyle>
          <a:p>
            <a:r>
              <a:rPr lang="en-US"/>
              <a:t>Click to edit Master title style</a:t>
            </a:r>
          </a:p>
        </p:txBody>
      </p:sp>
      <p:sp>
        <p:nvSpPr>
          <p:cNvPr id="5" name="TextBox 4"/>
          <p:cNvSpPr txBox="1"/>
          <p:nvPr userDrawn="1"/>
        </p:nvSpPr>
        <p:spPr>
          <a:xfrm>
            <a:off x="355082" y="6411956"/>
            <a:ext cx="3814710" cy="334537"/>
          </a:xfrm>
          <a:prstGeom prst="rect">
            <a:avLst/>
          </a:prstGeom>
          <a:ln>
            <a:noFill/>
          </a:ln>
        </p:spPr>
        <p:txBody>
          <a:bodyPr vert="horz" wrap="square" lIns="91416" tIns="91416" rIns="91416" bIns="91416" rtlCol="0" anchor="t">
            <a:noAutofit/>
          </a:bodyPr>
          <a:lstStyle/>
          <a:p>
            <a:pPr marL="0" marR="0" lvl="0" indent="0" algn="l" defTabSz="914126" rtl="0" eaLnBrk="1" fontAlgn="auto" latinLnBrk="0" hangingPunct="1">
              <a:lnSpc>
                <a:spcPct val="100000"/>
              </a:lnSpc>
              <a:spcBef>
                <a:spcPts val="0"/>
              </a:spcBef>
              <a:spcAft>
                <a:spcPts val="0"/>
              </a:spcAft>
              <a:buClrTx/>
              <a:buSzTx/>
              <a:buFont typeface="Wingdings" pitchFamily="2" charset="2"/>
              <a:buNone/>
              <a:tabLst/>
              <a:defRPr/>
            </a:pPr>
            <a:r>
              <a:rPr kumimoji="0" lang="en-US" sz="1000" b="0" i="0" u="none" strike="noStrike" kern="1200" cap="none" spc="0" normalizeH="0" baseline="0" noProof="0" dirty="0">
                <a:ln>
                  <a:noFill/>
                </a:ln>
                <a:solidFill>
                  <a:srgbClr val="1D2B36">
                    <a:lumMod val="75000"/>
                    <a:lumOff val="25000"/>
                  </a:srgbClr>
                </a:solidFill>
                <a:effectLst/>
                <a:uLnTx/>
                <a:uFillTx/>
                <a:latin typeface="Arial Narrow" panose="020B0606020202030204" pitchFamily="34" charset="0"/>
                <a:ea typeface="Segoe UI" pitchFamily="34" charset="0"/>
                <a:cs typeface="Segoe UI" pitchFamily="34" charset="0"/>
              </a:rPr>
              <a:t>Community Reinvestment Fund, USA (CRF) is an equal opportunity provider</a:t>
            </a:r>
          </a:p>
        </p:txBody>
      </p:sp>
      <p:sp>
        <p:nvSpPr>
          <p:cNvPr id="4" name="Rectangle 3">
            <a:extLst>
              <a:ext uri="{FF2B5EF4-FFF2-40B4-BE49-F238E27FC236}">
                <a16:creationId xmlns:a16="http://schemas.microsoft.com/office/drawing/2014/main" id="{091F9749-499C-44A9-8E5E-7A23808C3921}"/>
              </a:ext>
            </a:extLst>
          </p:cNvPr>
          <p:cNvSpPr/>
          <p:nvPr userDrawn="1"/>
        </p:nvSpPr>
        <p:spPr>
          <a:xfrm>
            <a:off x="-1" y="5441674"/>
            <a:ext cx="12192001" cy="1416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pic>
        <p:nvPicPr>
          <p:cNvPr id="7" name="Picture 17">
            <a:extLst>
              <a:ext uri="{FF2B5EF4-FFF2-40B4-BE49-F238E27FC236}">
                <a16:creationId xmlns:a16="http://schemas.microsoft.com/office/drawing/2014/main" id="{CF140438-8E62-49B5-A130-FE7D32A52C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6141" y="5584509"/>
            <a:ext cx="1371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a:extLst>
              <a:ext uri="{FF2B5EF4-FFF2-40B4-BE49-F238E27FC236}">
                <a16:creationId xmlns:a16="http://schemas.microsoft.com/office/drawing/2014/main" id="{CD7BFFAD-A4DA-41CB-9545-675F95895395}"/>
              </a:ext>
            </a:extLst>
          </p:cNvPr>
          <p:cNvSpPr>
            <a:spLocks noGrp="1"/>
          </p:cNvSpPr>
          <p:nvPr>
            <p:ph type="dt" sz="half" idx="10"/>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9" name="Footer Placeholder 8">
            <a:extLst>
              <a:ext uri="{FF2B5EF4-FFF2-40B4-BE49-F238E27FC236}">
                <a16:creationId xmlns:a16="http://schemas.microsoft.com/office/drawing/2014/main" id="{D7D20F90-724E-4680-9141-32F668FC404F}"/>
              </a:ext>
            </a:extLst>
          </p:cNvPr>
          <p:cNvSpPr>
            <a:spLocks noGrp="1"/>
          </p:cNvSpPr>
          <p:nvPr>
            <p:ph type="ftr" sz="quarter" idx="11"/>
          </p:nvPr>
        </p:nvSpPr>
        <p:spPr/>
        <p:txBody>
          <a:bodyPr/>
          <a:lstStyle>
            <a:lvl1pPr>
              <a:defRPr>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10" name="Slide Number Placeholder 9">
            <a:extLst>
              <a:ext uri="{FF2B5EF4-FFF2-40B4-BE49-F238E27FC236}">
                <a16:creationId xmlns:a16="http://schemas.microsoft.com/office/drawing/2014/main" id="{55565E78-E99F-41D8-BA90-D66FBB0BB172}"/>
              </a:ext>
            </a:extLst>
          </p:cNvPr>
          <p:cNvSpPr>
            <a:spLocks noGrp="1"/>
          </p:cNvSpPr>
          <p:nvPr>
            <p:ph type="sldNum" sz="quarter" idx="12"/>
          </p:nvPr>
        </p:nvSpPr>
        <p:spPr/>
        <p:txBody>
          <a:bodyPr/>
          <a:lstStyle>
            <a:lvl1pPr>
              <a:defRPr>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344867747"/>
      </p:ext>
    </p:extLst>
  </p:cSld>
  <p:clrMapOvr>
    <a:masterClrMapping/>
  </p:clrMapOvr>
  <p:transition spd="slow">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Intro - Grey">
    <p:spTree>
      <p:nvGrpSpPr>
        <p:cNvPr id="1" name=""/>
        <p:cNvGrpSpPr/>
        <p:nvPr/>
      </p:nvGrpSpPr>
      <p:grpSpPr>
        <a:xfrm>
          <a:off x="0" y="0"/>
          <a:ext cx="0" cy="0"/>
          <a:chOff x="0" y="0"/>
          <a:chExt cx="0" cy="0"/>
        </a:xfrm>
      </p:grpSpPr>
      <p:sp>
        <p:nvSpPr>
          <p:cNvPr id="6" name="Rectangle 5"/>
          <p:cNvSpPr/>
          <p:nvPr userDrawn="1"/>
        </p:nvSpPr>
        <p:spPr>
          <a:xfrm>
            <a:off x="2" y="-8021"/>
            <a:ext cx="12192000" cy="5333470"/>
          </a:xfrm>
          <a:prstGeom prst="rect">
            <a:avLst/>
          </a:prstGeom>
          <a:solidFill>
            <a:srgbClr val="1D2B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91416" rIns="91416" bIns="91416" numCol="1" spcCol="0" rtlCol="0" fromWordArt="0" anchor="b"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3" name="Subtitle 2"/>
          <p:cNvSpPr>
            <a:spLocks noGrp="1"/>
          </p:cNvSpPr>
          <p:nvPr>
            <p:ph type="subTitle" idx="1"/>
          </p:nvPr>
        </p:nvSpPr>
        <p:spPr>
          <a:xfrm>
            <a:off x="366237" y="3116652"/>
            <a:ext cx="6939552" cy="1090993"/>
          </a:xfrm>
          <a:prstGeom prst="rect">
            <a:avLst/>
          </a:prstGeom>
          <a:noFill/>
        </p:spPr>
        <p:txBody>
          <a:bodyPr lIns="114268" tIns="152357" rIns="76171" bIns="76171">
            <a:noAutofit/>
          </a:bodyPr>
          <a:lstStyle>
            <a:lvl1pPr marL="0" indent="0" algn="l">
              <a:lnSpc>
                <a:spcPct val="80000"/>
              </a:lnSpc>
              <a:buNone/>
              <a:defRPr sz="2799" i="1">
                <a:solidFill>
                  <a:schemeClr val="accent1"/>
                </a:solidFill>
                <a:latin typeface="Arial Narrow" panose="020B0606020202030204" pitchFamily="34" charset="0"/>
                <a:ea typeface="Arial Narrow" panose="020B0606020202030204" pitchFamily="34" charset="0"/>
                <a:cs typeface="Segoe UI" pitchFamily="34" charset="0"/>
              </a:defRPr>
            </a:lvl1pPr>
            <a:lvl2pPr marL="543890" indent="0" algn="ctr">
              <a:buNone/>
              <a:defRPr>
                <a:solidFill>
                  <a:schemeClr val="tx1">
                    <a:tint val="75000"/>
                  </a:schemeClr>
                </a:solidFill>
              </a:defRPr>
            </a:lvl2pPr>
            <a:lvl3pPr marL="1087779" indent="0" algn="ctr">
              <a:buNone/>
              <a:defRPr>
                <a:solidFill>
                  <a:schemeClr val="tx1">
                    <a:tint val="75000"/>
                  </a:schemeClr>
                </a:solidFill>
              </a:defRPr>
            </a:lvl3pPr>
            <a:lvl4pPr marL="1631669" indent="0" algn="ctr">
              <a:buNone/>
              <a:defRPr>
                <a:solidFill>
                  <a:schemeClr val="tx1">
                    <a:tint val="75000"/>
                  </a:schemeClr>
                </a:solidFill>
              </a:defRPr>
            </a:lvl4pPr>
            <a:lvl5pPr marL="2175558" indent="0" algn="ctr">
              <a:buNone/>
              <a:defRPr>
                <a:solidFill>
                  <a:schemeClr val="tx1">
                    <a:tint val="75000"/>
                  </a:schemeClr>
                </a:solidFill>
              </a:defRPr>
            </a:lvl5pPr>
            <a:lvl6pPr marL="2719448" indent="0" algn="ctr">
              <a:buNone/>
              <a:defRPr>
                <a:solidFill>
                  <a:schemeClr val="tx1">
                    <a:tint val="75000"/>
                  </a:schemeClr>
                </a:solidFill>
              </a:defRPr>
            </a:lvl6pPr>
            <a:lvl7pPr marL="3263337" indent="0" algn="ctr">
              <a:buNone/>
              <a:defRPr>
                <a:solidFill>
                  <a:schemeClr val="tx1">
                    <a:tint val="75000"/>
                  </a:schemeClr>
                </a:solidFill>
              </a:defRPr>
            </a:lvl7pPr>
            <a:lvl8pPr marL="3807226" indent="0" algn="ctr">
              <a:buNone/>
              <a:defRPr>
                <a:solidFill>
                  <a:schemeClr val="tx1">
                    <a:tint val="75000"/>
                  </a:schemeClr>
                </a:solidFill>
              </a:defRPr>
            </a:lvl8pPr>
            <a:lvl9pPr marL="4351116"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ctrTitle"/>
          </p:nvPr>
        </p:nvSpPr>
        <p:spPr>
          <a:xfrm>
            <a:off x="366236" y="2125585"/>
            <a:ext cx="11475923" cy="980661"/>
          </a:xfrm>
          <a:prstGeom prst="rect">
            <a:avLst/>
          </a:prstGeom>
          <a:noFill/>
        </p:spPr>
        <p:txBody>
          <a:bodyPr lIns="114268" tIns="152357" rIns="76171" bIns="76171" anchor="t">
            <a:noAutofit/>
          </a:bodyPr>
          <a:lstStyle>
            <a:lvl1pPr algn="l">
              <a:lnSpc>
                <a:spcPct val="80000"/>
              </a:lnSpc>
              <a:defRPr sz="4399" b="1" baseline="0">
                <a:solidFill>
                  <a:srgbClr val="FFFFFF"/>
                </a:solidFill>
                <a:latin typeface="Franklin Gothic Book" panose="020B0503020102020204" pitchFamily="34" charset="0"/>
                <a:ea typeface="Franklin Gothic Book" panose="020B0503020102020204" pitchFamily="34" charset="0"/>
                <a:cs typeface="Segoe UI Light" panose="020B0502040204020203" pitchFamily="34" charset="0"/>
              </a:defRPr>
            </a:lvl1pPr>
          </a:lstStyle>
          <a:p>
            <a:r>
              <a:rPr lang="en-US"/>
              <a:t>Click to edit Master title style</a:t>
            </a:r>
          </a:p>
        </p:txBody>
      </p:sp>
      <p:sp>
        <p:nvSpPr>
          <p:cNvPr id="5" name="TextBox 4"/>
          <p:cNvSpPr txBox="1"/>
          <p:nvPr userDrawn="1"/>
        </p:nvSpPr>
        <p:spPr>
          <a:xfrm>
            <a:off x="355082" y="6411956"/>
            <a:ext cx="3814710" cy="334537"/>
          </a:xfrm>
          <a:prstGeom prst="rect">
            <a:avLst/>
          </a:prstGeom>
          <a:ln>
            <a:noFill/>
          </a:ln>
        </p:spPr>
        <p:txBody>
          <a:bodyPr vert="horz" wrap="square" lIns="91416" tIns="91416" rIns="91416" bIns="91416" rtlCol="0" anchor="t">
            <a:no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sz="1000" b="0" i="0" u="none" strike="noStrike" kern="1200" cap="none" spc="0" normalizeH="0" baseline="0" noProof="0" dirty="0">
                <a:ln>
                  <a:noFill/>
                </a:ln>
                <a:solidFill>
                  <a:srgbClr val="1D2B36">
                    <a:lumMod val="75000"/>
                    <a:lumOff val="25000"/>
                  </a:srgbClr>
                </a:solidFill>
                <a:effectLst/>
                <a:uLnTx/>
                <a:uFillTx/>
                <a:latin typeface="Arial Narrow" panose="020B0606020202030204" pitchFamily="34" charset="0"/>
                <a:ea typeface="Segoe UI" pitchFamily="34" charset="0"/>
                <a:cs typeface="Segoe UI" pitchFamily="34" charset="0"/>
              </a:rPr>
              <a:t>Community Reinvestment Fund, USA (CRF) is an equal opportunity provider</a:t>
            </a:r>
          </a:p>
        </p:txBody>
      </p:sp>
      <p:sp>
        <p:nvSpPr>
          <p:cNvPr id="4" name="Rectangle 3">
            <a:extLst>
              <a:ext uri="{FF2B5EF4-FFF2-40B4-BE49-F238E27FC236}">
                <a16:creationId xmlns:a16="http://schemas.microsoft.com/office/drawing/2014/main" id="{091F9749-499C-44A9-8E5E-7A23808C3921}"/>
              </a:ext>
            </a:extLst>
          </p:cNvPr>
          <p:cNvSpPr/>
          <p:nvPr userDrawn="1"/>
        </p:nvSpPr>
        <p:spPr>
          <a:xfrm>
            <a:off x="-1" y="5441674"/>
            <a:ext cx="12192001" cy="1416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199"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pic>
        <p:nvPicPr>
          <p:cNvPr id="7" name="Picture 17">
            <a:extLst>
              <a:ext uri="{FF2B5EF4-FFF2-40B4-BE49-F238E27FC236}">
                <a16:creationId xmlns:a16="http://schemas.microsoft.com/office/drawing/2014/main" id="{CF140438-8E62-49B5-A130-FE7D32A52C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6141" y="5584509"/>
            <a:ext cx="1371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5428496"/>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Intro - Grey">
    <p:spTree>
      <p:nvGrpSpPr>
        <p:cNvPr id="1" name=""/>
        <p:cNvGrpSpPr/>
        <p:nvPr/>
      </p:nvGrpSpPr>
      <p:grpSpPr>
        <a:xfrm>
          <a:off x="0" y="0"/>
          <a:ext cx="0" cy="0"/>
          <a:chOff x="0" y="0"/>
          <a:chExt cx="0" cy="0"/>
        </a:xfrm>
      </p:grpSpPr>
      <p:sp>
        <p:nvSpPr>
          <p:cNvPr id="6" name="Rectangle 5"/>
          <p:cNvSpPr/>
          <p:nvPr userDrawn="1"/>
        </p:nvSpPr>
        <p:spPr>
          <a:xfrm>
            <a:off x="1" y="-8021"/>
            <a:ext cx="12192000" cy="5333470"/>
          </a:xfrm>
          <a:prstGeom prst="rect">
            <a:avLst/>
          </a:prstGeom>
          <a:solidFill>
            <a:srgbClr val="1D2B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algn="r"/>
            <a:endParaRPr lang="en-US" sz="1200" dirty="0">
              <a:latin typeface="Montserrat SemiBold" panose="00000700000000000000" pitchFamily="2" charset="0"/>
            </a:endParaRPr>
          </a:p>
        </p:txBody>
      </p:sp>
      <p:sp>
        <p:nvSpPr>
          <p:cNvPr id="3" name="Subtitle 2"/>
          <p:cNvSpPr>
            <a:spLocks noGrp="1"/>
          </p:cNvSpPr>
          <p:nvPr>
            <p:ph type="subTitle" idx="1"/>
          </p:nvPr>
        </p:nvSpPr>
        <p:spPr>
          <a:xfrm>
            <a:off x="366236" y="3116652"/>
            <a:ext cx="6939552" cy="1090993"/>
          </a:xfrm>
          <a:prstGeom prst="rect">
            <a:avLst/>
          </a:prstGeom>
          <a:noFill/>
        </p:spPr>
        <p:txBody>
          <a:bodyPr lIns="114268" tIns="152357" rIns="76171" bIns="76171">
            <a:noAutofit/>
          </a:bodyPr>
          <a:lstStyle>
            <a:lvl1pPr marL="0" indent="0" algn="l">
              <a:lnSpc>
                <a:spcPct val="80000"/>
              </a:lnSpc>
              <a:buNone/>
              <a:defRPr sz="2800" i="1">
                <a:solidFill>
                  <a:schemeClr val="accent1"/>
                </a:solidFill>
                <a:latin typeface="Arial Narrow" panose="020B0606020202030204" pitchFamily="34" charset="0"/>
                <a:ea typeface="Arial Narrow" panose="020B0606020202030204" pitchFamily="34" charset="0"/>
                <a:cs typeface="Segoe UI" pitchFamily="34" charset="0"/>
              </a:defRPr>
            </a:lvl1pPr>
            <a:lvl2pPr marL="544053" indent="0" algn="ctr">
              <a:buNone/>
              <a:defRPr>
                <a:solidFill>
                  <a:schemeClr val="tx1">
                    <a:tint val="75000"/>
                  </a:schemeClr>
                </a:solidFill>
              </a:defRPr>
            </a:lvl2pPr>
            <a:lvl3pPr marL="1088105" indent="0" algn="ctr">
              <a:buNone/>
              <a:defRPr>
                <a:solidFill>
                  <a:schemeClr val="tx1">
                    <a:tint val="75000"/>
                  </a:schemeClr>
                </a:solidFill>
              </a:defRPr>
            </a:lvl3pPr>
            <a:lvl4pPr marL="1632159" indent="0" algn="ctr">
              <a:buNone/>
              <a:defRPr>
                <a:solidFill>
                  <a:schemeClr val="tx1">
                    <a:tint val="75000"/>
                  </a:schemeClr>
                </a:solidFill>
              </a:defRPr>
            </a:lvl4pPr>
            <a:lvl5pPr marL="2176211" indent="0" algn="ctr">
              <a:buNone/>
              <a:defRPr>
                <a:solidFill>
                  <a:schemeClr val="tx1">
                    <a:tint val="75000"/>
                  </a:schemeClr>
                </a:solidFill>
              </a:defRPr>
            </a:lvl5pPr>
            <a:lvl6pPr marL="2720264" indent="0" algn="ctr">
              <a:buNone/>
              <a:defRPr>
                <a:solidFill>
                  <a:schemeClr val="tx1">
                    <a:tint val="75000"/>
                  </a:schemeClr>
                </a:solidFill>
              </a:defRPr>
            </a:lvl6pPr>
            <a:lvl7pPr marL="3264316" indent="0" algn="ctr">
              <a:buNone/>
              <a:defRPr>
                <a:solidFill>
                  <a:schemeClr val="tx1">
                    <a:tint val="75000"/>
                  </a:schemeClr>
                </a:solidFill>
              </a:defRPr>
            </a:lvl7pPr>
            <a:lvl8pPr marL="3808369" indent="0" algn="ctr">
              <a:buNone/>
              <a:defRPr>
                <a:solidFill>
                  <a:schemeClr val="tx1">
                    <a:tint val="75000"/>
                  </a:schemeClr>
                </a:solidFill>
              </a:defRPr>
            </a:lvl8pPr>
            <a:lvl9pPr marL="4352422"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ctrTitle"/>
          </p:nvPr>
        </p:nvSpPr>
        <p:spPr>
          <a:xfrm>
            <a:off x="366236" y="2125583"/>
            <a:ext cx="11475923" cy="980661"/>
          </a:xfrm>
          <a:prstGeom prst="rect">
            <a:avLst/>
          </a:prstGeom>
          <a:noFill/>
        </p:spPr>
        <p:txBody>
          <a:bodyPr lIns="114268" tIns="152357" rIns="76171" bIns="76171" anchor="t">
            <a:noAutofit/>
          </a:bodyPr>
          <a:lstStyle>
            <a:lvl1pPr algn="l">
              <a:lnSpc>
                <a:spcPct val="80000"/>
              </a:lnSpc>
              <a:defRPr sz="4400" b="1" baseline="0">
                <a:solidFill>
                  <a:srgbClr val="FFFFFF"/>
                </a:solidFill>
                <a:latin typeface="Franklin Gothic Book" panose="020B0503020102020204" pitchFamily="34" charset="0"/>
                <a:ea typeface="Franklin Gothic Book" panose="020B0503020102020204" pitchFamily="34" charset="0"/>
                <a:cs typeface="Segoe UI Light" panose="020B0502040204020203" pitchFamily="34" charset="0"/>
              </a:defRPr>
            </a:lvl1pPr>
          </a:lstStyle>
          <a:p>
            <a:r>
              <a:rPr lang="en-US"/>
              <a:t>Click to edit Master title style</a:t>
            </a:r>
          </a:p>
        </p:txBody>
      </p:sp>
      <p:sp>
        <p:nvSpPr>
          <p:cNvPr id="5" name="TextBox 4"/>
          <p:cNvSpPr txBox="1"/>
          <p:nvPr userDrawn="1"/>
        </p:nvSpPr>
        <p:spPr>
          <a:xfrm>
            <a:off x="355082" y="6411954"/>
            <a:ext cx="3814710" cy="334537"/>
          </a:xfrm>
          <a:prstGeom prst="rect">
            <a:avLst/>
          </a:prstGeom>
          <a:ln>
            <a:noFill/>
          </a:ln>
        </p:spPr>
        <p:txBody>
          <a:bodyPr vert="horz" wrap="square" lIns="91440" tIns="91440" rIns="91440" bIns="91440" rtlCol="0" anchor="t">
            <a:noAutofit/>
          </a:bodyPr>
          <a:lstStyle/>
          <a:p>
            <a:pPr marL="0" indent="0">
              <a:buFont typeface="Wingdings" pitchFamily="2" charset="2"/>
              <a:buNone/>
            </a:pPr>
            <a:r>
              <a:rPr lang="en-US" sz="1000" dirty="0">
                <a:solidFill>
                  <a:schemeClr val="tx1">
                    <a:lumMod val="75000"/>
                    <a:lumOff val="25000"/>
                  </a:schemeClr>
                </a:solidFill>
                <a:latin typeface="Arial Narrow" panose="020B0606020202030204" pitchFamily="34" charset="0"/>
                <a:ea typeface="Segoe UI" pitchFamily="34" charset="0"/>
                <a:cs typeface="Segoe UI" pitchFamily="34" charset="0"/>
              </a:rPr>
              <a:t>Community Reinvestment Fund,</a:t>
            </a:r>
            <a:r>
              <a:rPr lang="en-US" sz="1000" baseline="0" dirty="0">
                <a:solidFill>
                  <a:schemeClr val="tx1">
                    <a:lumMod val="75000"/>
                    <a:lumOff val="25000"/>
                  </a:schemeClr>
                </a:solidFill>
                <a:latin typeface="Arial Narrow" panose="020B0606020202030204" pitchFamily="34" charset="0"/>
                <a:ea typeface="Segoe UI" pitchFamily="34" charset="0"/>
                <a:cs typeface="Segoe UI" pitchFamily="34" charset="0"/>
              </a:rPr>
              <a:t> U</a:t>
            </a:r>
            <a:r>
              <a:rPr lang="en-US" sz="1000" dirty="0">
                <a:solidFill>
                  <a:schemeClr val="tx1">
                    <a:lumMod val="75000"/>
                    <a:lumOff val="25000"/>
                  </a:schemeClr>
                </a:solidFill>
                <a:latin typeface="Arial Narrow" panose="020B0606020202030204" pitchFamily="34" charset="0"/>
                <a:ea typeface="Segoe UI" pitchFamily="34" charset="0"/>
                <a:cs typeface="Segoe UI" pitchFamily="34" charset="0"/>
              </a:rPr>
              <a:t>SA (CRF) is an equal opportunity provider</a:t>
            </a:r>
          </a:p>
        </p:txBody>
      </p:sp>
      <p:sp>
        <p:nvSpPr>
          <p:cNvPr id="4" name="Rectangle 3">
            <a:extLst>
              <a:ext uri="{FF2B5EF4-FFF2-40B4-BE49-F238E27FC236}">
                <a16:creationId xmlns:a16="http://schemas.microsoft.com/office/drawing/2014/main" id="{091F9749-499C-44A9-8E5E-7A23808C3921}"/>
              </a:ext>
            </a:extLst>
          </p:cNvPr>
          <p:cNvSpPr/>
          <p:nvPr userDrawn="1"/>
        </p:nvSpPr>
        <p:spPr>
          <a:xfrm>
            <a:off x="-1" y="5441674"/>
            <a:ext cx="12192001" cy="1416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pic>
        <p:nvPicPr>
          <p:cNvPr id="7" name="Picture 17">
            <a:extLst>
              <a:ext uri="{FF2B5EF4-FFF2-40B4-BE49-F238E27FC236}">
                <a16:creationId xmlns:a16="http://schemas.microsoft.com/office/drawing/2014/main" id="{CF140438-8E62-49B5-A130-FE7D32A52C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6140" y="5584509"/>
            <a:ext cx="1371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892716"/>
      </p:ext>
    </p:extLst>
  </p:cSld>
  <p:clrMapOvr>
    <a:masterClrMapping/>
  </p:clrMapOvr>
  <p:transition spd="slow">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ransition Slide">
    <p:spTree>
      <p:nvGrpSpPr>
        <p:cNvPr id="1" name=""/>
        <p:cNvGrpSpPr/>
        <p:nvPr/>
      </p:nvGrpSpPr>
      <p:grpSpPr>
        <a:xfrm>
          <a:off x="0" y="0"/>
          <a:ext cx="0" cy="0"/>
          <a:chOff x="0" y="0"/>
          <a:chExt cx="0" cy="0"/>
        </a:xfrm>
      </p:grpSpPr>
      <p:sp>
        <p:nvSpPr>
          <p:cNvPr id="6" name="Rectangle 5"/>
          <p:cNvSpPr/>
          <p:nvPr userDrawn="1"/>
        </p:nvSpPr>
        <p:spPr>
          <a:xfrm>
            <a:off x="1" y="-8021"/>
            <a:ext cx="12192000" cy="533347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sp>
        <p:nvSpPr>
          <p:cNvPr id="3" name="Subtitle 2"/>
          <p:cNvSpPr>
            <a:spLocks noGrp="1"/>
          </p:cNvSpPr>
          <p:nvPr>
            <p:ph type="subTitle" idx="1"/>
          </p:nvPr>
        </p:nvSpPr>
        <p:spPr>
          <a:xfrm>
            <a:off x="366235" y="3116652"/>
            <a:ext cx="11475923" cy="1090993"/>
          </a:xfrm>
          <a:prstGeom prst="rect">
            <a:avLst/>
          </a:prstGeom>
          <a:noFill/>
        </p:spPr>
        <p:txBody>
          <a:bodyPr lIns="114268" tIns="152357" rIns="76171" bIns="76171">
            <a:noAutofit/>
          </a:bodyPr>
          <a:lstStyle>
            <a:lvl1pPr marL="0" indent="0" algn="ctr">
              <a:lnSpc>
                <a:spcPct val="80000"/>
              </a:lnSpc>
              <a:buNone/>
              <a:defRPr sz="2800" i="1">
                <a:solidFill>
                  <a:schemeClr val="accent1"/>
                </a:solidFill>
                <a:latin typeface="Arial Narrow" panose="020B0606020202030204" pitchFamily="34" charset="0"/>
                <a:ea typeface="Arial Narrow" panose="020B0606020202030204" pitchFamily="34" charset="0"/>
                <a:cs typeface="Segoe UI" pitchFamily="34" charset="0"/>
              </a:defRPr>
            </a:lvl1pPr>
            <a:lvl2pPr marL="544053" indent="0" algn="ctr">
              <a:buNone/>
              <a:defRPr>
                <a:solidFill>
                  <a:schemeClr val="tx1">
                    <a:tint val="75000"/>
                  </a:schemeClr>
                </a:solidFill>
              </a:defRPr>
            </a:lvl2pPr>
            <a:lvl3pPr marL="1088105" indent="0" algn="ctr">
              <a:buNone/>
              <a:defRPr>
                <a:solidFill>
                  <a:schemeClr val="tx1">
                    <a:tint val="75000"/>
                  </a:schemeClr>
                </a:solidFill>
              </a:defRPr>
            </a:lvl3pPr>
            <a:lvl4pPr marL="1632159" indent="0" algn="ctr">
              <a:buNone/>
              <a:defRPr>
                <a:solidFill>
                  <a:schemeClr val="tx1">
                    <a:tint val="75000"/>
                  </a:schemeClr>
                </a:solidFill>
              </a:defRPr>
            </a:lvl4pPr>
            <a:lvl5pPr marL="2176211" indent="0" algn="ctr">
              <a:buNone/>
              <a:defRPr>
                <a:solidFill>
                  <a:schemeClr val="tx1">
                    <a:tint val="75000"/>
                  </a:schemeClr>
                </a:solidFill>
              </a:defRPr>
            </a:lvl5pPr>
            <a:lvl6pPr marL="2720264" indent="0" algn="ctr">
              <a:buNone/>
              <a:defRPr>
                <a:solidFill>
                  <a:schemeClr val="tx1">
                    <a:tint val="75000"/>
                  </a:schemeClr>
                </a:solidFill>
              </a:defRPr>
            </a:lvl6pPr>
            <a:lvl7pPr marL="3264316" indent="0" algn="ctr">
              <a:buNone/>
              <a:defRPr>
                <a:solidFill>
                  <a:schemeClr val="tx1">
                    <a:tint val="75000"/>
                  </a:schemeClr>
                </a:solidFill>
              </a:defRPr>
            </a:lvl7pPr>
            <a:lvl8pPr marL="3808369" indent="0" algn="ctr">
              <a:buNone/>
              <a:defRPr>
                <a:solidFill>
                  <a:schemeClr val="tx1">
                    <a:tint val="75000"/>
                  </a:schemeClr>
                </a:solidFill>
              </a:defRPr>
            </a:lvl8pPr>
            <a:lvl9pPr marL="4352422"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ctrTitle"/>
          </p:nvPr>
        </p:nvSpPr>
        <p:spPr>
          <a:xfrm>
            <a:off x="366236" y="2125583"/>
            <a:ext cx="11475923" cy="980661"/>
          </a:xfrm>
          <a:prstGeom prst="rect">
            <a:avLst/>
          </a:prstGeom>
          <a:noFill/>
        </p:spPr>
        <p:txBody>
          <a:bodyPr lIns="114268" tIns="152357" rIns="76171" bIns="76171" anchor="t">
            <a:noAutofit/>
          </a:bodyPr>
          <a:lstStyle>
            <a:lvl1pPr algn="ctr">
              <a:lnSpc>
                <a:spcPct val="80000"/>
              </a:lnSpc>
              <a:defRPr sz="4400" b="0" baseline="0">
                <a:solidFill>
                  <a:srgbClr val="FFFFFF"/>
                </a:solidFill>
                <a:latin typeface="Franklin Gothic Demi" panose="020B0703020102020204" pitchFamily="34" charset="0"/>
                <a:ea typeface="Franklin Gothic Demi" panose="020B0703020102020204" pitchFamily="34" charset="0"/>
                <a:cs typeface="Segoe UI Light" panose="020B0502040204020203" pitchFamily="34" charset="0"/>
              </a:defRPr>
            </a:lvl1pPr>
          </a:lstStyle>
          <a:p>
            <a:r>
              <a:rPr lang="en-US"/>
              <a:t>Click to edit Master title style</a:t>
            </a:r>
          </a:p>
        </p:txBody>
      </p:sp>
      <p:sp>
        <p:nvSpPr>
          <p:cNvPr id="5" name="TextBox 4"/>
          <p:cNvSpPr txBox="1"/>
          <p:nvPr userDrawn="1"/>
        </p:nvSpPr>
        <p:spPr>
          <a:xfrm>
            <a:off x="355082" y="6411954"/>
            <a:ext cx="3814710" cy="334537"/>
          </a:xfrm>
          <a:prstGeom prst="rect">
            <a:avLst/>
          </a:prstGeom>
          <a:ln>
            <a:noFill/>
          </a:ln>
        </p:spPr>
        <p:txBody>
          <a:bodyPr vert="horz" wrap="square" lIns="91440" tIns="91440" rIns="91440" bIns="91440" rtlCol="0" anchor="t">
            <a:no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sz="1000" b="0" i="0" u="none" strike="noStrike" kern="1200" cap="none" spc="0" normalizeH="0" baseline="0" noProof="0" dirty="0">
                <a:ln>
                  <a:noFill/>
                </a:ln>
                <a:solidFill>
                  <a:srgbClr val="1D2B36">
                    <a:lumMod val="75000"/>
                    <a:lumOff val="25000"/>
                  </a:srgbClr>
                </a:solidFill>
                <a:effectLst/>
                <a:uLnTx/>
                <a:uFillTx/>
                <a:latin typeface="Arial Narrow" panose="020B0606020202030204" pitchFamily="34" charset="0"/>
                <a:ea typeface="Segoe UI" pitchFamily="34" charset="0"/>
                <a:cs typeface="Segoe UI" pitchFamily="34" charset="0"/>
              </a:rPr>
              <a:t>Community Reinvestment Fund, USA (CRF) is an equal opportunity provider</a:t>
            </a:r>
          </a:p>
        </p:txBody>
      </p:sp>
      <p:sp>
        <p:nvSpPr>
          <p:cNvPr id="4" name="Rectangle 3">
            <a:extLst>
              <a:ext uri="{FF2B5EF4-FFF2-40B4-BE49-F238E27FC236}">
                <a16:creationId xmlns:a16="http://schemas.microsoft.com/office/drawing/2014/main" id="{091F9749-499C-44A9-8E5E-7A23808C3921}"/>
              </a:ext>
            </a:extLst>
          </p:cNvPr>
          <p:cNvSpPr/>
          <p:nvPr userDrawn="1"/>
        </p:nvSpPr>
        <p:spPr>
          <a:xfrm>
            <a:off x="-1" y="5441674"/>
            <a:ext cx="12192001" cy="14163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SemiBold" panose="00000700000000000000" pitchFamily="2" charset="0"/>
              <a:ea typeface="+mn-ea"/>
              <a:cs typeface="+mn-cs"/>
            </a:endParaRPr>
          </a:p>
        </p:txBody>
      </p:sp>
      <p:pic>
        <p:nvPicPr>
          <p:cNvPr id="7" name="Picture 17">
            <a:extLst>
              <a:ext uri="{FF2B5EF4-FFF2-40B4-BE49-F238E27FC236}">
                <a16:creationId xmlns:a16="http://schemas.microsoft.com/office/drawing/2014/main" id="{CF140438-8E62-49B5-A130-FE7D32A52CF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6140" y="5584509"/>
            <a:ext cx="1371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6077878"/>
      </p:ext>
    </p:extLst>
  </p:cSld>
  <p:clrMapOvr>
    <a:masterClrMapping/>
  </p:clrMapOvr>
  <p:transition spd="slow">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5749" y="360485"/>
            <a:ext cx="11693769" cy="958361"/>
          </a:xfrm>
        </p:spPr>
        <p:txBody>
          <a:bodyPr anchor="t">
            <a:normAutofit/>
          </a:bodyPr>
          <a:lstStyle>
            <a:lvl1pPr algn="ctr">
              <a:defRPr sz="5000" b="0">
                <a:solidFill>
                  <a:srgbClr val="1D2B36"/>
                </a:solidFill>
                <a:latin typeface="Franklin Gothic Demi" panose="020B0703020102020204" pitchFamily="34" charset="0"/>
              </a:defRPr>
            </a:lvl1pPr>
          </a:lstStyle>
          <a:p>
            <a:r>
              <a:rPr lang="en-US"/>
              <a:t>Click to edit Master title style</a:t>
            </a:r>
          </a:p>
        </p:txBody>
      </p:sp>
      <p:sp>
        <p:nvSpPr>
          <p:cNvPr id="7" name="Rectangle 6">
            <a:extLst>
              <a:ext uri="{FF2B5EF4-FFF2-40B4-BE49-F238E27FC236}">
                <a16:creationId xmlns:a16="http://schemas.microsoft.com/office/drawing/2014/main" id="{449F1EA8-327B-4634-83AE-1425DA3593BC}"/>
              </a:ext>
            </a:extLst>
          </p:cNvPr>
          <p:cNvSpPr/>
          <p:nvPr userDrawn="1"/>
        </p:nvSpPr>
        <p:spPr>
          <a:xfrm>
            <a:off x="1" y="5640265"/>
            <a:ext cx="12192000" cy="1217735"/>
          </a:xfrm>
          <a:prstGeom prst="rect">
            <a:avLst/>
          </a:prstGeom>
          <a:solidFill>
            <a:srgbClr val="1D2B3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algn="r"/>
            <a:endParaRPr lang="en-US" sz="1200" dirty="0">
              <a:latin typeface="Montserrat SemiBold" panose="00000700000000000000" pitchFamily="2" charset="0"/>
            </a:endParaRPr>
          </a:p>
        </p:txBody>
      </p:sp>
      <p:pic>
        <p:nvPicPr>
          <p:cNvPr id="9" name="Picture 8">
            <a:extLst>
              <a:ext uri="{FF2B5EF4-FFF2-40B4-BE49-F238E27FC236}">
                <a16:creationId xmlns:a16="http://schemas.microsoft.com/office/drawing/2014/main" id="{7B948636-CDC5-4532-83FE-2447380DAAF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2676"/>
          <a:stretch/>
        </p:blipFill>
        <p:spPr>
          <a:xfrm>
            <a:off x="565638" y="5973273"/>
            <a:ext cx="1023880" cy="714375"/>
          </a:xfrm>
          <a:prstGeom prst="rect">
            <a:avLst/>
          </a:prstGeom>
        </p:spPr>
      </p:pic>
    </p:spTree>
    <p:extLst>
      <p:ext uri="{BB962C8B-B14F-4D97-AF65-F5344CB8AC3E}">
        <p14:creationId xmlns:p14="http://schemas.microsoft.com/office/powerpoint/2010/main" val="2595620741"/>
      </p:ext>
    </p:extLst>
  </p:cSld>
  <p:clrMapOvr>
    <a:masterClrMapping/>
  </p:clrMapOvr>
  <p:transition spd="slow">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ull 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9D9D96-CF3D-4F16-B5D5-4C8FDE0D06C5}"/>
              </a:ext>
            </a:extLst>
          </p:cNvPr>
          <p:cNvSpPr/>
          <p:nvPr userDrawn="1"/>
        </p:nvSpPr>
        <p:spPr>
          <a:xfrm>
            <a:off x="0" y="5011946"/>
            <a:ext cx="12192000" cy="1846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SemiBold" panose="00000700000000000000" pitchFamily="2" charset="0"/>
            </a:endParaRPr>
          </a:p>
        </p:txBody>
      </p:sp>
    </p:spTree>
    <p:extLst>
      <p:ext uri="{BB962C8B-B14F-4D97-AF65-F5344CB8AC3E}">
        <p14:creationId xmlns:p14="http://schemas.microsoft.com/office/powerpoint/2010/main" val="2281732359"/>
      </p:ext>
    </p:extLst>
  </p:cSld>
  <p:clrMapOvr>
    <a:masterClrMapping/>
  </p:clrMapOvr>
  <p:transition spd="slow">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ontent Matrix 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85164-AAFB-4B4C-AA1C-EFCE08A90426}"/>
              </a:ext>
            </a:extLst>
          </p:cNvPr>
          <p:cNvSpPr>
            <a:spLocks noGrp="1"/>
          </p:cNvSpPr>
          <p:nvPr>
            <p:ph type="title"/>
          </p:nvPr>
        </p:nvSpPr>
        <p:spPr>
          <a:xfrm>
            <a:off x="301925" y="365125"/>
            <a:ext cx="11051875" cy="1325563"/>
          </a:xfrm>
        </p:spPr>
        <p:txBody>
          <a:bodyPr anchor="t"/>
          <a:lstStyle>
            <a:lvl1pPr>
              <a:defRPr b="0">
                <a:solidFill>
                  <a:schemeClr val="accent3"/>
                </a:solidFill>
                <a:latin typeface="Franklin Gothic Demi" panose="020B0703020102020204" pitchFamily="34" charset="0"/>
              </a:defRPr>
            </a:lvl1pPr>
          </a:lstStyle>
          <a:p>
            <a:r>
              <a:rPr lang="en-US"/>
              <a:t>Click to edit Master title style</a:t>
            </a:r>
          </a:p>
        </p:txBody>
      </p:sp>
      <p:sp>
        <p:nvSpPr>
          <p:cNvPr id="4" name="Date Placeholder 3">
            <a:extLst>
              <a:ext uri="{FF2B5EF4-FFF2-40B4-BE49-F238E27FC236}">
                <a16:creationId xmlns:a16="http://schemas.microsoft.com/office/drawing/2014/main" id="{CD2BB707-65E1-46E3-A3BF-268971C8D66D}"/>
              </a:ext>
            </a:extLst>
          </p:cNvPr>
          <p:cNvSpPr>
            <a:spLocks noGrp="1"/>
          </p:cNvSpPr>
          <p:nvPr>
            <p:ph type="dt" sz="half" idx="10"/>
          </p:nvPr>
        </p:nvSpPr>
        <p:spPr/>
        <p:txBody>
          <a:bodyPr/>
          <a:lstStyle>
            <a:lvl1pPr>
              <a:defRPr>
                <a:latin typeface="Montserrat SemiBold" panose="00000700000000000000" pitchFamily="2" charset="0"/>
              </a:defRPr>
            </a:lvl1pPr>
          </a:lstStyle>
          <a:p>
            <a:pPr>
              <a:defRPr/>
            </a:pPr>
            <a:fld id="{8747159E-AA0F-4A7A-A941-2E686B8478D6}" type="datetimeFigureOut">
              <a:rPr lang="en-US" smtClean="0">
                <a:solidFill>
                  <a:srgbClr val="1D2B36">
                    <a:tint val="75000"/>
                  </a:srgbClr>
                </a:solidFill>
              </a:rPr>
              <a:pPr>
                <a:defRPr/>
              </a:pPr>
              <a:t>7/21/2026</a:t>
            </a:fld>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F4000E61-722A-4286-8572-009D2D328BC8}"/>
              </a:ext>
            </a:extLst>
          </p:cNvPr>
          <p:cNvSpPr>
            <a:spLocks noGrp="1"/>
          </p:cNvSpPr>
          <p:nvPr>
            <p:ph type="ftr" sz="quarter" idx="11"/>
          </p:nvPr>
        </p:nvSpPr>
        <p:spPr/>
        <p:txBody>
          <a:bodyPr/>
          <a:lstStyle>
            <a:lvl1pPr>
              <a:defRPr>
                <a:latin typeface="Montserrat SemiBold" panose="00000700000000000000" pitchFamily="2" charset="0"/>
              </a:defRPr>
            </a:lvl1pPr>
          </a:lstStyle>
          <a:p>
            <a:pPr>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EC6D405F-2E06-4946-8122-CCF851A06936}"/>
              </a:ext>
            </a:extLst>
          </p:cNvPr>
          <p:cNvSpPr>
            <a:spLocks noGrp="1"/>
          </p:cNvSpPr>
          <p:nvPr>
            <p:ph type="sldNum" sz="quarter" idx="12"/>
          </p:nvPr>
        </p:nvSpPr>
        <p:spPr/>
        <p:txBody>
          <a:bodyPr/>
          <a:lstStyle>
            <a:lvl1pPr>
              <a:defRPr>
                <a:latin typeface="Montserrat SemiBold" panose="00000700000000000000" pitchFamily="2" charset="0"/>
              </a:defRPr>
            </a:lvl1pPr>
          </a:lstStyle>
          <a:p>
            <a:pPr>
              <a:defRPr/>
            </a:pPr>
            <a:fld id="{AEACC2C1-74EF-4D17-8FCA-30885DD06988}" type="slidenum">
              <a:rPr lang="en-US" smtClean="0">
                <a:solidFill>
                  <a:srgbClr val="1D2B36">
                    <a:tint val="75000"/>
                  </a:srgbClr>
                </a:solidFill>
              </a:rPr>
              <a:pPr>
                <a:defRPr/>
              </a:pPr>
              <a:t>‹#›</a:t>
            </a:fld>
            <a:endParaRPr lang="en-US" dirty="0">
              <a:solidFill>
                <a:srgbClr val="1D2B36">
                  <a:tint val="75000"/>
                </a:srgbClr>
              </a:solidFill>
            </a:endParaRPr>
          </a:p>
        </p:txBody>
      </p:sp>
      <p:cxnSp>
        <p:nvCxnSpPr>
          <p:cNvPr id="9" name="Straight Connector 8">
            <a:extLst>
              <a:ext uri="{FF2B5EF4-FFF2-40B4-BE49-F238E27FC236}">
                <a16:creationId xmlns:a16="http://schemas.microsoft.com/office/drawing/2014/main" id="{D9D9D676-7C92-43AC-84A3-60F4FEED7822}"/>
              </a:ext>
            </a:extLst>
          </p:cNvPr>
          <p:cNvCxnSpPr>
            <a:cxnSpLocks/>
          </p:cNvCxnSpPr>
          <p:nvPr userDrawn="1"/>
        </p:nvCxnSpPr>
        <p:spPr>
          <a:xfrm>
            <a:off x="4104170" y="1701204"/>
            <a:ext cx="0" cy="374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61B6D6-1B41-4751-B27A-1F1FE8CA765C}"/>
              </a:ext>
            </a:extLst>
          </p:cNvPr>
          <p:cNvCxnSpPr>
            <a:cxnSpLocks/>
          </p:cNvCxnSpPr>
          <p:nvPr userDrawn="1"/>
        </p:nvCxnSpPr>
        <p:spPr>
          <a:xfrm>
            <a:off x="8071883" y="1701204"/>
            <a:ext cx="0" cy="374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F12FE0D-6DD3-4F58-A0B1-7EB069127ACD}"/>
              </a:ext>
            </a:extLst>
          </p:cNvPr>
          <p:cNvCxnSpPr>
            <a:cxnSpLocks/>
          </p:cNvCxnSpPr>
          <p:nvPr userDrawn="1"/>
        </p:nvCxnSpPr>
        <p:spPr>
          <a:xfrm>
            <a:off x="301925" y="3530010"/>
            <a:ext cx="11532112"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58DDB5D5-3B50-4031-99CE-4763A745DED6}"/>
              </a:ext>
            </a:extLst>
          </p:cNvPr>
          <p:cNvSpPr>
            <a:spLocks noGrp="1"/>
          </p:cNvSpPr>
          <p:nvPr>
            <p:ph idx="13"/>
          </p:nvPr>
        </p:nvSpPr>
        <p:spPr>
          <a:xfrm>
            <a:off x="301926" y="1707417"/>
            <a:ext cx="3674660" cy="1693752"/>
          </a:xfrm>
        </p:spPr>
        <p:txBody>
          <a:bodyPr/>
          <a:lstStyle>
            <a:lvl1pPr marL="0" indent="0">
              <a:buNone/>
              <a:defRPr/>
            </a:lvl1pPr>
          </a:lstStyle>
          <a:p>
            <a:pPr lvl="0"/>
            <a:r>
              <a:rPr lang="en-US"/>
              <a:t>Edit Master text styles</a:t>
            </a:r>
          </a:p>
        </p:txBody>
      </p:sp>
      <p:sp>
        <p:nvSpPr>
          <p:cNvPr id="25" name="Content Placeholder 2">
            <a:extLst>
              <a:ext uri="{FF2B5EF4-FFF2-40B4-BE49-F238E27FC236}">
                <a16:creationId xmlns:a16="http://schemas.microsoft.com/office/drawing/2014/main" id="{1754F248-EA38-4F55-ABB9-713DC3B02C99}"/>
              </a:ext>
            </a:extLst>
          </p:cNvPr>
          <p:cNvSpPr>
            <a:spLocks noGrp="1"/>
          </p:cNvSpPr>
          <p:nvPr>
            <p:ph idx="14"/>
          </p:nvPr>
        </p:nvSpPr>
        <p:spPr>
          <a:xfrm>
            <a:off x="4258670" y="1707417"/>
            <a:ext cx="3674660" cy="1693752"/>
          </a:xfrm>
        </p:spPr>
        <p:txBody>
          <a:bodyPr/>
          <a:lstStyle>
            <a:lvl1pPr marL="0" indent="0">
              <a:buNone/>
              <a:defRPr/>
            </a:lvl1pPr>
          </a:lstStyle>
          <a:p>
            <a:pPr lvl="0"/>
            <a:r>
              <a:rPr lang="en-US"/>
              <a:t>Edit Master text styles</a:t>
            </a:r>
          </a:p>
        </p:txBody>
      </p:sp>
      <p:sp>
        <p:nvSpPr>
          <p:cNvPr id="26" name="Content Placeholder 2">
            <a:extLst>
              <a:ext uri="{FF2B5EF4-FFF2-40B4-BE49-F238E27FC236}">
                <a16:creationId xmlns:a16="http://schemas.microsoft.com/office/drawing/2014/main" id="{40E66249-E45C-4E2C-ACEC-FBBFB1E59ED0}"/>
              </a:ext>
            </a:extLst>
          </p:cNvPr>
          <p:cNvSpPr>
            <a:spLocks noGrp="1"/>
          </p:cNvSpPr>
          <p:nvPr>
            <p:ph idx="15"/>
          </p:nvPr>
        </p:nvSpPr>
        <p:spPr>
          <a:xfrm>
            <a:off x="8215414" y="1707417"/>
            <a:ext cx="3674660" cy="1693752"/>
          </a:xfrm>
        </p:spPr>
        <p:txBody>
          <a:bodyPr/>
          <a:lstStyle>
            <a:lvl1pPr marL="0" indent="0">
              <a:buNone/>
              <a:defRPr/>
            </a:lvl1pPr>
          </a:lstStyle>
          <a:p>
            <a:pPr lvl="0"/>
            <a:r>
              <a:rPr lang="en-US"/>
              <a:t>Edit Master text styles</a:t>
            </a:r>
          </a:p>
        </p:txBody>
      </p:sp>
      <p:sp>
        <p:nvSpPr>
          <p:cNvPr id="27" name="Content Placeholder 2">
            <a:extLst>
              <a:ext uri="{FF2B5EF4-FFF2-40B4-BE49-F238E27FC236}">
                <a16:creationId xmlns:a16="http://schemas.microsoft.com/office/drawing/2014/main" id="{7107FE61-486A-4043-BAEE-70354D1FEF3C}"/>
              </a:ext>
            </a:extLst>
          </p:cNvPr>
          <p:cNvSpPr>
            <a:spLocks noGrp="1"/>
          </p:cNvSpPr>
          <p:nvPr>
            <p:ph idx="16"/>
          </p:nvPr>
        </p:nvSpPr>
        <p:spPr>
          <a:xfrm>
            <a:off x="301925" y="3750768"/>
            <a:ext cx="3674660" cy="1693752"/>
          </a:xfrm>
        </p:spPr>
        <p:txBody>
          <a:bodyPr/>
          <a:lstStyle>
            <a:lvl1pPr marL="0" indent="0">
              <a:buNone/>
              <a:defRPr/>
            </a:lvl1pPr>
          </a:lstStyle>
          <a:p>
            <a:pPr lvl="0"/>
            <a:r>
              <a:rPr lang="en-US"/>
              <a:t>Edit Master text styles</a:t>
            </a:r>
          </a:p>
        </p:txBody>
      </p:sp>
      <p:sp>
        <p:nvSpPr>
          <p:cNvPr id="28" name="Content Placeholder 2">
            <a:extLst>
              <a:ext uri="{FF2B5EF4-FFF2-40B4-BE49-F238E27FC236}">
                <a16:creationId xmlns:a16="http://schemas.microsoft.com/office/drawing/2014/main" id="{9E50F90D-6A29-4370-9476-46548AFDA713}"/>
              </a:ext>
            </a:extLst>
          </p:cNvPr>
          <p:cNvSpPr>
            <a:spLocks noGrp="1"/>
          </p:cNvSpPr>
          <p:nvPr>
            <p:ph idx="17"/>
          </p:nvPr>
        </p:nvSpPr>
        <p:spPr>
          <a:xfrm>
            <a:off x="4258669" y="3750768"/>
            <a:ext cx="3674660" cy="1693752"/>
          </a:xfrm>
        </p:spPr>
        <p:txBody>
          <a:bodyPr/>
          <a:lstStyle>
            <a:lvl1pPr marL="0" indent="0">
              <a:buNone/>
              <a:defRPr/>
            </a:lvl1pPr>
          </a:lstStyle>
          <a:p>
            <a:pPr lvl="0"/>
            <a:r>
              <a:rPr lang="en-US"/>
              <a:t>Edit Master text styles</a:t>
            </a:r>
          </a:p>
        </p:txBody>
      </p:sp>
      <p:sp>
        <p:nvSpPr>
          <p:cNvPr id="29" name="Content Placeholder 2">
            <a:extLst>
              <a:ext uri="{FF2B5EF4-FFF2-40B4-BE49-F238E27FC236}">
                <a16:creationId xmlns:a16="http://schemas.microsoft.com/office/drawing/2014/main" id="{D72660AD-654F-44D2-A1E2-766CCF7EC13A}"/>
              </a:ext>
            </a:extLst>
          </p:cNvPr>
          <p:cNvSpPr>
            <a:spLocks noGrp="1"/>
          </p:cNvSpPr>
          <p:nvPr>
            <p:ph idx="18"/>
          </p:nvPr>
        </p:nvSpPr>
        <p:spPr>
          <a:xfrm>
            <a:off x="8215413" y="3750768"/>
            <a:ext cx="3674660" cy="1693752"/>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995361789"/>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image" Target="../media/image6.emf"/><Relationship Id="rId5" Type="http://schemas.openxmlformats.org/officeDocument/2006/relationships/slideLayout" Target="../slideLayouts/slideLayout30.xml"/><Relationship Id="rId10" Type="http://schemas.openxmlformats.org/officeDocument/2006/relationships/oleObject" Target="../embeddings/oleObject1.bin"/><Relationship Id="rId4" Type="http://schemas.openxmlformats.org/officeDocument/2006/relationships/slideLayout" Target="../slideLayouts/slideLayout29.xml"/><Relationship Id="rId9" Type="http://schemas.openxmlformats.org/officeDocument/2006/relationships/tags" Target="../tags/tag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56AE99-D2BC-486B-B172-857DBA8AC4E8}"/>
              </a:ext>
            </a:extLst>
          </p:cNvPr>
          <p:cNvSpPr>
            <a:spLocks noGrp="1"/>
          </p:cNvSpPr>
          <p:nvPr>
            <p:ph type="title"/>
          </p:nvPr>
        </p:nvSpPr>
        <p:spPr>
          <a:xfrm>
            <a:off x="266700" y="228600"/>
            <a:ext cx="10823214" cy="101092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C50B2DC-668D-4CF3-9DD5-3FB1D0C5FB0B}"/>
              </a:ext>
            </a:extLst>
          </p:cNvPr>
          <p:cNvSpPr>
            <a:spLocks noGrp="1"/>
          </p:cNvSpPr>
          <p:nvPr>
            <p:ph type="body" idx="1"/>
          </p:nvPr>
        </p:nvSpPr>
        <p:spPr>
          <a:xfrm>
            <a:off x="266700" y="1666241"/>
            <a:ext cx="11658600" cy="4094480"/>
          </a:xfrm>
          <a:prstGeom prst="rect">
            <a:avLst/>
          </a:prstGeom>
        </p:spPr>
        <p:txBody>
          <a:bodyPr vert="horz" lIns="91440" tIns="45720" rIns="91440" bIns="45720" rtlCol="0">
            <a:normAutofit/>
          </a:bodyPr>
          <a:lstStyle/>
          <a:p>
            <a:pPr lvl="0"/>
            <a:r>
              <a:rPr lang="en-US" dirty="0"/>
              <a:t>This Master slide used for placement of rulers and guides</a:t>
            </a:r>
          </a:p>
          <a:p>
            <a:pPr lvl="0"/>
            <a:r>
              <a:rPr lang="en-US" dirty="0"/>
              <a:t>Do not put any other graphics or text boxes here</a:t>
            </a:r>
          </a:p>
          <a:p>
            <a:pPr lvl="0"/>
            <a:r>
              <a:rPr lang="en-US" dirty="0"/>
              <a:t>Headline Font – Montserrat (https://</a:t>
            </a:r>
            <a:r>
              <a:rPr lang="en-US" dirty="0" err="1"/>
              <a:t>fonts.google.com</a:t>
            </a:r>
            <a:r>
              <a:rPr lang="en-US" dirty="0"/>
              <a:t>/specimen/Montserrat )</a:t>
            </a:r>
          </a:p>
          <a:p>
            <a:pPr lvl="0"/>
            <a:r>
              <a:rPr lang="en-US" dirty="0"/>
              <a:t>Body Font - Roboto (https://</a:t>
            </a:r>
            <a:r>
              <a:rPr lang="en-US" dirty="0" err="1"/>
              <a:t>fonts.google.com</a:t>
            </a:r>
            <a:r>
              <a:rPr lang="en-US" dirty="0"/>
              <a:t>/specimen/Roboto)</a:t>
            </a:r>
          </a:p>
        </p:txBody>
      </p:sp>
      <p:sp>
        <p:nvSpPr>
          <p:cNvPr id="4" name="Date Placeholder 3">
            <a:extLst>
              <a:ext uri="{FF2B5EF4-FFF2-40B4-BE49-F238E27FC236}">
                <a16:creationId xmlns:a16="http://schemas.microsoft.com/office/drawing/2014/main" id="{8CB5D0A1-B17F-48DD-A041-B590D5DE6CAC}"/>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B485CE4C-37BD-4CE3-90E6-17E5FF14CB41}"/>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819A0563-1B85-4726-975D-F865D6031C51}"/>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1019617434"/>
      </p:ext>
    </p:extLst>
  </p:cSld>
  <p:clrMap bg1="lt1" tx1="dk1" bg2="lt2" tx2="dk2" accent1="accent1" accent2="accent2" accent3="accent3" accent4="accent4" accent5="accent5" accent6="accent6" hlink="hlink" folHlink="folHlink"/>
  <p:sldLayoutIdLst>
    <p:sldLayoutId id="2147483662" r:id="rId1"/>
    <p:sldLayoutId id="2147483721" r:id="rId2"/>
    <p:sldLayoutId id="2147483663" r:id="rId3"/>
    <p:sldLayoutId id="2147483664" r:id="rId4"/>
    <p:sldLayoutId id="2147483722" r:id="rId5"/>
    <p:sldLayoutId id="2147483723"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724" r:id="rId24"/>
    <p:sldLayoutId id="2147483725" r:id="rId25"/>
  </p:sldLayoutIdLst>
  <p:transition spd="slow">
    <p:fade/>
  </p:transition>
  <p:hf hdr="0" ftr="0" dt="0"/>
  <p:txStyles>
    <p:titleStyle>
      <a:lvl1pPr algn="l" defTabSz="914126" rtl="0" eaLnBrk="1" latinLnBrk="0" hangingPunct="1">
        <a:lnSpc>
          <a:spcPct val="90000"/>
        </a:lnSpc>
        <a:spcBef>
          <a:spcPct val="0"/>
        </a:spcBef>
        <a:buNone/>
        <a:defRPr sz="4399" b="0" kern="1200">
          <a:solidFill>
            <a:schemeClr val="accent2"/>
          </a:solidFill>
          <a:latin typeface="Montserrat Medium" pitchFamily="2" charset="77"/>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ontserrat SemiBold" panose="00000700000000000000" pitchFamily="2" charset="0"/>
          <a:ea typeface="Roboto" panose="02000000000000000000" pitchFamily="2" charset="0"/>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Roboto" panose="02000000000000000000" pitchFamily="2" charset="0"/>
          <a:ea typeface="Roboto" panose="02000000000000000000" pitchFamily="2" charset="0"/>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Roboto" panose="02000000000000000000" pitchFamily="2" charset="0"/>
          <a:ea typeface="Roboto" panose="02000000000000000000" pitchFamily="2" charset="0"/>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Roboto" panose="02000000000000000000" pitchFamily="2" charset="0"/>
          <a:ea typeface="Roboto" panose="02000000000000000000" pitchFamily="2" charset="0"/>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Roboto" panose="02000000000000000000" pitchFamily="2" charset="0"/>
          <a:ea typeface="Roboto" panose="02000000000000000000" pitchFamily="2" charset="0"/>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8" userDrawn="1">
          <p15:clr>
            <a:srgbClr val="F26B43"/>
          </p15:clr>
        </p15:guide>
        <p15:guide id="2" pos="7512" userDrawn="1">
          <p15:clr>
            <a:srgbClr val="F26B43"/>
          </p15:clr>
        </p15:guide>
        <p15:guide id="3" orient="horz" pos="144" userDrawn="1">
          <p15:clr>
            <a:srgbClr val="F26B43"/>
          </p15:clr>
        </p15:guide>
        <p15:guide id="4" orient="horz" pos="41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93A48F7-E943-B7D3-E401-3D94970BEAC1}"/>
              </a:ext>
            </a:extLst>
          </p:cNvPr>
          <p:cNvGraphicFramePr>
            <a:graphicFrameLocks noChangeAspect="1"/>
          </p:cNvGraphicFramePr>
          <p:nvPr>
            <p:custDataLst>
              <p:tags r:id="rId9"/>
            </p:custDataLst>
            <p:extLst>
              <p:ext uri="{D42A27DB-BD31-4B8C-83A1-F6EECF244321}">
                <p14:modId xmlns:p14="http://schemas.microsoft.com/office/powerpoint/2010/main" val="392035757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10" imgW="360" imgH="360" progId="TCLayout.ActiveDocument.1">
                  <p:embed/>
                </p:oleObj>
              </mc:Choice>
              <mc:Fallback>
                <p:oleObj name="think-cell Slide" r:id="rId10" imgW="360" imgH="360" progId="TCLayout.ActiveDocument.1">
                  <p:embed/>
                  <p:pic>
                    <p:nvPicPr>
                      <p:cNvPr id="4" name="Object 3" hidden="1">
                        <a:extLst>
                          <a:ext uri="{FF2B5EF4-FFF2-40B4-BE49-F238E27FC236}">
                            <a16:creationId xmlns:a16="http://schemas.microsoft.com/office/drawing/2014/main" id="{793A48F7-E943-B7D3-E401-3D94970BEAC1}"/>
                          </a:ext>
                        </a:extLst>
                      </p:cNvPr>
                      <p:cNvPicPr/>
                      <p:nvPr/>
                    </p:nvPicPr>
                    <p:blipFill>
                      <a:blip r:embed="rId11"/>
                      <a:stretch>
                        <a:fillRect/>
                      </a:stretch>
                    </p:blipFill>
                    <p:spPr>
                      <a:xfrm>
                        <a:off x="2118" y="2118"/>
                        <a:ext cx="2117" cy="2117"/>
                      </a:xfrm>
                      <a:prstGeom prst="rect">
                        <a:avLst/>
                      </a:prstGeom>
                    </p:spPr>
                  </p:pic>
                </p:oleObj>
              </mc:Fallback>
            </mc:AlternateContent>
          </a:graphicData>
        </a:graphic>
      </p:graphicFrame>
      <p:sp>
        <p:nvSpPr>
          <p:cNvPr id="2" name="Title Placeholder 1"/>
          <p:cNvSpPr>
            <a:spLocks noGrp="1"/>
          </p:cNvSpPr>
          <p:nvPr>
            <p:ph type="title"/>
          </p:nvPr>
        </p:nvSpPr>
        <p:spPr>
          <a:xfrm>
            <a:off x="838200" y="1141961"/>
            <a:ext cx="10515600" cy="403619"/>
          </a:xfrm>
          <a:prstGeom prst="rect">
            <a:avLst/>
          </a:prstGeom>
        </p:spPr>
        <p:txBody>
          <a:bodyPr vert="horz" lIns="0" tIns="0" rIns="0" bIns="0" rtlCol="0" anchor="ctr">
            <a:noAutofit/>
          </a:bodyPr>
          <a:lstStyle/>
          <a:p>
            <a:r>
              <a:rPr lang="en-US" dirty="0"/>
              <a:t>[Headline – Montserrat Regular 32pts]</a:t>
            </a:r>
          </a:p>
        </p:txBody>
      </p:sp>
      <p:sp>
        <p:nvSpPr>
          <p:cNvPr id="5" name="Text Placeholder 2">
            <a:extLst>
              <a:ext uri="{FF2B5EF4-FFF2-40B4-BE49-F238E27FC236}">
                <a16:creationId xmlns:a16="http://schemas.microsoft.com/office/drawing/2014/main" id="{C6E58287-20F2-CF6E-4974-8774AA7B888F}"/>
              </a:ext>
            </a:extLst>
          </p:cNvPr>
          <p:cNvSpPr>
            <a:spLocks noGrp="1"/>
          </p:cNvSpPr>
          <p:nvPr>
            <p:ph type="body" idx="1"/>
          </p:nvPr>
        </p:nvSpPr>
        <p:spPr>
          <a:xfrm>
            <a:off x="838200" y="1825625"/>
            <a:ext cx="10515600" cy="1312832"/>
          </a:xfrm>
          <a:prstGeom prst="rect">
            <a:avLst/>
          </a:prstGeom>
        </p:spPr>
        <p:txBody>
          <a:bodyPr vert="horz" lIns="0" tIns="0" rIns="0" bIns="0" rtlCol="0">
            <a:normAutofit/>
          </a:bodyPr>
          <a:lstStyle/>
          <a:p>
            <a:pPr lvl="0"/>
            <a:r>
              <a:rPr lang="en-US" dirty="0"/>
              <a:t>[Subtitle – Montserrat Regular 14pts]</a:t>
            </a:r>
          </a:p>
          <a:p>
            <a:pPr lvl="4"/>
            <a:r>
              <a:rPr lang="en-US" dirty="0"/>
              <a:t>[Body- Roboto Light 10pts]</a:t>
            </a:r>
          </a:p>
        </p:txBody>
      </p:sp>
    </p:spTree>
    <p:extLst>
      <p:ext uri="{BB962C8B-B14F-4D97-AF65-F5344CB8AC3E}">
        <p14:creationId xmlns:p14="http://schemas.microsoft.com/office/powerpoint/2010/main" val="41182329"/>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Lst>
  <p:transition spd="slow">
    <p:fade/>
  </p:transition>
  <p:hf hdr="0" dt="0"/>
  <p:txStyles>
    <p:titleStyle>
      <a:lvl1pPr algn="l" defTabSz="914377" rtl="0" eaLnBrk="1" latinLnBrk="0" hangingPunct="1">
        <a:lnSpc>
          <a:spcPct val="90000"/>
        </a:lnSpc>
        <a:spcBef>
          <a:spcPct val="0"/>
        </a:spcBef>
        <a:buNone/>
        <a:defRPr sz="4267" b="0" i="0" kern="1200">
          <a:solidFill>
            <a:schemeClr val="tx1"/>
          </a:solidFill>
          <a:latin typeface="Montserrat" pitchFamily="2" charset="77"/>
          <a:ea typeface="+mj-ea"/>
          <a:cs typeface="+mj-cs"/>
        </a:defRPr>
      </a:lvl1pPr>
    </p:titleStyle>
    <p:bodyStyle>
      <a:lvl1pPr marL="173732" indent="-173732" algn="l" defTabSz="914377" rtl="0" eaLnBrk="1" latinLnBrk="0" hangingPunct="1">
        <a:lnSpc>
          <a:spcPct val="100000"/>
        </a:lnSpc>
        <a:spcBef>
          <a:spcPts val="1000"/>
        </a:spcBef>
        <a:buFont typeface="Arial" panose="020B0604020202020204" pitchFamily="34" charset="0"/>
        <a:buChar char="•"/>
        <a:defRPr sz="1600" b="0" i="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73732" indent="-173732" algn="l" defTabSz="914377" rtl="0" eaLnBrk="1" latinLnBrk="0" hangingPunct="1">
        <a:lnSpc>
          <a:spcPct val="125000"/>
        </a:lnSpc>
        <a:spcBef>
          <a:spcPts val="500"/>
        </a:spcBef>
        <a:buFont typeface="Arial" panose="020B0604020202020204" pitchFamily="34" charset="0"/>
        <a:buChar char="•"/>
        <a:defRPr sz="1333" b="1" i="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73732" indent="-173732" algn="l" defTabSz="914377" rtl="0" eaLnBrk="1" latinLnBrk="0" hangingPunct="1">
        <a:lnSpc>
          <a:spcPct val="100000"/>
        </a:lnSpc>
        <a:spcBef>
          <a:spcPts val="500"/>
        </a:spcBef>
        <a:buFont typeface="Arial" panose="020B0604020202020204" pitchFamily="34" charset="0"/>
        <a:buChar char="•"/>
        <a:defRPr sz="1333" b="0" i="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3pPr>
      <a:lvl4pPr marL="173732" indent="-173732" algn="l" defTabSz="914377" rtl="0" eaLnBrk="1" latinLnBrk="0" hangingPunct="1">
        <a:lnSpc>
          <a:spcPct val="100000"/>
        </a:lnSpc>
        <a:spcBef>
          <a:spcPts val="500"/>
        </a:spcBef>
        <a:buFont typeface="Arial" panose="020B0604020202020204" pitchFamily="34" charset="0"/>
        <a:buChar char="•"/>
        <a:defRPr sz="1333" b="0" i="0" kern="1200">
          <a:solidFill>
            <a:schemeClr val="tx1"/>
          </a:solidFill>
          <a:latin typeface="Montserrat Light" pitchFamily="2" charset="77"/>
          <a:ea typeface="+mn-ea"/>
          <a:cs typeface="+mn-cs"/>
        </a:defRPr>
      </a:lvl4pPr>
      <a:lvl5pPr marL="173732" indent="-173732" algn="l" defTabSz="914377" rtl="0" eaLnBrk="1" latinLnBrk="0" hangingPunct="1">
        <a:lnSpc>
          <a:spcPct val="100000"/>
        </a:lnSpc>
        <a:spcBef>
          <a:spcPts val="500"/>
        </a:spcBef>
        <a:buFont typeface="Arial" panose="020B0604020202020204" pitchFamily="34" charset="0"/>
        <a:buChar char="•"/>
        <a:defRPr sz="1067" b="0" i="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8" userDrawn="1">
          <p15:clr>
            <a:srgbClr val="F26B43"/>
          </p15:clr>
        </p15:guide>
        <p15:guide id="2" pos="5600" userDrawn="1">
          <p15:clr>
            <a:srgbClr val="F26B43"/>
          </p15:clr>
        </p15:guide>
        <p15:guide id="3" orient="horz" pos="3096" userDrawn="1">
          <p15:clr>
            <a:srgbClr val="F26B43"/>
          </p15:clr>
        </p15:guide>
        <p15:guide id="4" orient="horz" pos="144" userDrawn="1">
          <p15:clr>
            <a:srgbClr val="F26B43"/>
          </p15:clr>
        </p15:guide>
        <p15:guide id="5" orient="horz" pos="292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56AE99-D2BC-486B-B172-857DBA8AC4E8}"/>
              </a:ext>
            </a:extLst>
          </p:cNvPr>
          <p:cNvSpPr>
            <a:spLocks noGrp="1"/>
          </p:cNvSpPr>
          <p:nvPr>
            <p:ph type="title"/>
          </p:nvPr>
        </p:nvSpPr>
        <p:spPr>
          <a:xfrm>
            <a:off x="301752" y="365127"/>
            <a:ext cx="10788162" cy="132556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C50B2DC-668D-4CF3-9DD5-3FB1D0C5FB0B}"/>
              </a:ext>
            </a:extLst>
          </p:cNvPr>
          <p:cNvSpPr>
            <a:spLocks noGrp="1"/>
          </p:cNvSpPr>
          <p:nvPr>
            <p:ph type="body" idx="1"/>
          </p:nvPr>
        </p:nvSpPr>
        <p:spPr>
          <a:xfrm>
            <a:off x="301752" y="1825625"/>
            <a:ext cx="10788162"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B5D0A1-B17F-48DD-A041-B590D5DE6CAC}"/>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5" name="Footer Placeholder 4">
            <a:extLst>
              <a:ext uri="{FF2B5EF4-FFF2-40B4-BE49-F238E27FC236}">
                <a16:creationId xmlns:a16="http://schemas.microsoft.com/office/drawing/2014/main" id="{B485CE4C-37BD-4CE3-90E6-17E5FF14CB41}"/>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ontserrat SemiBold" panose="00000700000000000000" pitchFamily="2" charset="0"/>
              </a:defRPr>
            </a:lvl1pPr>
          </a:lstStyle>
          <a:p>
            <a:pPr defTabSz="914126">
              <a:defRPr/>
            </a:pPr>
            <a:endParaRPr lang="en-US" dirty="0">
              <a:solidFill>
                <a:srgbClr val="1D2B36">
                  <a:tint val="75000"/>
                </a:srgbClr>
              </a:solidFill>
            </a:endParaRPr>
          </a:p>
        </p:txBody>
      </p:sp>
      <p:sp>
        <p:nvSpPr>
          <p:cNvPr id="6" name="Slide Number Placeholder 5">
            <a:extLst>
              <a:ext uri="{FF2B5EF4-FFF2-40B4-BE49-F238E27FC236}">
                <a16:creationId xmlns:a16="http://schemas.microsoft.com/office/drawing/2014/main" id="{819A0563-1B85-4726-975D-F865D6031C51}"/>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SemiBold" panose="00000700000000000000" pitchFamily="2" charset="0"/>
              </a:defRPr>
            </a:lvl1pPr>
          </a:lstStyle>
          <a:p>
            <a:pPr defTabSz="914126">
              <a:defRPr/>
            </a:pPr>
            <a:fld id="{AEACC2C1-74EF-4D17-8FCA-30885DD06988}" type="slidenum">
              <a:rPr lang="en-US" smtClean="0">
                <a:solidFill>
                  <a:srgbClr val="1D2B36">
                    <a:tint val="75000"/>
                  </a:srgbClr>
                </a:solidFill>
              </a:rPr>
              <a:pPr defTabSz="914126">
                <a:defRPr/>
              </a:pPr>
              <a:t>‹#›</a:t>
            </a:fld>
            <a:endParaRPr lang="en-US" dirty="0">
              <a:solidFill>
                <a:srgbClr val="1D2B36">
                  <a:tint val="75000"/>
                </a:srgbClr>
              </a:solidFill>
            </a:endParaRPr>
          </a:p>
        </p:txBody>
      </p:sp>
    </p:spTree>
    <p:extLst>
      <p:ext uri="{BB962C8B-B14F-4D97-AF65-F5344CB8AC3E}">
        <p14:creationId xmlns:p14="http://schemas.microsoft.com/office/powerpoint/2010/main" val="260933913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Lst>
  <p:transition spd="slow">
    <p:fade/>
  </p:transition>
  <p:hf hdr="0" ftr="0" dt="0"/>
  <p:txStyles>
    <p:titleStyle>
      <a:lvl1pPr algn="l" defTabSz="914126" rtl="0" eaLnBrk="1" latinLnBrk="0" hangingPunct="1">
        <a:lnSpc>
          <a:spcPct val="90000"/>
        </a:lnSpc>
        <a:spcBef>
          <a:spcPct val="0"/>
        </a:spcBef>
        <a:buNone/>
        <a:defRPr sz="4399" b="0" kern="1200">
          <a:solidFill>
            <a:schemeClr val="tx2"/>
          </a:solidFill>
          <a:latin typeface="Franklin Gothic Demi" panose="020B0703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Arial Narrow" panose="020B0606020202030204" pitchFamily="34" charset="0"/>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Arial Narrow" panose="020B0606020202030204" pitchFamily="34" charset="0"/>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Arial Narrow" panose="020B0606020202030204" pitchFamily="34" charset="0"/>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Arial Narrow" panose="020B0606020202030204" pitchFamily="34" charset="0"/>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Arial Narrow" panose="020B0606020202030204" pitchFamily="34"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8.xml"/><Relationship Id="rId1" Type="http://schemas.openxmlformats.org/officeDocument/2006/relationships/slideLayout" Target="../slideLayouts/slideLayout25.xml"/><Relationship Id="rId5" Type="http://schemas.openxmlformats.org/officeDocument/2006/relationships/image" Target="../media/image22.svg"/><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5F7D-CA0C-AF30-A0A8-C2374ECB8FE0}"/>
              </a:ext>
            </a:extLst>
          </p:cNvPr>
          <p:cNvSpPr>
            <a:spLocks noGrp="1"/>
          </p:cNvSpPr>
          <p:nvPr>
            <p:ph type="title"/>
          </p:nvPr>
        </p:nvSpPr>
        <p:spPr>
          <a:xfrm>
            <a:off x="633730" y="4714240"/>
            <a:ext cx="10924540" cy="1808480"/>
          </a:xfrm>
        </p:spPr>
        <p:txBody>
          <a:bodyPr>
            <a:noAutofit/>
          </a:bodyPr>
          <a:lstStyle/>
          <a:p>
            <a:r>
              <a:rPr lang="en-US" sz="4400" dirty="0"/>
              <a:t>A just economy that works for all small businesses and communities</a:t>
            </a:r>
          </a:p>
        </p:txBody>
      </p:sp>
    </p:spTree>
    <p:extLst>
      <p:ext uri="{BB962C8B-B14F-4D97-AF65-F5344CB8AC3E}">
        <p14:creationId xmlns:p14="http://schemas.microsoft.com/office/powerpoint/2010/main" val="3349298116"/>
      </p:ext>
    </p:extLst>
  </p:cSld>
  <p:clrMapOvr>
    <a:masterClrMapping/>
  </p:clrMapOvr>
  <p:transition spd="slow" advTm="1615">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5CF3F81D-555C-49AE-A499-129E0FAA363A}"/>
              </a:ext>
            </a:extLst>
          </p:cNvPr>
          <p:cNvSpPr txBox="1">
            <a:spLocks/>
          </p:cNvSpPr>
          <p:nvPr/>
        </p:nvSpPr>
        <p:spPr>
          <a:xfrm>
            <a:off x="5623559" y="786384"/>
            <a:ext cx="6301741" cy="822960"/>
          </a:xfrm>
          <a:prstGeom prst="rect">
            <a:avLst/>
          </a:prstGeom>
        </p:spPr>
        <p:txBody>
          <a:bodyPr vert="horz" lIns="91440" tIns="45720" rIns="91440" bIns="45720" rtlCol="0" anchor="t">
            <a:noAutofit/>
          </a:bodyPr>
          <a:lstStyle>
            <a:lvl1pPr algn="l" defTabSz="914126" rtl="0" eaLnBrk="1" latinLnBrk="0" hangingPunct="1">
              <a:lnSpc>
                <a:spcPct val="90000"/>
              </a:lnSpc>
              <a:spcBef>
                <a:spcPct val="0"/>
              </a:spcBef>
              <a:buNone/>
              <a:defRPr sz="3200" b="0" kern="1200">
                <a:solidFill>
                  <a:schemeClr val="tx2"/>
                </a:solidFill>
                <a:latin typeface="Franklin Gothic Demi" panose="020B0703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914126" rtl="0" eaLnBrk="1" fontAlgn="auto" latinLnBrk="0" hangingPunct="1">
              <a:lnSpc>
                <a:spcPct val="90000"/>
              </a:lnSpc>
              <a:spcBef>
                <a:spcPct val="0"/>
              </a:spcBef>
              <a:spcAft>
                <a:spcPts val="0"/>
              </a:spcAft>
              <a:buClrTx/>
              <a:buSzTx/>
              <a:buFontTx/>
              <a:buNone/>
              <a:tabLst/>
              <a:defRPr/>
            </a:pPr>
            <a:r>
              <a:rPr kumimoji="0" lang="en-US" sz="2400" u="none" strike="noStrike" kern="1200" cap="none" spc="0" normalizeH="0" baseline="0" noProof="0" dirty="0">
                <a:ln>
                  <a:noFill/>
                </a:ln>
                <a:solidFill>
                  <a:schemeClr val="bg1">
                    <a:lumMod val="50000"/>
                  </a:schemeClr>
                </a:solidFill>
                <a:effectLst/>
                <a:uLnTx/>
                <a:uFillTx/>
                <a:latin typeface="Roboto Light" panose="02000000000000000000" pitchFamily="2" charset="0"/>
                <a:ea typeface="Roboto Light" panose="02000000000000000000" pitchFamily="2" charset="0"/>
                <a:cs typeface="Segoe UI" pitchFamily="34" charset="0"/>
              </a:rPr>
              <a:t>Improving lives and strengthening communities for over 30 years</a:t>
            </a:r>
            <a:endParaRPr kumimoji="0" lang="en-US" sz="8000" u="none" strike="noStrike" kern="1200" cap="none" spc="0" normalizeH="0" baseline="0" noProof="0" dirty="0">
              <a:ln>
                <a:noFill/>
              </a:ln>
              <a:solidFill>
                <a:schemeClr val="bg1">
                  <a:lumMod val="50000"/>
                </a:schemeClr>
              </a:solidFill>
              <a:effectLst/>
              <a:uLnTx/>
              <a:uFillTx/>
              <a:latin typeface="Roboto Light" panose="02000000000000000000" pitchFamily="2" charset="0"/>
              <a:ea typeface="Roboto Light" panose="02000000000000000000" pitchFamily="2" charset="0"/>
            </a:endParaRPr>
          </a:p>
        </p:txBody>
      </p:sp>
      <p:sp>
        <p:nvSpPr>
          <p:cNvPr id="15" name="Title 14">
            <a:extLst>
              <a:ext uri="{FF2B5EF4-FFF2-40B4-BE49-F238E27FC236}">
                <a16:creationId xmlns:a16="http://schemas.microsoft.com/office/drawing/2014/main" id="{C72F5914-47C4-2172-8FD1-D4241714A106}"/>
              </a:ext>
            </a:extLst>
          </p:cNvPr>
          <p:cNvSpPr>
            <a:spLocks noGrp="1"/>
          </p:cNvSpPr>
          <p:nvPr>
            <p:ph type="title"/>
          </p:nvPr>
        </p:nvSpPr>
        <p:spPr>
          <a:xfrm>
            <a:off x="266700" y="228601"/>
            <a:ext cx="11658600" cy="1010920"/>
          </a:xfrm>
        </p:spPr>
        <p:txBody>
          <a:bodyPr>
            <a:normAutofit fontScale="90000"/>
          </a:bodyPr>
          <a:lstStyle/>
          <a:p>
            <a:r>
              <a:rPr lang="en-US" dirty="0"/>
              <a:t>A Track Record for Transformative Community Impact</a:t>
            </a:r>
          </a:p>
        </p:txBody>
      </p:sp>
      <p:sp>
        <p:nvSpPr>
          <p:cNvPr id="19" name="Text Placeholder 1">
            <a:extLst>
              <a:ext uri="{FF2B5EF4-FFF2-40B4-BE49-F238E27FC236}">
                <a16:creationId xmlns:a16="http://schemas.microsoft.com/office/drawing/2014/main" id="{FD2446F2-F38D-4302-2D2E-CDEB9FF7634E}"/>
              </a:ext>
            </a:extLst>
          </p:cNvPr>
          <p:cNvSpPr txBox="1">
            <a:spLocks/>
          </p:cNvSpPr>
          <p:nvPr/>
        </p:nvSpPr>
        <p:spPr>
          <a:xfrm>
            <a:off x="1006452" y="2687889"/>
            <a:ext cx="1975897"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kumimoji="0" lang="en-US" sz="3000" b="1" u="none" strike="noStrike" kern="1200" cap="none" spc="0" normalizeH="0" baseline="30000" noProof="0" dirty="0">
                <a:ln>
                  <a:noFill/>
                </a:ln>
                <a:solidFill>
                  <a:schemeClr val="tx2"/>
                </a:solidFill>
                <a:effectLst/>
                <a:uLnTx/>
                <a:uFillTx/>
                <a:latin typeface="Montserrat" pitchFamily="2" charset="77"/>
              </a:rPr>
              <a:t>$3.6 billion</a:t>
            </a:r>
          </a:p>
        </p:txBody>
      </p:sp>
      <p:sp>
        <p:nvSpPr>
          <p:cNvPr id="22" name="Text Placeholder 1">
            <a:extLst>
              <a:ext uri="{FF2B5EF4-FFF2-40B4-BE49-F238E27FC236}">
                <a16:creationId xmlns:a16="http://schemas.microsoft.com/office/drawing/2014/main" id="{11E0170E-956C-2809-EF4D-EDA382ED17FA}"/>
              </a:ext>
            </a:extLst>
          </p:cNvPr>
          <p:cNvSpPr txBox="1">
            <a:spLocks/>
          </p:cNvSpPr>
          <p:nvPr/>
        </p:nvSpPr>
        <p:spPr>
          <a:xfrm>
            <a:off x="1055251" y="2984988"/>
            <a:ext cx="1898261"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kumimoji="0" lang="en-US" sz="1800" u="none" strike="noStrike" kern="1200" cap="none" spc="0" normalizeH="0" baseline="30000" noProof="0" dirty="0">
                <a:ln>
                  <a:noFill/>
                </a:ln>
                <a:solidFill>
                  <a:schemeClr val="tx2"/>
                </a:solidFill>
                <a:effectLst/>
                <a:uLnTx/>
                <a:uFillTx/>
                <a:latin typeface="Montserrat SemiBold" panose="00000700000000000000" pitchFamily="2" charset="0"/>
                <a:ea typeface="Roboto" panose="02000000000000000000" pitchFamily="2" charset="0"/>
              </a:rPr>
              <a:t>in financing</a:t>
            </a:r>
          </a:p>
        </p:txBody>
      </p:sp>
      <p:sp>
        <p:nvSpPr>
          <p:cNvPr id="23" name="Text Placeholder 1">
            <a:extLst>
              <a:ext uri="{FF2B5EF4-FFF2-40B4-BE49-F238E27FC236}">
                <a16:creationId xmlns:a16="http://schemas.microsoft.com/office/drawing/2014/main" id="{CC81DB52-E92B-6CAF-0B56-8DA2D1CCB7B8}"/>
              </a:ext>
            </a:extLst>
          </p:cNvPr>
          <p:cNvSpPr txBox="1">
            <a:spLocks/>
          </p:cNvSpPr>
          <p:nvPr/>
        </p:nvSpPr>
        <p:spPr>
          <a:xfrm>
            <a:off x="932634" y="4463594"/>
            <a:ext cx="937186"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lang="en-US" sz="3000" b="1" baseline="30000" dirty="0">
                <a:solidFill>
                  <a:schemeClr val="tx2"/>
                </a:solidFill>
                <a:latin typeface="Montserrat" pitchFamily="2" charset="77"/>
              </a:rPr>
              <a:t>52</a:t>
            </a:r>
            <a:r>
              <a:rPr kumimoji="0" lang="en-US" sz="3000" b="0" i="0" u="none" strike="noStrike" kern="1200" cap="none" spc="0" normalizeH="0" baseline="30000" noProof="0" dirty="0">
                <a:ln>
                  <a:noFill/>
                </a:ln>
                <a:solidFill>
                  <a:schemeClr val="tx2"/>
                </a:solidFill>
                <a:effectLst/>
                <a:uLnTx/>
                <a:uFillTx/>
                <a:latin typeface="Montserrat Medium" pitchFamily="2" charset="77"/>
              </a:rPr>
              <a:t>% </a:t>
            </a:r>
          </a:p>
        </p:txBody>
      </p:sp>
      <p:sp>
        <p:nvSpPr>
          <p:cNvPr id="26" name="Text Placeholder 1">
            <a:extLst>
              <a:ext uri="{FF2B5EF4-FFF2-40B4-BE49-F238E27FC236}">
                <a16:creationId xmlns:a16="http://schemas.microsoft.com/office/drawing/2014/main" id="{563336E3-1126-9A95-88B1-A2E2BDD101A7}"/>
              </a:ext>
            </a:extLst>
          </p:cNvPr>
          <p:cNvSpPr txBox="1">
            <a:spLocks/>
          </p:cNvSpPr>
          <p:nvPr/>
        </p:nvSpPr>
        <p:spPr>
          <a:xfrm>
            <a:off x="937185" y="4766762"/>
            <a:ext cx="2018752"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kumimoji="0" lang="en-US" sz="1800" u="none" strike="noStrike" kern="1200" cap="none" spc="0" normalizeH="0" baseline="30000" noProof="0" dirty="0">
                <a:ln>
                  <a:noFill/>
                </a:ln>
                <a:solidFill>
                  <a:schemeClr val="tx2"/>
                </a:solidFill>
                <a:effectLst/>
                <a:uLnTx/>
                <a:uFillTx/>
                <a:latin typeface="Montserrat SemiBold" panose="00000700000000000000" pitchFamily="2" charset="0"/>
                <a:ea typeface="Roboto" panose="02000000000000000000" pitchFamily="2" charset="0"/>
              </a:rPr>
              <a:t>Located in low-income communities</a:t>
            </a:r>
          </a:p>
        </p:txBody>
      </p:sp>
      <p:sp>
        <p:nvSpPr>
          <p:cNvPr id="27" name="Text Placeholder 1">
            <a:extLst>
              <a:ext uri="{FF2B5EF4-FFF2-40B4-BE49-F238E27FC236}">
                <a16:creationId xmlns:a16="http://schemas.microsoft.com/office/drawing/2014/main" id="{A3AADE4E-F6F9-0D7C-C91D-B6639D87EAE2}"/>
              </a:ext>
            </a:extLst>
          </p:cNvPr>
          <p:cNvSpPr txBox="1">
            <a:spLocks/>
          </p:cNvSpPr>
          <p:nvPr/>
        </p:nvSpPr>
        <p:spPr>
          <a:xfrm>
            <a:off x="3964119" y="2687889"/>
            <a:ext cx="1787989"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lang="en-US" sz="3000" b="1" baseline="30000" dirty="0">
                <a:solidFill>
                  <a:schemeClr val="tx2"/>
                </a:solidFill>
                <a:latin typeface="Montserrat" pitchFamily="2" charset="77"/>
              </a:rPr>
              <a:t>9,400</a:t>
            </a:r>
            <a:r>
              <a:rPr kumimoji="0" lang="en-US" sz="3000" b="0" i="0" u="none" strike="noStrike" kern="1200" cap="none" spc="0" normalizeH="0" baseline="30000" noProof="0" dirty="0">
                <a:ln>
                  <a:noFill/>
                </a:ln>
                <a:solidFill>
                  <a:schemeClr val="tx2"/>
                </a:solidFill>
                <a:effectLst/>
                <a:uLnTx/>
                <a:uFillTx/>
                <a:latin typeface="Montserrat Medium" pitchFamily="2" charset="77"/>
              </a:rPr>
              <a:t>+</a:t>
            </a:r>
          </a:p>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endParaRPr kumimoji="0" lang="en-US" sz="4000" b="0" i="0" u="none" strike="noStrike" kern="1200" cap="none" spc="0" normalizeH="0" baseline="30000" noProof="0" dirty="0">
              <a:ln>
                <a:noFill/>
              </a:ln>
              <a:solidFill>
                <a:schemeClr val="tx2"/>
              </a:solidFill>
              <a:effectLst/>
              <a:uLnTx/>
              <a:uFillTx/>
              <a:latin typeface="Franklin Gothic Book" panose="020B0503020102020204" pitchFamily="34" charset="0"/>
              <a:cs typeface="Segoe UI" pitchFamily="34" charset="0"/>
            </a:endParaRPr>
          </a:p>
        </p:txBody>
      </p:sp>
      <p:sp>
        <p:nvSpPr>
          <p:cNvPr id="31" name="Text Placeholder 1">
            <a:extLst>
              <a:ext uri="{FF2B5EF4-FFF2-40B4-BE49-F238E27FC236}">
                <a16:creationId xmlns:a16="http://schemas.microsoft.com/office/drawing/2014/main" id="{B626F025-271B-0709-9C40-E077E77211D9}"/>
              </a:ext>
            </a:extLst>
          </p:cNvPr>
          <p:cNvSpPr txBox="1">
            <a:spLocks/>
          </p:cNvSpPr>
          <p:nvPr/>
        </p:nvSpPr>
        <p:spPr>
          <a:xfrm>
            <a:off x="3964119" y="2974249"/>
            <a:ext cx="1787989"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kumimoji="0" lang="en-US" sz="1800" u="none" strike="noStrike" kern="1200" cap="none" spc="0" normalizeH="0" baseline="30000" noProof="0" dirty="0">
                <a:ln>
                  <a:noFill/>
                </a:ln>
                <a:solidFill>
                  <a:schemeClr val="tx2"/>
                </a:solidFill>
                <a:effectLst/>
                <a:uLnTx/>
                <a:uFillTx/>
                <a:latin typeface="Montserrat SemiBold" panose="00000700000000000000" pitchFamily="2" charset="0"/>
                <a:ea typeface="Roboto" panose="02000000000000000000" pitchFamily="2" charset="0"/>
              </a:rPr>
              <a:t>small businesses</a:t>
            </a:r>
          </a:p>
        </p:txBody>
      </p:sp>
      <p:sp>
        <p:nvSpPr>
          <p:cNvPr id="32" name="Text Placeholder 1">
            <a:extLst>
              <a:ext uri="{FF2B5EF4-FFF2-40B4-BE49-F238E27FC236}">
                <a16:creationId xmlns:a16="http://schemas.microsoft.com/office/drawing/2014/main" id="{8CF15A64-D4BA-5388-2336-625A18131FF8}"/>
              </a:ext>
            </a:extLst>
          </p:cNvPr>
          <p:cNvSpPr txBox="1">
            <a:spLocks/>
          </p:cNvSpPr>
          <p:nvPr/>
        </p:nvSpPr>
        <p:spPr>
          <a:xfrm>
            <a:off x="3942872" y="3636440"/>
            <a:ext cx="1225072"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lang="en-US" sz="3000" b="1" baseline="30000" dirty="0">
                <a:solidFill>
                  <a:schemeClr val="tx2"/>
                </a:solidFill>
                <a:latin typeface="Montserrat" pitchFamily="2" charset="77"/>
              </a:rPr>
              <a:t>71</a:t>
            </a:r>
            <a:r>
              <a:rPr kumimoji="0" lang="en-US" sz="3000" b="0" i="0" u="none" strike="noStrike" kern="1200" cap="none" spc="0" normalizeH="0" baseline="30000" noProof="0" dirty="0">
                <a:ln>
                  <a:noFill/>
                </a:ln>
                <a:solidFill>
                  <a:schemeClr val="tx2"/>
                </a:solidFill>
                <a:effectLst/>
                <a:uLnTx/>
                <a:uFillTx/>
                <a:latin typeface="Montserrat Medium" pitchFamily="2" charset="77"/>
              </a:rPr>
              <a:t>%*</a:t>
            </a:r>
          </a:p>
        </p:txBody>
      </p:sp>
      <p:sp>
        <p:nvSpPr>
          <p:cNvPr id="33" name="Text Placeholder 1">
            <a:extLst>
              <a:ext uri="{FF2B5EF4-FFF2-40B4-BE49-F238E27FC236}">
                <a16:creationId xmlns:a16="http://schemas.microsoft.com/office/drawing/2014/main" id="{5B26AB58-AB61-17E5-12CA-C641C41FCD94}"/>
              </a:ext>
            </a:extLst>
          </p:cNvPr>
          <p:cNvSpPr txBox="1">
            <a:spLocks/>
          </p:cNvSpPr>
          <p:nvPr/>
        </p:nvSpPr>
        <p:spPr>
          <a:xfrm>
            <a:off x="3970249" y="3969460"/>
            <a:ext cx="2100999" cy="405998"/>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kumimoji="0" lang="en-US" sz="1800" u="none" strike="noStrike" kern="1200" cap="none" spc="0" normalizeH="0" baseline="30000" noProof="0" dirty="0">
                <a:ln>
                  <a:noFill/>
                </a:ln>
                <a:solidFill>
                  <a:schemeClr val="tx2"/>
                </a:solidFill>
                <a:effectLst/>
                <a:uLnTx/>
                <a:uFillTx/>
                <a:latin typeface="Montserrat SemiBold" panose="00000700000000000000" pitchFamily="2" charset="0"/>
                <a:ea typeface="Roboto" panose="02000000000000000000" pitchFamily="2" charset="0"/>
              </a:rPr>
              <a:t>Diverse small businesses</a:t>
            </a:r>
          </a:p>
        </p:txBody>
      </p:sp>
      <p:sp>
        <p:nvSpPr>
          <p:cNvPr id="34" name="Text Placeholder 1">
            <a:extLst>
              <a:ext uri="{FF2B5EF4-FFF2-40B4-BE49-F238E27FC236}">
                <a16:creationId xmlns:a16="http://schemas.microsoft.com/office/drawing/2014/main" id="{81BBFFE4-E349-3038-5271-B871D52F682B}"/>
              </a:ext>
            </a:extLst>
          </p:cNvPr>
          <p:cNvSpPr txBox="1">
            <a:spLocks/>
          </p:cNvSpPr>
          <p:nvPr/>
        </p:nvSpPr>
        <p:spPr>
          <a:xfrm>
            <a:off x="972804" y="3675706"/>
            <a:ext cx="1798971"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lang="en-US" sz="3000" b="1" baseline="30000" dirty="0">
                <a:solidFill>
                  <a:schemeClr val="tx2"/>
                </a:solidFill>
                <a:latin typeface="Montserrat" pitchFamily="2" charset="77"/>
              </a:rPr>
              <a:t>157,000</a:t>
            </a:r>
            <a:r>
              <a:rPr kumimoji="0" lang="en-US" sz="3000" b="0" i="0" u="none" strike="noStrike" kern="1200" cap="none" spc="0" normalizeH="0" baseline="30000" noProof="0" dirty="0">
                <a:ln>
                  <a:noFill/>
                </a:ln>
                <a:solidFill>
                  <a:schemeClr val="tx2"/>
                </a:solidFill>
                <a:effectLst/>
                <a:uLnTx/>
                <a:uFillTx/>
                <a:latin typeface="Montserrat Medium" pitchFamily="2" charset="77"/>
              </a:rPr>
              <a:t>+</a:t>
            </a:r>
          </a:p>
        </p:txBody>
      </p:sp>
      <p:sp>
        <p:nvSpPr>
          <p:cNvPr id="35" name="Text Placeholder 1">
            <a:extLst>
              <a:ext uri="{FF2B5EF4-FFF2-40B4-BE49-F238E27FC236}">
                <a16:creationId xmlns:a16="http://schemas.microsoft.com/office/drawing/2014/main" id="{17187B7C-20C2-1BFF-452C-AD553D4D6C72}"/>
              </a:ext>
            </a:extLst>
          </p:cNvPr>
          <p:cNvSpPr txBox="1">
            <a:spLocks/>
          </p:cNvSpPr>
          <p:nvPr/>
        </p:nvSpPr>
        <p:spPr>
          <a:xfrm>
            <a:off x="972804" y="3952922"/>
            <a:ext cx="2072148"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kumimoji="0" lang="en-US" sz="1800" u="none" strike="noStrike" kern="1200" cap="none" spc="0" normalizeH="0" baseline="30000" noProof="0" dirty="0">
                <a:ln>
                  <a:noFill/>
                </a:ln>
                <a:solidFill>
                  <a:schemeClr val="tx2"/>
                </a:solidFill>
                <a:effectLst/>
                <a:uLnTx/>
                <a:uFillTx/>
                <a:latin typeface="Montserrat SemiBold" panose="00000700000000000000" pitchFamily="2" charset="0"/>
                <a:ea typeface="Roboto" panose="02000000000000000000" pitchFamily="2" charset="0"/>
              </a:rPr>
              <a:t>jobs created or retained</a:t>
            </a:r>
          </a:p>
        </p:txBody>
      </p:sp>
      <p:pic>
        <p:nvPicPr>
          <p:cNvPr id="36" name="Graphic 35" descr="Money with solid fill">
            <a:extLst>
              <a:ext uri="{FF2B5EF4-FFF2-40B4-BE49-F238E27FC236}">
                <a16:creationId xmlns:a16="http://schemas.microsoft.com/office/drawing/2014/main" id="{414CB97C-A4FB-AE77-EA04-22BEA829339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39790" y="2547496"/>
            <a:ext cx="633014" cy="633014"/>
          </a:xfrm>
          <a:prstGeom prst="rect">
            <a:avLst/>
          </a:prstGeom>
        </p:spPr>
      </p:pic>
      <p:pic>
        <p:nvPicPr>
          <p:cNvPr id="37" name="Graphic 36" descr="Map compass with solid fill">
            <a:extLst>
              <a:ext uri="{FF2B5EF4-FFF2-40B4-BE49-F238E27FC236}">
                <a16:creationId xmlns:a16="http://schemas.microsoft.com/office/drawing/2014/main" id="{DB965DD9-1C26-4925-C457-260D5724B193}"/>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9959" y="4450521"/>
            <a:ext cx="552675" cy="552675"/>
          </a:xfrm>
          <a:prstGeom prst="rect">
            <a:avLst/>
          </a:prstGeom>
        </p:spPr>
      </p:pic>
      <p:pic>
        <p:nvPicPr>
          <p:cNvPr id="39" name="Graphic 38" descr="Store with solid fill">
            <a:extLst>
              <a:ext uri="{FF2B5EF4-FFF2-40B4-BE49-F238E27FC236}">
                <a16:creationId xmlns:a16="http://schemas.microsoft.com/office/drawing/2014/main" id="{0A0C7756-6BDE-94F9-A8E6-69EA66AFD9E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6664" y="2595418"/>
            <a:ext cx="499838" cy="499838"/>
          </a:xfrm>
          <a:prstGeom prst="rect">
            <a:avLst/>
          </a:prstGeom>
        </p:spPr>
      </p:pic>
      <p:pic>
        <p:nvPicPr>
          <p:cNvPr id="41" name="Graphic 40" descr="Modern architecture with solid fill">
            <a:extLst>
              <a:ext uri="{FF2B5EF4-FFF2-40B4-BE49-F238E27FC236}">
                <a16:creationId xmlns:a16="http://schemas.microsoft.com/office/drawing/2014/main" id="{A9CA0A07-2852-C2AB-706B-C7CC541131E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9790" y="3604474"/>
            <a:ext cx="633014" cy="633014"/>
          </a:xfrm>
          <a:prstGeom prst="rect">
            <a:avLst/>
          </a:prstGeom>
        </p:spPr>
      </p:pic>
      <p:sp>
        <p:nvSpPr>
          <p:cNvPr id="43" name="Rectangle: Rounded Corners 1">
            <a:extLst>
              <a:ext uri="{FF2B5EF4-FFF2-40B4-BE49-F238E27FC236}">
                <a16:creationId xmlns:a16="http://schemas.microsoft.com/office/drawing/2014/main" id="{87BD1091-F4AC-B418-8848-3B4CA6023F5E}"/>
              </a:ext>
            </a:extLst>
          </p:cNvPr>
          <p:cNvSpPr/>
          <p:nvPr/>
        </p:nvSpPr>
        <p:spPr>
          <a:xfrm>
            <a:off x="339791" y="1827270"/>
            <a:ext cx="5083072" cy="50357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1"/>
                </a:solidFill>
                <a:latin typeface="Montserrat Medium" pitchFamily="2" charset="77"/>
              </a:rPr>
              <a:t>CRF Lending Impact</a:t>
            </a:r>
          </a:p>
        </p:txBody>
      </p:sp>
      <p:cxnSp>
        <p:nvCxnSpPr>
          <p:cNvPr id="68" name="Straight Connector 67">
            <a:extLst>
              <a:ext uri="{FF2B5EF4-FFF2-40B4-BE49-F238E27FC236}">
                <a16:creationId xmlns:a16="http://schemas.microsoft.com/office/drawing/2014/main" id="{C4BF6C38-32BC-3E84-A9E9-ED0DEFBD28CB}"/>
              </a:ext>
            </a:extLst>
          </p:cNvPr>
          <p:cNvCxnSpPr>
            <a:cxnSpLocks/>
          </p:cNvCxnSpPr>
          <p:nvPr/>
        </p:nvCxnSpPr>
        <p:spPr>
          <a:xfrm>
            <a:off x="6165395" y="2543884"/>
            <a:ext cx="0" cy="3060534"/>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70" name="Graphic 69" descr="Group of men with solid fill">
            <a:extLst>
              <a:ext uri="{FF2B5EF4-FFF2-40B4-BE49-F238E27FC236}">
                <a16:creationId xmlns:a16="http://schemas.microsoft.com/office/drawing/2014/main" id="{F09AEFD2-75CF-2637-7FE3-FB8424BED5CC}"/>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367236" y="3533742"/>
            <a:ext cx="541988" cy="541988"/>
          </a:xfrm>
          <a:prstGeom prst="rect">
            <a:avLst/>
          </a:prstGeom>
        </p:spPr>
      </p:pic>
      <p:sp>
        <p:nvSpPr>
          <p:cNvPr id="77" name="Text Placeholder 1">
            <a:extLst>
              <a:ext uri="{FF2B5EF4-FFF2-40B4-BE49-F238E27FC236}">
                <a16:creationId xmlns:a16="http://schemas.microsoft.com/office/drawing/2014/main" id="{01CB51FE-A5D4-572E-D42A-21AD9D4BA83B}"/>
              </a:ext>
            </a:extLst>
          </p:cNvPr>
          <p:cNvSpPr txBox="1">
            <a:spLocks/>
          </p:cNvSpPr>
          <p:nvPr/>
        </p:nvSpPr>
        <p:spPr>
          <a:xfrm>
            <a:off x="9522436" y="5610643"/>
            <a:ext cx="2339118" cy="434152"/>
          </a:xfrm>
          <a:prstGeom prst="roundRect">
            <a:avLst/>
          </a:prstGeom>
          <a:noFill/>
        </p:spPr>
        <p:txBody>
          <a:bodyPr vert="horz" lIns="91440" tIns="45720" rIns="91440" bIns="45720" rtlCol="0">
            <a:noAutofit/>
          </a:bodyPr>
          <a:lstStyle>
            <a:lvl1pPr marL="0" indent="0" algn="l" defTabSz="816317" rtl="0" eaLnBrk="1" latinLnBrk="0" hangingPunct="1">
              <a:spcBef>
                <a:spcPct val="20000"/>
              </a:spcBef>
              <a:buClr>
                <a:schemeClr val="tx1"/>
              </a:buClr>
              <a:buSzPct val="100000"/>
              <a:buFont typeface="Wingdings" pitchFamily="2" charset="2"/>
              <a:buNone/>
              <a:defRPr sz="2851" kern="1200">
                <a:solidFill>
                  <a:srgbClr val="FE3D05"/>
                </a:solidFill>
                <a:latin typeface="+mn-lt"/>
                <a:ea typeface="Segoe UI" pitchFamily="34" charset="0"/>
                <a:cs typeface="Segoe UI" pitchFamily="34" charset="0"/>
              </a:defRPr>
            </a:lvl1pPr>
            <a:lvl2pPr marL="357158" indent="-145839" algn="l" defTabSz="816317" rtl="0" eaLnBrk="1" latinLnBrk="0" hangingPunct="1">
              <a:spcBef>
                <a:spcPct val="20000"/>
              </a:spcBef>
              <a:buFont typeface="Arial" pitchFamily="34" charset="0"/>
              <a:buChar char="–"/>
              <a:defRPr sz="1351" kern="1200">
                <a:solidFill>
                  <a:srgbClr val="505050"/>
                </a:solidFill>
                <a:latin typeface="Segoe UI" pitchFamily="34" charset="0"/>
                <a:ea typeface="Segoe UI" pitchFamily="34" charset="0"/>
                <a:cs typeface="Segoe UI" pitchFamily="34" charset="0"/>
              </a:defRPr>
            </a:lvl2pPr>
            <a:lvl3pPr marL="571451" indent="-129965" algn="l" defTabSz="816317" rtl="0" eaLnBrk="1" latinLnBrk="0" hangingPunct="1">
              <a:spcBef>
                <a:spcPct val="20000"/>
              </a:spcBef>
              <a:buFont typeface="Arial" pitchFamily="34" charset="0"/>
              <a:buChar char="•"/>
              <a:defRPr sz="1200" kern="1200">
                <a:solidFill>
                  <a:srgbClr val="505050"/>
                </a:solidFill>
                <a:latin typeface="Segoe UI" pitchFamily="34" charset="0"/>
                <a:ea typeface="Segoe UI" pitchFamily="34" charset="0"/>
                <a:cs typeface="Segoe UI" pitchFamily="34" charset="0"/>
              </a:defRPr>
            </a:lvl3pPr>
            <a:lvl4pPr marL="785744" indent="-132941"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4pPr>
            <a:lvl5pPr marL="964324" indent="-134927" algn="l" defTabSz="816317" rtl="0" eaLnBrk="1" latinLnBrk="0" hangingPunct="1">
              <a:spcBef>
                <a:spcPct val="20000"/>
              </a:spcBef>
              <a:buFont typeface="Arial" pitchFamily="34" charset="0"/>
              <a:buChar char="»"/>
              <a:defRPr sz="1051" kern="1200">
                <a:solidFill>
                  <a:srgbClr val="505050"/>
                </a:solidFill>
                <a:latin typeface="Segoe UI" pitchFamily="34" charset="0"/>
                <a:ea typeface="Segoe UI" pitchFamily="34" charset="0"/>
                <a:cs typeface="Segoe UI" pitchFamily="34" charset="0"/>
              </a:defRPr>
            </a:lvl5pPr>
            <a:lvl6pPr marL="2244873"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6pPr>
            <a:lvl7pPr marL="2653031"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7pPr>
            <a:lvl8pPr marL="3061190"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8pPr>
            <a:lvl9pPr marL="3469348" indent="-204080" algn="l" defTabSz="816317" rtl="0" eaLnBrk="1" latinLnBrk="0" hangingPunct="1">
              <a:spcBef>
                <a:spcPct val="20000"/>
              </a:spcBef>
              <a:buFont typeface="Arial" pitchFamily="34" charset="0"/>
              <a:buChar char="•"/>
              <a:defRPr sz="1877" kern="1200">
                <a:solidFill>
                  <a:schemeClr val="tx1"/>
                </a:solidFill>
                <a:latin typeface="+mn-lt"/>
                <a:ea typeface="+mn-ea"/>
                <a:cs typeface="+mn-cs"/>
              </a:defRPr>
            </a:lvl9pPr>
          </a:lstStyle>
          <a:p>
            <a:pPr marL="0" marR="0" lvl="0" indent="0" algn="r" defTabSz="816317" rtl="0" eaLnBrk="1" fontAlgn="auto" latinLnBrk="0" hangingPunct="1">
              <a:lnSpc>
                <a:spcPct val="100000"/>
              </a:lnSpc>
              <a:spcBef>
                <a:spcPct val="20000"/>
              </a:spcBef>
              <a:spcAft>
                <a:spcPts val="0"/>
              </a:spcAft>
              <a:buClr>
                <a:srgbClr val="282828"/>
              </a:buClr>
              <a:buSzPct val="100000"/>
              <a:buFont typeface="Wingdings" pitchFamily="2" charset="2"/>
              <a:buNone/>
              <a:tabLst/>
              <a:defRPr/>
            </a:pPr>
            <a:r>
              <a:rPr kumimoji="0" lang="en-US" sz="1400" b="0" i="1" strike="noStrike" kern="1200" cap="none" spc="0" normalizeH="0" baseline="30000" noProof="0" dirty="0">
                <a:ln>
                  <a:noFill/>
                </a:ln>
                <a:solidFill>
                  <a:schemeClr val="tx2"/>
                </a:solidFill>
                <a:effectLst/>
                <a:uLnTx/>
                <a:uFillTx/>
                <a:latin typeface="Franklin Gothic Book" panose="020B0503020102020204" pitchFamily="34" charset="0"/>
                <a:cs typeface="Segoe UI" pitchFamily="34" charset="0"/>
              </a:rPr>
              <a:t>*self-reported data beginning 2019</a:t>
            </a:r>
            <a:endParaRPr kumimoji="0" lang="en-US" sz="1100" b="0" i="1" strike="noStrike" kern="1200" cap="none" spc="0" normalizeH="0" baseline="30000" noProof="0" dirty="0">
              <a:ln>
                <a:noFill/>
              </a:ln>
              <a:solidFill>
                <a:schemeClr val="tx2"/>
              </a:solidFill>
              <a:effectLst/>
              <a:uLnTx/>
              <a:uFillTx/>
              <a:latin typeface="Franklin Gothic Book" panose="020B0503020102020204" pitchFamily="34" charset="0"/>
              <a:cs typeface="Segoe UI" pitchFamily="34" charset="0"/>
            </a:endParaRPr>
          </a:p>
        </p:txBody>
      </p:sp>
      <p:sp>
        <p:nvSpPr>
          <p:cNvPr id="2" name="TextBox 1">
            <a:extLst>
              <a:ext uri="{FF2B5EF4-FFF2-40B4-BE49-F238E27FC236}">
                <a16:creationId xmlns:a16="http://schemas.microsoft.com/office/drawing/2014/main" id="{A8830701-ACE1-927E-18AB-07579728CFE1}"/>
              </a:ext>
            </a:extLst>
          </p:cNvPr>
          <p:cNvSpPr txBox="1"/>
          <p:nvPr/>
        </p:nvSpPr>
        <p:spPr>
          <a:xfrm>
            <a:off x="7459461" y="1792774"/>
            <a:ext cx="342690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5">
                    <a:lumMod val="90000"/>
                    <a:lumOff val="10000"/>
                  </a:schemeClr>
                </a:solidFill>
                <a:effectLst/>
                <a:uLnTx/>
                <a:uFillTx/>
                <a:latin typeface="Franklin Gothic Demi" panose="020B0703020102020204" pitchFamily="34" charset="0"/>
                <a:ea typeface="+mn-ea"/>
                <a:cs typeface="+mn-cs"/>
              </a:rPr>
              <a:t>OUR MISSION</a:t>
            </a:r>
            <a:endParaRPr kumimoji="0" lang="en-US" sz="1800" b="1" i="0" u="none" strike="noStrike" kern="1200" cap="none" spc="0" normalizeH="0" baseline="0" noProof="0" dirty="0">
              <a:ln>
                <a:noFill/>
              </a:ln>
              <a:solidFill>
                <a:schemeClr val="accent5">
                  <a:lumMod val="90000"/>
                  <a:lumOff val="10000"/>
                </a:schemeClr>
              </a:solidFill>
              <a:effectLst/>
              <a:uLnTx/>
              <a:uFillTx/>
              <a:latin typeface="Franklin Gothic Demi" panose="020B0703020102020204" pitchFamily="34" charset="0"/>
              <a:ea typeface="+mn-ea"/>
              <a:cs typeface="+mn-cs"/>
            </a:endParaRPr>
          </a:p>
        </p:txBody>
      </p:sp>
      <p:sp>
        <p:nvSpPr>
          <p:cNvPr id="3" name="TextBox 2">
            <a:extLst>
              <a:ext uri="{FF2B5EF4-FFF2-40B4-BE49-F238E27FC236}">
                <a16:creationId xmlns:a16="http://schemas.microsoft.com/office/drawing/2014/main" id="{BFF5A06E-043A-F468-19CD-1E287295A205}"/>
              </a:ext>
            </a:extLst>
          </p:cNvPr>
          <p:cNvSpPr txBox="1"/>
          <p:nvPr/>
        </p:nvSpPr>
        <p:spPr>
          <a:xfrm>
            <a:off x="7162847" y="2315994"/>
            <a:ext cx="4025270" cy="1028601"/>
          </a:xfrm>
          <a:prstGeom prst="rect">
            <a:avLst/>
          </a:prstGeom>
          <a:noFill/>
        </p:spPr>
        <p:txBody>
          <a:bodyPr wrap="square" rtlCol="0">
            <a:noAutofit/>
          </a:bodyPr>
          <a:lstStyle/>
          <a:p>
            <a:pPr lvl="0" algn="ctr">
              <a:defRPr/>
            </a:pPr>
            <a:r>
              <a:rPr lang="en-US" dirty="0">
                <a:latin typeface="Montserrat SemiBold" panose="00000700000000000000" pitchFamily="2" charset="0"/>
                <a:ea typeface="Roboto" panose="02000000000000000000" pitchFamily="2" charset="0"/>
                <a:cs typeface="Roboto" panose="02000000000000000000" pitchFamily="2" charset="0"/>
              </a:rPr>
              <a:t>We work in partnership to expand economic opportunity for small businesses and communities by reimagining the way capital and resources flow.</a:t>
            </a:r>
            <a:endParaRPr kumimoji="0" lang="en-US" sz="1800" b="0" i="0" u="none" strike="noStrike" kern="1200" cap="none" spc="0" normalizeH="0" baseline="0" noProof="0" dirty="0">
              <a:ln>
                <a:noFill/>
              </a:ln>
              <a:solidFill>
                <a:srgbClr val="1D2B36"/>
              </a:solidFill>
              <a:effectLst/>
              <a:uLnTx/>
              <a:uFillTx/>
              <a:latin typeface="Montserrat SemiBold" panose="000007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BDB6D21B-6426-38FB-44B6-9718EBAF4AD0}"/>
              </a:ext>
            </a:extLst>
          </p:cNvPr>
          <p:cNvSpPr txBox="1"/>
          <p:nvPr/>
        </p:nvSpPr>
        <p:spPr>
          <a:xfrm>
            <a:off x="7459461" y="4235630"/>
            <a:ext cx="342690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5">
                    <a:lumMod val="90000"/>
                    <a:lumOff val="10000"/>
                  </a:schemeClr>
                </a:solidFill>
                <a:effectLst/>
                <a:uLnTx/>
                <a:uFillTx/>
                <a:latin typeface="Franklin Gothic Demi" panose="020B0703020102020204" pitchFamily="34" charset="0"/>
                <a:ea typeface="+mn-ea"/>
                <a:cs typeface="+mn-cs"/>
              </a:rPr>
              <a:t>OUR VISION</a:t>
            </a:r>
            <a:endParaRPr kumimoji="0" lang="en-US" sz="1800" b="1" i="0" u="none" strike="noStrike" kern="1200" cap="none" spc="0" normalizeH="0" baseline="0" noProof="0" dirty="0">
              <a:ln>
                <a:noFill/>
              </a:ln>
              <a:solidFill>
                <a:schemeClr val="accent5">
                  <a:lumMod val="90000"/>
                  <a:lumOff val="10000"/>
                </a:schemeClr>
              </a:solidFill>
              <a:effectLst/>
              <a:uLnTx/>
              <a:uFillTx/>
              <a:latin typeface="Franklin Gothic Demi" panose="020B0703020102020204" pitchFamily="34" charset="0"/>
              <a:ea typeface="+mn-ea"/>
              <a:cs typeface="+mn-cs"/>
            </a:endParaRPr>
          </a:p>
        </p:txBody>
      </p:sp>
      <p:sp>
        <p:nvSpPr>
          <p:cNvPr id="5" name="TextBox 4">
            <a:extLst>
              <a:ext uri="{FF2B5EF4-FFF2-40B4-BE49-F238E27FC236}">
                <a16:creationId xmlns:a16="http://schemas.microsoft.com/office/drawing/2014/main" id="{548902E7-A2A4-B782-EE49-E72451BE1866}"/>
              </a:ext>
            </a:extLst>
          </p:cNvPr>
          <p:cNvSpPr txBox="1"/>
          <p:nvPr/>
        </p:nvSpPr>
        <p:spPr>
          <a:xfrm>
            <a:off x="7337560" y="4680670"/>
            <a:ext cx="3670706" cy="714883"/>
          </a:xfrm>
          <a:prstGeom prst="rect">
            <a:avLst/>
          </a:prstGeom>
          <a:noFill/>
        </p:spPr>
        <p:txBody>
          <a:bodyPr wrap="square" rtlCol="0">
            <a:noAutofit/>
          </a:bodyPr>
          <a:lstStyle/>
          <a:p>
            <a:pPr lvl="0" algn="ctr">
              <a:defRPr/>
            </a:pPr>
            <a:r>
              <a:rPr lang="en-US" dirty="0">
                <a:latin typeface="Montserrat SemiBold" panose="00000700000000000000" pitchFamily="2" charset="0"/>
                <a:ea typeface="Roboto" panose="02000000000000000000" pitchFamily="2" charset="0"/>
                <a:cs typeface="Roboto" panose="02000000000000000000" pitchFamily="2" charset="0"/>
              </a:rPr>
              <a:t>A just economy that works for all small businesses and communities</a:t>
            </a:r>
            <a:r>
              <a:rPr lang="en-US" dirty="0">
                <a:latin typeface="Montserrat SemiBold" panose="00000700000000000000" pitchFamily="2" charset="0"/>
              </a:rPr>
              <a:t>.</a:t>
            </a:r>
            <a:endParaRPr kumimoji="0" lang="en-US" sz="2200" b="0" i="0" u="none" strike="noStrike" kern="1200" cap="none" spc="0" normalizeH="0" baseline="0" noProof="0" dirty="0">
              <a:ln>
                <a:noFill/>
              </a:ln>
              <a:solidFill>
                <a:srgbClr val="1D2B36"/>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3969648203"/>
      </p:ext>
    </p:extLst>
  </p:cSld>
  <p:clrMapOvr>
    <a:masterClrMapping/>
  </p:clrMapOvr>
  <p:transition spd="slow" advTm="50281">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5AE13-1A80-0A7C-CF9F-216576BF38CE}"/>
              </a:ext>
            </a:extLst>
          </p:cNvPr>
          <p:cNvSpPr>
            <a:spLocks noGrp="1"/>
          </p:cNvSpPr>
          <p:nvPr>
            <p:ph type="title"/>
          </p:nvPr>
        </p:nvSpPr>
        <p:spPr>
          <a:xfrm>
            <a:off x="266700" y="228601"/>
            <a:ext cx="11658600" cy="1010920"/>
          </a:xfrm>
        </p:spPr>
        <p:txBody>
          <a:bodyPr anchor="t">
            <a:normAutofit/>
          </a:bodyPr>
          <a:lstStyle/>
          <a:p>
            <a:r>
              <a:rPr lang="en-US" b="1" dirty="0">
                <a:effectLst>
                  <a:outerShdw blurRad="38100" dist="38100" dir="2700000" algn="tl">
                    <a:srgbClr val="000000">
                      <a:alpha val="43137"/>
                    </a:srgbClr>
                  </a:outerShdw>
                </a:effectLst>
              </a:rPr>
              <a:t>Agenda</a:t>
            </a:r>
          </a:p>
        </p:txBody>
      </p:sp>
      <p:sp>
        <p:nvSpPr>
          <p:cNvPr id="15" name="Slide Number Placeholder 3">
            <a:extLst>
              <a:ext uri="{FF2B5EF4-FFF2-40B4-BE49-F238E27FC236}">
                <a16:creationId xmlns:a16="http://schemas.microsoft.com/office/drawing/2014/main" id="{87139D6F-58CF-978F-5F6B-B065CF2739BB}"/>
              </a:ext>
            </a:extLst>
          </p:cNvPr>
          <p:cNvSpPr>
            <a:spLocks noGrp="1"/>
          </p:cNvSpPr>
          <p:nvPr>
            <p:ph type="sldNum" sz="quarter" idx="12"/>
          </p:nvPr>
        </p:nvSpPr>
        <p:spPr>
          <a:xfrm>
            <a:off x="55880" y="6286500"/>
            <a:ext cx="421640" cy="365125"/>
          </a:xfrm>
        </p:spPr>
        <p:txBody>
          <a:bodyPr/>
          <a:lstStyle/>
          <a:p>
            <a:pPr defTabSz="914126">
              <a:spcAft>
                <a:spcPts val="600"/>
              </a:spcAft>
              <a:defRPr/>
            </a:pPr>
            <a:fld id="{AEACC2C1-74EF-4D17-8FCA-30885DD06988}" type="slidenum">
              <a:rPr lang="en-US" smtClean="0">
                <a:solidFill>
                  <a:srgbClr val="1D2B36">
                    <a:tint val="75000"/>
                  </a:srgbClr>
                </a:solidFill>
                <a:latin typeface="Montserrat SemiBold" panose="00000700000000000000" pitchFamily="2" charset="0"/>
              </a:rPr>
              <a:pPr defTabSz="914126">
                <a:spcAft>
                  <a:spcPts val="600"/>
                </a:spcAft>
                <a:defRPr/>
              </a:pPr>
              <a:t>3</a:t>
            </a:fld>
            <a:r>
              <a:rPr lang="en-US" dirty="0">
                <a:solidFill>
                  <a:srgbClr val="1D2B36">
                    <a:tint val="75000"/>
                  </a:srgbClr>
                </a:solidFill>
                <a:latin typeface="Montserrat SemiBold" panose="00000700000000000000" pitchFamily="2" charset="0"/>
              </a:rPr>
              <a:t>Ï</a:t>
            </a:r>
          </a:p>
        </p:txBody>
      </p:sp>
      <p:graphicFrame>
        <p:nvGraphicFramePr>
          <p:cNvPr id="10" name="Content Placeholder 2">
            <a:extLst>
              <a:ext uri="{FF2B5EF4-FFF2-40B4-BE49-F238E27FC236}">
                <a16:creationId xmlns:a16="http://schemas.microsoft.com/office/drawing/2014/main" id="{1F168119-A42A-C77E-39BD-56DF7B73BEB1}"/>
              </a:ext>
            </a:extLst>
          </p:cNvPr>
          <p:cNvGraphicFramePr>
            <a:graphicFrameLocks noGrp="1"/>
          </p:cNvGraphicFramePr>
          <p:nvPr>
            <p:ph idx="1"/>
            <p:extLst>
              <p:ext uri="{D42A27DB-BD31-4B8C-83A1-F6EECF244321}">
                <p14:modId xmlns:p14="http://schemas.microsoft.com/office/powerpoint/2010/main" val="3849330314"/>
              </p:ext>
            </p:extLst>
          </p:nvPr>
        </p:nvGraphicFramePr>
        <p:xfrm>
          <a:off x="266700" y="1615440"/>
          <a:ext cx="11087101" cy="45615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9039191"/>
      </p:ext>
    </p:extLst>
  </p:cSld>
  <p:clrMapOvr>
    <a:masterClrMapping/>
  </p:clrMapOvr>
  <p:transition spd="slow" advTm="42593">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84C21-0120-31FE-6F44-E755A39DCB36}"/>
              </a:ext>
            </a:extLst>
          </p:cNvPr>
          <p:cNvSpPr>
            <a:spLocks noGrp="1"/>
          </p:cNvSpPr>
          <p:nvPr>
            <p:ph type="title"/>
          </p:nvPr>
        </p:nvSpPr>
        <p:spPr>
          <a:xfrm>
            <a:off x="5677348" y="423704"/>
            <a:ext cx="5101142" cy="1320800"/>
          </a:xfrm>
        </p:spPr>
        <p:txBody>
          <a:bodyPr vert="horz" lIns="91440" tIns="45720" rIns="91440" bIns="45720" rtlCol="0" anchor="t">
            <a:normAutofit/>
          </a:bodyPr>
          <a:lstStyle/>
          <a:p>
            <a:r>
              <a:rPr lang="en-US" b="1" dirty="0">
                <a:effectLst>
                  <a:outerShdw blurRad="38100" dist="38100" dir="2700000" algn="tl">
                    <a:srgbClr val="000000">
                      <a:alpha val="43137"/>
                    </a:srgbClr>
                  </a:outerShdw>
                </a:effectLst>
                <a:latin typeface="Montserrat SemiBold" panose="00000700000000000000" pitchFamily="2" charset="0"/>
              </a:rPr>
              <a:t>Power of Self Awareness</a:t>
            </a:r>
          </a:p>
        </p:txBody>
      </p:sp>
      <p:sp>
        <p:nvSpPr>
          <p:cNvPr id="6" name="TextBox 5">
            <a:extLst>
              <a:ext uri="{FF2B5EF4-FFF2-40B4-BE49-F238E27FC236}">
                <a16:creationId xmlns:a16="http://schemas.microsoft.com/office/drawing/2014/main" id="{E0F8E0D4-E37A-0D03-4781-265DCD60E286}"/>
              </a:ext>
            </a:extLst>
          </p:cNvPr>
          <p:cNvSpPr txBox="1"/>
          <p:nvPr/>
        </p:nvSpPr>
        <p:spPr>
          <a:xfrm>
            <a:off x="5394960" y="2168209"/>
            <a:ext cx="5247640" cy="3880773"/>
          </a:xfrm>
          <a:prstGeom prst="rect">
            <a:avLst/>
          </a:prstGeom>
        </p:spPr>
        <p:txBody>
          <a:bodyPr vert="horz" lIns="91440" tIns="45720" rIns="91440" bIns="45720" rtlCol="0">
            <a:normAutofit/>
          </a:bodyPr>
          <a:lstStyle/>
          <a:p>
            <a:pPr>
              <a:spcBef>
                <a:spcPts val="1000"/>
              </a:spcBef>
              <a:buClr>
                <a:schemeClr val="accent1"/>
              </a:buClr>
              <a:buSzPct val="80000"/>
            </a:pPr>
            <a:r>
              <a:rPr lang="en-US" sz="2000" b="0" i="0" dirty="0">
                <a:solidFill>
                  <a:schemeClr val="tx1">
                    <a:lumMod val="75000"/>
                    <a:lumOff val="25000"/>
                  </a:schemeClr>
                </a:solidFill>
                <a:effectLst/>
                <a:latin typeface="Montserrat SemiBold" panose="00000700000000000000" pitchFamily="2" charset="0"/>
              </a:rPr>
              <a:t>Self-awareness is a fundamental building block for effective leadership, managing </a:t>
            </a:r>
            <a:r>
              <a:rPr lang="en-US" sz="2000" dirty="0">
                <a:solidFill>
                  <a:schemeClr val="tx1">
                    <a:lumMod val="75000"/>
                    <a:lumOff val="25000"/>
                  </a:schemeClr>
                </a:solidFill>
                <a:latin typeface="Montserrat SemiBold" panose="00000700000000000000" pitchFamily="2" charset="0"/>
              </a:rPr>
              <a:t>cash flow, and </a:t>
            </a:r>
            <a:r>
              <a:rPr lang="en-US" sz="2000" b="0" i="0" dirty="0">
                <a:solidFill>
                  <a:schemeClr val="tx1">
                    <a:lumMod val="75000"/>
                    <a:lumOff val="25000"/>
                  </a:schemeClr>
                </a:solidFill>
                <a:effectLst/>
                <a:latin typeface="Montserrat SemiBold" panose="00000700000000000000" pitchFamily="2" charset="0"/>
              </a:rPr>
              <a:t>ultimately growth.</a:t>
            </a:r>
          </a:p>
          <a:p>
            <a:pPr>
              <a:spcBef>
                <a:spcPts val="1000"/>
              </a:spcBef>
              <a:buClr>
                <a:schemeClr val="accent1"/>
              </a:buClr>
              <a:buSzPct val="80000"/>
            </a:pPr>
            <a:endParaRPr lang="en-US" sz="2000" dirty="0">
              <a:solidFill>
                <a:schemeClr val="tx1">
                  <a:lumMod val="75000"/>
                  <a:lumOff val="25000"/>
                </a:schemeClr>
              </a:solidFill>
              <a:latin typeface="Montserrat SemiBold" panose="00000700000000000000" pitchFamily="2" charset="0"/>
            </a:endParaRPr>
          </a:p>
          <a:p>
            <a:pPr marL="285750" indent="-285750">
              <a:spcBef>
                <a:spcPts val="1000"/>
              </a:spcBef>
              <a:buClr>
                <a:schemeClr val="accent1"/>
              </a:buClr>
              <a:buSzPct val="80000"/>
              <a:buFont typeface="Wingdings 3" charset="2"/>
              <a:buChar char=""/>
            </a:pPr>
            <a:r>
              <a:rPr lang="en-US" sz="2000" b="1" dirty="0">
                <a:solidFill>
                  <a:schemeClr val="accent2">
                    <a:lumMod val="60000"/>
                    <a:lumOff val="40000"/>
                  </a:schemeClr>
                </a:solidFill>
                <a:latin typeface="Montserrat SemiBold" panose="00000700000000000000" pitchFamily="2" charset="0"/>
              </a:rPr>
              <a:t>Network</a:t>
            </a:r>
            <a:r>
              <a:rPr lang="en-US" sz="2000" dirty="0">
                <a:solidFill>
                  <a:schemeClr val="tx1">
                    <a:lumMod val="75000"/>
                    <a:lumOff val="25000"/>
                  </a:schemeClr>
                </a:solidFill>
                <a:latin typeface="Montserrat SemiBold" panose="00000700000000000000" pitchFamily="2" charset="0"/>
              </a:rPr>
              <a:t>- Who can help you level up?</a:t>
            </a:r>
          </a:p>
          <a:p>
            <a:pPr marL="285750" indent="-285750">
              <a:spcBef>
                <a:spcPts val="1000"/>
              </a:spcBef>
              <a:buClr>
                <a:schemeClr val="accent1"/>
              </a:buClr>
              <a:buSzPct val="80000"/>
              <a:buFont typeface="Wingdings 3" charset="2"/>
              <a:buChar char=""/>
            </a:pPr>
            <a:r>
              <a:rPr lang="en-US" sz="2000" b="1" dirty="0">
                <a:solidFill>
                  <a:schemeClr val="accent2">
                    <a:lumMod val="60000"/>
                    <a:lumOff val="40000"/>
                  </a:schemeClr>
                </a:solidFill>
                <a:latin typeface="Montserrat SemiBold" panose="00000700000000000000" pitchFamily="2" charset="0"/>
              </a:rPr>
              <a:t>Business Life Cycle- </a:t>
            </a:r>
            <a:r>
              <a:rPr lang="en-US" sz="2000" dirty="0">
                <a:solidFill>
                  <a:schemeClr val="tx1">
                    <a:lumMod val="75000"/>
                    <a:lumOff val="25000"/>
                  </a:schemeClr>
                </a:solidFill>
                <a:latin typeface="Montserrat SemiBold" panose="00000700000000000000" pitchFamily="2" charset="0"/>
              </a:rPr>
              <a:t>Where are you?</a:t>
            </a:r>
          </a:p>
          <a:p>
            <a:pPr marL="285750" indent="-285750">
              <a:spcBef>
                <a:spcPts val="1000"/>
              </a:spcBef>
              <a:buClr>
                <a:schemeClr val="accent1"/>
              </a:buClr>
              <a:buSzPct val="80000"/>
              <a:buFont typeface="Wingdings 3" charset="2"/>
              <a:buChar char=""/>
            </a:pPr>
            <a:r>
              <a:rPr lang="en-US" sz="2000" b="1" dirty="0">
                <a:solidFill>
                  <a:schemeClr val="accent2">
                    <a:lumMod val="60000"/>
                    <a:lumOff val="40000"/>
                  </a:schemeClr>
                </a:solidFill>
                <a:latin typeface="Montserrat SemiBold" panose="00000700000000000000" pitchFamily="2" charset="0"/>
              </a:rPr>
              <a:t>5Cs of Credit- </a:t>
            </a:r>
            <a:r>
              <a:rPr lang="en-US" sz="2000" dirty="0">
                <a:solidFill>
                  <a:schemeClr val="tx1">
                    <a:lumMod val="75000"/>
                    <a:lumOff val="25000"/>
                  </a:schemeClr>
                </a:solidFill>
                <a:latin typeface="Montserrat SemiBold" panose="00000700000000000000" pitchFamily="2" charset="0"/>
              </a:rPr>
              <a:t>How do you stack up?</a:t>
            </a:r>
          </a:p>
          <a:p>
            <a:pPr>
              <a:spcBef>
                <a:spcPts val="1000"/>
              </a:spcBef>
              <a:buClr>
                <a:schemeClr val="accent1"/>
              </a:buClr>
              <a:buSzPct val="80000"/>
            </a:pPr>
            <a:endParaRPr lang="en-US" sz="1700" dirty="0">
              <a:solidFill>
                <a:schemeClr val="tx1">
                  <a:lumMod val="75000"/>
                  <a:lumOff val="25000"/>
                </a:schemeClr>
              </a:solidFill>
              <a:latin typeface="Montserrat SemiBold" panose="00000700000000000000" pitchFamily="2" charset="0"/>
            </a:endParaRPr>
          </a:p>
          <a:p>
            <a:pPr marL="285750" indent="-285750">
              <a:spcBef>
                <a:spcPts val="1000"/>
              </a:spcBef>
              <a:buClr>
                <a:schemeClr val="accent1"/>
              </a:buClr>
              <a:buSzPct val="80000"/>
              <a:buFont typeface="Wingdings 3" charset="2"/>
              <a:buChar char=""/>
            </a:pPr>
            <a:endParaRPr lang="en-US" sz="1700" dirty="0">
              <a:solidFill>
                <a:schemeClr val="tx1">
                  <a:lumMod val="75000"/>
                  <a:lumOff val="25000"/>
                </a:schemeClr>
              </a:solidFill>
              <a:latin typeface="Montserrat SemiBold" panose="00000700000000000000" pitchFamily="2" charset="0"/>
            </a:endParaRPr>
          </a:p>
          <a:p>
            <a:pPr marL="285750" indent="-285750">
              <a:spcBef>
                <a:spcPts val="1000"/>
              </a:spcBef>
              <a:buClr>
                <a:schemeClr val="accent1"/>
              </a:buClr>
              <a:buSzPct val="80000"/>
              <a:buFont typeface="Wingdings 3" charset="2"/>
              <a:buChar char=""/>
            </a:pPr>
            <a:endParaRPr lang="en-US" sz="1700" dirty="0">
              <a:solidFill>
                <a:schemeClr val="tx1">
                  <a:lumMod val="75000"/>
                  <a:lumOff val="25000"/>
                </a:schemeClr>
              </a:solidFill>
              <a:latin typeface="Montserrat SemiBold" panose="00000700000000000000" pitchFamily="2" charset="0"/>
            </a:endParaRPr>
          </a:p>
          <a:p>
            <a:pPr marL="285750" indent="-285750">
              <a:spcBef>
                <a:spcPts val="1000"/>
              </a:spcBef>
              <a:buClr>
                <a:schemeClr val="accent1"/>
              </a:buClr>
              <a:buSzPct val="80000"/>
              <a:buFont typeface="Wingdings 3" charset="2"/>
              <a:buChar char=""/>
            </a:pPr>
            <a:endParaRPr lang="en-US" sz="1700" dirty="0">
              <a:solidFill>
                <a:schemeClr val="tx1">
                  <a:lumMod val="75000"/>
                  <a:lumOff val="25000"/>
                </a:schemeClr>
              </a:solidFill>
              <a:latin typeface="Montserrat SemiBold" panose="00000700000000000000" pitchFamily="2" charset="0"/>
            </a:endParaRPr>
          </a:p>
        </p:txBody>
      </p:sp>
      <p:pic>
        <p:nvPicPr>
          <p:cNvPr id="5" name="Picture 4" descr="One glowing light bulb in sea of unlit bulbs">
            <a:extLst>
              <a:ext uri="{FF2B5EF4-FFF2-40B4-BE49-F238E27FC236}">
                <a16:creationId xmlns:a16="http://schemas.microsoft.com/office/drawing/2014/main" id="{52ADE562-D00C-0177-FD89-D9FEA63AFE8D}"/>
              </a:ext>
            </a:extLst>
          </p:cNvPr>
          <p:cNvPicPr>
            <a:picLocks noChangeAspect="1"/>
          </p:cNvPicPr>
          <p:nvPr/>
        </p:nvPicPr>
        <p:blipFill>
          <a:blip r:embed="rId3">
            <a:extLst>
              <a:ext uri="{28A0092B-C50C-407E-A947-70E740481C1C}">
                <a14:useLocalDpi xmlns:a14="http://schemas.microsoft.com/office/drawing/2010/main" val="0"/>
              </a:ext>
            </a:extLst>
          </a:blip>
          <a:srcRect l="24349" r="16651"/>
          <a:stretch/>
        </p:blipFill>
        <p:spPr>
          <a:xfrm>
            <a:off x="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pic>
        <p:nvPicPr>
          <p:cNvPr id="3" name="Picture 2" descr="Team sitting at table">
            <a:extLst>
              <a:ext uri="{FF2B5EF4-FFF2-40B4-BE49-F238E27FC236}">
                <a16:creationId xmlns:a16="http://schemas.microsoft.com/office/drawing/2014/main" id="{93A279B3-0ACB-B655-F889-CE9909979D6D}"/>
              </a:ext>
            </a:extLst>
          </p:cNvPr>
          <p:cNvPicPr>
            <a:picLocks noChangeAspect="1"/>
          </p:cNvPicPr>
          <p:nvPr/>
        </p:nvPicPr>
        <p:blipFill>
          <a:blip r:embed="rId4"/>
          <a:srcRect l="23791" r="23791"/>
          <a:stretch/>
        </p:blipFill>
        <p:spPr>
          <a:xfrm>
            <a:off x="0" y="0"/>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921184021"/>
      </p:ext>
    </p:extLst>
  </p:cSld>
  <p:clrMapOvr>
    <a:masterClrMapping/>
  </p:clrMapOvr>
  <p:transition spd="slow" advTm="194186">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CBE8FF85-4228-9591-7F21-945C066F889A}"/>
              </a:ext>
            </a:extLst>
          </p:cNvPr>
          <p:cNvSpPr>
            <a:spLocks noGrp="1"/>
          </p:cNvSpPr>
          <p:nvPr>
            <p:ph type="title"/>
          </p:nvPr>
        </p:nvSpPr>
        <p:spPr>
          <a:xfrm>
            <a:off x="266700" y="422612"/>
            <a:ext cx="11658600" cy="1010920"/>
          </a:xfrm>
        </p:spPr>
        <p:txBody>
          <a:bodyPr/>
          <a:lstStyle/>
          <a:p>
            <a:r>
              <a:rPr lang="en-US" dirty="0">
                <a:effectLst>
                  <a:outerShdw blurRad="38100" dist="38100" dir="2700000" algn="tl">
                    <a:srgbClr val="000000">
                      <a:alpha val="43137"/>
                    </a:srgbClr>
                  </a:outerShdw>
                </a:effectLst>
              </a:rPr>
              <a:t>What’s the Difference? Bank vs. CDFI</a:t>
            </a:r>
          </a:p>
        </p:txBody>
      </p:sp>
      <p:sp>
        <p:nvSpPr>
          <p:cNvPr id="16" name="Slide Number Placeholder 3">
            <a:extLst>
              <a:ext uri="{FF2B5EF4-FFF2-40B4-BE49-F238E27FC236}">
                <a16:creationId xmlns:a16="http://schemas.microsoft.com/office/drawing/2014/main" id="{BA844DB8-9F1E-C2B6-036C-1715BFFEA67D}"/>
              </a:ext>
            </a:extLst>
          </p:cNvPr>
          <p:cNvSpPr>
            <a:spLocks noGrp="1"/>
          </p:cNvSpPr>
          <p:nvPr>
            <p:ph type="sldNum" sz="quarter" idx="12"/>
          </p:nvPr>
        </p:nvSpPr>
        <p:spPr>
          <a:xfrm>
            <a:off x="55880" y="6286500"/>
            <a:ext cx="421640" cy="365125"/>
          </a:xfrm>
        </p:spPr>
        <p:txBody>
          <a:bodyPr/>
          <a:lstStyle/>
          <a:p>
            <a:pPr defTabSz="914126">
              <a:spcAft>
                <a:spcPts val="600"/>
              </a:spcAft>
              <a:defRPr/>
            </a:pPr>
            <a:fld id="{AEACC2C1-74EF-4D17-8FCA-30885DD06988}" type="slidenum">
              <a:rPr lang="en-US" smtClean="0">
                <a:solidFill>
                  <a:srgbClr val="1D2B36">
                    <a:tint val="75000"/>
                  </a:srgbClr>
                </a:solidFill>
                <a:latin typeface="Montserrat SemiBold" panose="00000700000000000000" pitchFamily="2" charset="0"/>
              </a:rPr>
              <a:pPr defTabSz="914126">
                <a:spcAft>
                  <a:spcPts val="600"/>
                </a:spcAft>
                <a:defRPr/>
              </a:pPr>
              <a:t>5</a:t>
            </a:fld>
            <a:r>
              <a:rPr lang="en-US" dirty="0">
                <a:solidFill>
                  <a:srgbClr val="1D2B36">
                    <a:tint val="75000"/>
                  </a:srgbClr>
                </a:solidFill>
                <a:latin typeface="Montserrat SemiBold" panose="00000700000000000000" pitchFamily="2" charset="0"/>
              </a:rPr>
              <a:t>Ï</a:t>
            </a:r>
          </a:p>
        </p:txBody>
      </p:sp>
      <p:graphicFrame>
        <p:nvGraphicFramePr>
          <p:cNvPr id="9" name="Table 8">
            <a:extLst>
              <a:ext uri="{FF2B5EF4-FFF2-40B4-BE49-F238E27FC236}">
                <a16:creationId xmlns:a16="http://schemas.microsoft.com/office/drawing/2014/main" id="{B11835D1-7930-7C14-818A-B902FF9B9823}"/>
              </a:ext>
            </a:extLst>
          </p:cNvPr>
          <p:cNvGraphicFramePr>
            <a:graphicFrameLocks noGrp="1"/>
          </p:cNvGraphicFramePr>
          <p:nvPr>
            <p:extLst>
              <p:ext uri="{D42A27DB-BD31-4B8C-83A1-F6EECF244321}">
                <p14:modId xmlns:p14="http://schemas.microsoft.com/office/powerpoint/2010/main" val="2875344111"/>
              </p:ext>
            </p:extLst>
          </p:nvPr>
        </p:nvGraphicFramePr>
        <p:xfrm>
          <a:off x="477520" y="1537403"/>
          <a:ext cx="11087102" cy="3762955"/>
        </p:xfrm>
        <a:graphic>
          <a:graphicData uri="http://schemas.openxmlformats.org/drawingml/2006/table">
            <a:tbl>
              <a:tblPr/>
              <a:tblGrid>
                <a:gridCol w="2454769">
                  <a:extLst>
                    <a:ext uri="{9D8B030D-6E8A-4147-A177-3AD203B41FA5}">
                      <a16:colId xmlns:a16="http://schemas.microsoft.com/office/drawing/2014/main" val="1121903997"/>
                    </a:ext>
                  </a:extLst>
                </a:gridCol>
                <a:gridCol w="3657768">
                  <a:extLst>
                    <a:ext uri="{9D8B030D-6E8A-4147-A177-3AD203B41FA5}">
                      <a16:colId xmlns:a16="http://schemas.microsoft.com/office/drawing/2014/main" val="1135417054"/>
                    </a:ext>
                  </a:extLst>
                </a:gridCol>
                <a:gridCol w="4974565">
                  <a:extLst>
                    <a:ext uri="{9D8B030D-6E8A-4147-A177-3AD203B41FA5}">
                      <a16:colId xmlns:a16="http://schemas.microsoft.com/office/drawing/2014/main" val="864402233"/>
                    </a:ext>
                  </a:extLst>
                </a:gridCol>
              </a:tblGrid>
              <a:tr h="271163">
                <a:tc>
                  <a:txBody>
                    <a:bodyPr/>
                    <a:lstStyle/>
                    <a:p>
                      <a:pPr algn="l" fontAlgn="b">
                        <a:buNone/>
                      </a:pPr>
                      <a:r>
                        <a:rPr lang="en-US" sz="1400" b="1" i="0" u="none" strike="noStrike" dirty="0">
                          <a:solidFill>
                            <a:srgbClr val="FFFFFF"/>
                          </a:solidFill>
                          <a:effectLst/>
                          <a:latin typeface="Montserrat SemiBold" panose="00000700000000000000" pitchFamily="2" charset="0"/>
                        </a:rPr>
                        <a:t>Category</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50000"/>
                        <a:lumOff val="50000"/>
                      </a:schemeClr>
                    </a:solidFill>
                  </a:tcPr>
                </a:tc>
                <a:tc>
                  <a:txBody>
                    <a:bodyPr/>
                    <a:lstStyle/>
                    <a:p>
                      <a:pPr algn="l" fontAlgn="b">
                        <a:buNone/>
                      </a:pPr>
                      <a:r>
                        <a:rPr lang="en-US" sz="1400" b="1" i="0" u="none" strike="noStrike" dirty="0">
                          <a:solidFill>
                            <a:srgbClr val="FFFFFF"/>
                          </a:solidFill>
                          <a:effectLst/>
                          <a:latin typeface="Montserrat SemiBold" panose="00000700000000000000" pitchFamily="2" charset="0"/>
                        </a:rPr>
                        <a:t>Traditional Bank</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50000"/>
                      </a:schemeClr>
                    </a:solidFill>
                  </a:tcPr>
                </a:tc>
                <a:tc>
                  <a:txBody>
                    <a:bodyPr/>
                    <a:lstStyle/>
                    <a:p>
                      <a:pPr algn="l" fontAlgn="b">
                        <a:buNone/>
                      </a:pPr>
                      <a:r>
                        <a:rPr lang="en-US" sz="1400" b="1" i="0" u="none" strike="noStrike" dirty="0">
                          <a:solidFill>
                            <a:srgbClr val="FFFFFF"/>
                          </a:solidFill>
                          <a:effectLst/>
                          <a:latin typeface="Montserrat SemiBold" panose="00000700000000000000" pitchFamily="2" charset="0"/>
                        </a:rPr>
                        <a:t>CDFI (Community Development Financial Institution)</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4082196250"/>
                  </a:ext>
                </a:extLst>
              </a:tr>
              <a:tr h="436474">
                <a:tc>
                  <a:txBody>
                    <a:bodyPr/>
                    <a:lstStyle/>
                    <a:p>
                      <a:pPr algn="l" fontAlgn="b">
                        <a:buNone/>
                      </a:pPr>
                      <a:r>
                        <a:rPr lang="en-US" sz="1400" b="0" i="0" u="none" strike="noStrike" dirty="0">
                          <a:solidFill>
                            <a:srgbClr val="000000"/>
                          </a:solidFill>
                          <a:effectLst/>
                          <a:latin typeface="Montserrat SemiBold" panose="00000700000000000000" pitchFamily="2" charset="0"/>
                        </a:rPr>
                        <a:t>Primary Focus</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10000"/>
                        <a:lumOff val="9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Profit and risk management</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Community impact and economic development</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341829961"/>
                  </a:ext>
                </a:extLst>
              </a:tr>
              <a:tr h="436474">
                <a:tc>
                  <a:txBody>
                    <a:bodyPr/>
                    <a:lstStyle/>
                    <a:p>
                      <a:pPr algn="l" fontAlgn="b">
                        <a:buNone/>
                      </a:pPr>
                      <a:r>
                        <a:rPr lang="en-US" sz="1400" b="0" i="0" u="none" strike="noStrike" dirty="0">
                          <a:solidFill>
                            <a:srgbClr val="000000"/>
                          </a:solidFill>
                          <a:effectLst/>
                          <a:latin typeface="Montserrat SemiBold" panose="00000700000000000000" pitchFamily="2" charset="0"/>
                        </a:rPr>
                        <a:t>Typical Borrower</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10000"/>
                        <a:lumOff val="9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Experienced with strong financials</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Underserved, early-stage growth, first-time owners</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74291219"/>
                  </a:ext>
                </a:extLst>
              </a:tr>
              <a:tr h="436474">
                <a:tc>
                  <a:txBody>
                    <a:bodyPr/>
                    <a:lstStyle/>
                    <a:p>
                      <a:pPr algn="l" fontAlgn="b">
                        <a:buNone/>
                      </a:pPr>
                      <a:r>
                        <a:rPr lang="en-US" sz="1400" b="0" i="0" u="none" strike="noStrike" dirty="0">
                          <a:solidFill>
                            <a:srgbClr val="000000"/>
                          </a:solidFill>
                          <a:effectLst/>
                          <a:latin typeface="Montserrat SemiBold" panose="00000700000000000000" pitchFamily="2" charset="0"/>
                        </a:rPr>
                        <a:t>Underwriting Style</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10000"/>
                        <a:lumOff val="9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Strict and formula-based</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Flexible and relationship-based</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96547174"/>
                  </a:ext>
                </a:extLst>
              </a:tr>
              <a:tr h="436474">
                <a:tc>
                  <a:txBody>
                    <a:bodyPr/>
                    <a:lstStyle/>
                    <a:p>
                      <a:pPr algn="l" fontAlgn="b">
                        <a:buNone/>
                      </a:pPr>
                      <a:r>
                        <a:rPr lang="en-US" sz="1400" b="0" i="0" u="none" strike="noStrike" dirty="0">
                          <a:solidFill>
                            <a:srgbClr val="000000"/>
                          </a:solidFill>
                          <a:effectLst/>
                          <a:latin typeface="Montserrat SemiBold" panose="00000700000000000000" pitchFamily="2" charset="0"/>
                        </a:rPr>
                        <a:t>Down Payment</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10000"/>
                        <a:lumOff val="9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Usually 20–35%</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Flexible - CRF asks for 10%</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349731439"/>
                  </a:ext>
                </a:extLst>
              </a:tr>
              <a:tr h="436474">
                <a:tc>
                  <a:txBody>
                    <a:bodyPr/>
                    <a:lstStyle/>
                    <a:p>
                      <a:pPr algn="l" fontAlgn="b">
                        <a:buNone/>
                      </a:pPr>
                      <a:r>
                        <a:rPr lang="en-US" sz="1400" b="0" i="0" u="none" strike="noStrike" dirty="0">
                          <a:solidFill>
                            <a:srgbClr val="000000"/>
                          </a:solidFill>
                          <a:effectLst/>
                          <a:latin typeface="Montserrat SemiBold" panose="00000700000000000000" pitchFamily="2" charset="0"/>
                        </a:rPr>
                        <a:t>Interest Rates</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10000"/>
                        <a:lumOff val="9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Lower</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Low to high</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68537134"/>
                  </a:ext>
                </a:extLst>
              </a:tr>
              <a:tr h="436474">
                <a:tc>
                  <a:txBody>
                    <a:bodyPr/>
                    <a:lstStyle/>
                    <a:p>
                      <a:pPr algn="l" fontAlgn="b">
                        <a:buNone/>
                      </a:pPr>
                      <a:r>
                        <a:rPr lang="en-US" sz="1400" b="0" i="0" u="none" strike="noStrike" dirty="0">
                          <a:solidFill>
                            <a:srgbClr val="000000"/>
                          </a:solidFill>
                          <a:effectLst/>
                          <a:latin typeface="Montserrat SemiBold" panose="00000700000000000000" pitchFamily="2" charset="0"/>
                        </a:rPr>
                        <a:t>Property Type Preference</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10000"/>
                        <a:lumOff val="9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Stabilized, cash-flowing properties</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Transitional, value-add, or community-focused projects</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322371478"/>
                  </a:ext>
                </a:extLst>
              </a:tr>
              <a:tr h="436474">
                <a:tc>
                  <a:txBody>
                    <a:bodyPr/>
                    <a:lstStyle/>
                    <a:p>
                      <a:pPr algn="l" fontAlgn="b">
                        <a:buNone/>
                      </a:pPr>
                      <a:r>
                        <a:rPr lang="en-US" sz="1400" b="0" i="0" u="none" strike="noStrike" dirty="0">
                          <a:solidFill>
                            <a:srgbClr val="000000"/>
                          </a:solidFill>
                          <a:effectLst/>
                          <a:latin typeface="Montserrat SemiBold" panose="00000700000000000000" pitchFamily="2" charset="0"/>
                        </a:rPr>
                        <a:t>Approval Speed</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10000"/>
                        <a:lumOff val="9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Slow processing times</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Slow to medium processing times</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959583818"/>
                  </a:ext>
                </a:extLst>
              </a:tr>
              <a:tr h="436474">
                <a:tc>
                  <a:txBody>
                    <a:bodyPr/>
                    <a:lstStyle/>
                    <a:p>
                      <a:pPr algn="l" fontAlgn="b">
                        <a:buNone/>
                      </a:pPr>
                      <a:r>
                        <a:rPr lang="en-US" sz="1400" b="0" i="0" u="none" strike="noStrike" dirty="0">
                          <a:solidFill>
                            <a:srgbClr val="000000"/>
                          </a:solidFill>
                          <a:effectLst/>
                          <a:latin typeface="Montserrat SemiBold" panose="00000700000000000000" pitchFamily="2" charset="0"/>
                        </a:rPr>
                        <a:t>Technical Assistance</a:t>
                      </a:r>
                      <a:endParaRPr lang="en-US" sz="2300" b="0" i="0" u="none" strike="noStrike" dirty="0">
                        <a:effectLst/>
                        <a:latin typeface="Montserrat SemiBold" panose="00000700000000000000" pitchFamily="2" charset="0"/>
                      </a:endParaRPr>
                    </a:p>
                  </a:txBody>
                  <a:tcPr marL="9754" marR="9754" marT="9754"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tx2">
                        <a:lumMod val="10000"/>
                        <a:lumOff val="9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Minimal</a:t>
                      </a:r>
                      <a:endParaRPr lang="en-US" sz="2300" b="0" i="0" u="none" strike="noStrike" dirty="0">
                        <a:effectLst/>
                        <a:latin typeface="Montserrat SemiBold" panose="00000700000000000000" pitchFamily="2" charset="0"/>
                      </a:endParaRPr>
                    </a:p>
                  </a:txBody>
                  <a:tcPr marL="9754" marR="9754" marT="9754"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400" b="0" i="0" u="none" strike="noStrike" dirty="0">
                          <a:solidFill>
                            <a:srgbClr val="000000"/>
                          </a:solidFill>
                          <a:effectLst/>
                          <a:latin typeface="Montserrat SemiBold" panose="00000700000000000000" pitchFamily="2" charset="0"/>
                        </a:rPr>
                        <a:t>Often includes coaching and support</a:t>
                      </a:r>
                      <a:endParaRPr lang="en-US" sz="2300" b="0" i="0" u="none" strike="noStrike" dirty="0">
                        <a:effectLst/>
                        <a:latin typeface="Montserrat SemiBold" panose="00000700000000000000" pitchFamily="2" charset="0"/>
                      </a:endParaRPr>
                    </a:p>
                  </a:txBody>
                  <a:tcPr marL="9754" marR="9754" marT="9754"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92660871"/>
                  </a:ext>
                </a:extLst>
              </a:tr>
            </a:tbl>
          </a:graphicData>
        </a:graphic>
      </p:graphicFrame>
    </p:spTree>
    <p:extLst>
      <p:ext uri="{BB962C8B-B14F-4D97-AF65-F5344CB8AC3E}">
        <p14:creationId xmlns:p14="http://schemas.microsoft.com/office/powerpoint/2010/main" val="2993682719"/>
      </p:ext>
    </p:extLst>
  </p:cSld>
  <p:clrMapOvr>
    <a:masterClrMapping/>
  </p:clrMapOvr>
  <p:transition spd="slow" advTm="161328">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DE5ED-F0DB-60EF-2869-F69EEA82B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53973-2344-A14C-773A-7A3FE98837B7}"/>
              </a:ext>
            </a:extLst>
          </p:cNvPr>
          <p:cNvSpPr>
            <a:spLocks noGrp="1"/>
          </p:cNvSpPr>
          <p:nvPr>
            <p:ph type="title"/>
          </p:nvPr>
        </p:nvSpPr>
        <p:spPr>
          <a:xfrm>
            <a:off x="5628174" y="384667"/>
            <a:ext cx="5994866" cy="1320800"/>
          </a:xfrm>
        </p:spPr>
        <p:txBody>
          <a:bodyPr>
            <a:noAutofit/>
          </a:bodyPr>
          <a:lstStyle/>
          <a:p>
            <a:pPr>
              <a:lnSpc>
                <a:spcPct val="100000"/>
              </a:lnSpc>
            </a:pPr>
            <a:r>
              <a:rPr lang="en-US" sz="4400" b="1" dirty="0">
                <a:effectLst>
                  <a:outerShdw blurRad="38100" dist="38100" dir="2700000" algn="tl">
                    <a:srgbClr val="000000">
                      <a:alpha val="43137"/>
                    </a:srgbClr>
                  </a:outerShdw>
                </a:effectLst>
              </a:rPr>
              <a:t>Get Lender Ready: </a:t>
            </a:r>
            <a:br>
              <a:rPr lang="en-US" sz="4400" b="1" dirty="0">
                <a:effectLst>
                  <a:outerShdw blurRad="38100" dist="38100" dir="2700000" algn="tl">
                    <a:srgbClr val="000000">
                      <a:alpha val="43137"/>
                    </a:srgbClr>
                  </a:outerShdw>
                </a:effectLst>
              </a:rPr>
            </a:br>
            <a:r>
              <a:rPr lang="en-US" sz="4400" b="1" dirty="0">
                <a:effectLst>
                  <a:outerShdw blurRad="38100" dist="38100" dir="2700000" algn="tl">
                    <a:srgbClr val="000000">
                      <a:alpha val="43137"/>
                    </a:srgbClr>
                  </a:outerShdw>
                </a:effectLst>
              </a:rPr>
              <a:t>Tell Your Story</a:t>
            </a:r>
          </a:p>
        </p:txBody>
      </p:sp>
      <p:sp>
        <p:nvSpPr>
          <p:cNvPr id="3" name="Content Placeholder 2">
            <a:extLst>
              <a:ext uri="{FF2B5EF4-FFF2-40B4-BE49-F238E27FC236}">
                <a16:creationId xmlns:a16="http://schemas.microsoft.com/office/drawing/2014/main" id="{B161D7DF-7F3D-06B7-2BDA-10D22311C998}"/>
              </a:ext>
            </a:extLst>
          </p:cNvPr>
          <p:cNvSpPr>
            <a:spLocks noGrp="1"/>
          </p:cNvSpPr>
          <p:nvPr>
            <p:ph idx="1"/>
          </p:nvPr>
        </p:nvSpPr>
        <p:spPr>
          <a:xfrm>
            <a:off x="5207403" y="2170430"/>
            <a:ext cx="6415637" cy="4302903"/>
          </a:xfrm>
        </p:spPr>
        <p:txBody>
          <a:bodyPr>
            <a:normAutofit/>
          </a:bodyPr>
          <a:lstStyle/>
          <a:p>
            <a:pPr marL="0" indent="0">
              <a:buNone/>
            </a:pPr>
            <a:r>
              <a:rPr lang="en-US" sz="2000" b="1" dirty="0">
                <a:solidFill>
                  <a:schemeClr val="accent2">
                    <a:lumMod val="60000"/>
                    <a:lumOff val="40000"/>
                  </a:schemeClr>
                </a:solidFill>
              </a:rPr>
              <a:t>History of the Company: </a:t>
            </a:r>
            <a:r>
              <a:rPr lang="en-US" sz="2000" dirty="0"/>
              <a:t>Why and how it was started</a:t>
            </a:r>
          </a:p>
          <a:p>
            <a:pPr marL="0" indent="0">
              <a:buNone/>
            </a:pPr>
            <a:endParaRPr lang="en-US" sz="2000" dirty="0"/>
          </a:p>
          <a:p>
            <a:pPr marL="0" indent="0">
              <a:buNone/>
            </a:pPr>
            <a:r>
              <a:rPr lang="en-US" sz="2000" b="1" dirty="0">
                <a:solidFill>
                  <a:schemeClr val="accent2">
                    <a:lumMod val="60000"/>
                    <a:lumOff val="40000"/>
                  </a:schemeClr>
                </a:solidFill>
              </a:rPr>
              <a:t>Customer Profile:</a:t>
            </a:r>
            <a:r>
              <a:rPr lang="en-US" sz="2000" dirty="0">
                <a:solidFill>
                  <a:schemeClr val="accent2">
                    <a:lumMod val="60000"/>
                    <a:lumOff val="40000"/>
                  </a:schemeClr>
                </a:solidFill>
              </a:rPr>
              <a:t> </a:t>
            </a:r>
            <a:r>
              <a:rPr lang="en-US" sz="2000" dirty="0"/>
              <a:t>How you meet the needs of your target market</a:t>
            </a:r>
          </a:p>
          <a:p>
            <a:pPr marL="0" indent="0">
              <a:buNone/>
            </a:pPr>
            <a:endParaRPr lang="en-US" sz="2000" dirty="0"/>
          </a:p>
          <a:p>
            <a:pPr marL="0" indent="0">
              <a:buNone/>
            </a:pPr>
            <a:r>
              <a:rPr lang="en-US" sz="2000" b="1" dirty="0">
                <a:solidFill>
                  <a:schemeClr val="accent2">
                    <a:lumMod val="60000"/>
                    <a:lumOff val="40000"/>
                  </a:schemeClr>
                </a:solidFill>
              </a:rPr>
              <a:t>Positioning: </a:t>
            </a:r>
            <a:r>
              <a:rPr lang="en-US" sz="2000" dirty="0"/>
              <a:t>How do you stack up against the competition? How have you performed?</a:t>
            </a:r>
          </a:p>
          <a:p>
            <a:pPr marL="0" indent="0">
              <a:buNone/>
            </a:pPr>
            <a:endParaRPr lang="en-US" sz="2000" dirty="0"/>
          </a:p>
          <a:p>
            <a:pPr marL="0" indent="0">
              <a:buNone/>
            </a:pPr>
            <a:r>
              <a:rPr lang="en-US" sz="2000" b="1" dirty="0">
                <a:solidFill>
                  <a:schemeClr val="accent2">
                    <a:lumMod val="60000"/>
                    <a:lumOff val="40000"/>
                  </a:schemeClr>
                </a:solidFill>
              </a:rPr>
              <a:t>Challenges: </a:t>
            </a:r>
            <a:r>
              <a:rPr lang="en-US" sz="2000" dirty="0"/>
              <a:t>How did you address obstacles you’ve encountered</a:t>
            </a:r>
          </a:p>
        </p:txBody>
      </p:sp>
      <p:pic>
        <p:nvPicPr>
          <p:cNvPr id="5" name="Picture 4" descr="Business meeting in modern office">
            <a:extLst>
              <a:ext uri="{FF2B5EF4-FFF2-40B4-BE49-F238E27FC236}">
                <a16:creationId xmlns:a16="http://schemas.microsoft.com/office/drawing/2014/main" id="{C1355519-53C4-A9E9-B1A4-DDF10580B56B}"/>
              </a:ext>
            </a:extLst>
          </p:cNvPr>
          <p:cNvPicPr>
            <a:picLocks noChangeAspect="1"/>
          </p:cNvPicPr>
          <p:nvPr/>
        </p:nvPicPr>
        <p:blipFill>
          <a:blip r:embed="rId3"/>
          <a:srcRect l="23747" r="23747"/>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4033222809"/>
      </p:ext>
    </p:extLst>
  </p:cSld>
  <p:clrMapOvr>
    <a:masterClrMapping/>
  </p:clrMapOvr>
  <p:transition spd="slow" advTm="101011">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2BE4-8DB4-972C-7F25-0C5A5C8EFCF4}"/>
              </a:ext>
            </a:extLst>
          </p:cNvPr>
          <p:cNvSpPr>
            <a:spLocks noGrp="1"/>
          </p:cNvSpPr>
          <p:nvPr>
            <p:ph type="title"/>
          </p:nvPr>
        </p:nvSpPr>
        <p:spPr>
          <a:xfrm>
            <a:off x="1475933" y="232609"/>
            <a:ext cx="8596668" cy="1320800"/>
          </a:xfrm>
        </p:spPr>
        <p:txBody>
          <a:bodyPr/>
          <a:lstStyle/>
          <a:p>
            <a:pPr algn="ctr"/>
            <a:r>
              <a:rPr lang="en-US" b="1" dirty="0">
                <a:effectLst>
                  <a:outerShdw blurRad="38100" dist="38100" dir="2700000" algn="tl">
                    <a:srgbClr val="000000">
                      <a:alpha val="43137"/>
                    </a:srgbClr>
                  </a:outerShdw>
                </a:effectLst>
              </a:rPr>
              <a:t>Term Loans</a:t>
            </a:r>
          </a:p>
        </p:txBody>
      </p:sp>
      <p:graphicFrame>
        <p:nvGraphicFramePr>
          <p:cNvPr id="4" name="Content Placeholder 3">
            <a:extLst>
              <a:ext uri="{FF2B5EF4-FFF2-40B4-BE49-F238E27FC236}">
                <a16:creationId xmlns:a16="http://schemas.microsoft.com/office/drawing/2014/main" id="{943EBDB7-05DD-5AA9-B7C0-13272D32E910}"/>
              </a:ext>
            </a:extLst>
          </p:cNvPr>
          <p:cNvGraphicFramePr>
            <a:graphicFrameLocks noGrp="1"/>
          </p:cNvGraphicFramePr>
          <p:nvPr>
            <p:ph idx="1"/>
            <p:extLst>
              <p:ext uri="{D42A27DB-BD31-4B8C-83A1-F6EECF244321}">
                <p14:modId xmlns:p14="http://schemas.microsoft.com/office/powerpoint/2010/main" val="3173245989"/>
              </p:ext>
            </p:extLst>
          </p:nvPr>
        </p:nvGraphicFramePr>
        <p:xfrm>
          <a:off x="535305" y="1151748"/>
          <a:ext cx="11121390" cy="4895468"/>
        </p:xfrm>
        <a:graphic>
          <a:graphicData uri="http://schemas.openxmlformats.org/drawingml/2006/table">
            <a:tbl>
              <a:tblPr firstRow="1" bandRow="1">
                <a:tableStyleId>{7DF18680-E054-41AD-8BC1-D1AEF772440D}</a:tableStyleId>
              </a:tblPr>
              <a:tblGrid>
                <a:gridCol w="3614833">
                  <a:extLst>
                    <a:ext uri="{9D8B030D-6E8A-4147-A177-3AD203B41FA5}">
                      <a16:colId xmlns:a16="http://schemas.microsoft.com/office/drawing/2014/main" val="4096043224"/>
                    </a:ext>
                  </a:extLst>
                </a:gridCol>
                <a:gridCol w="7506557">
                  <a:extLst>
                    <a:ext uri="{9D8B030D-6E8A-4147-A177-3AD203B41FA5}">
                      <a16:colId xmlns:a16="http://schemas.microsoft.com/office/drawing/2014/main" val="1300249357"/>
                    </a:ext>
                  </a:extLst>
                </a:gridCol>
              </a:tblGrid>
              <a:tr h="333397">
                <a:tc>
                  <a:txBody>
                    <a:bodyPr/>
                    <a:lstStyle/>
                    <a:p>
                      <a:r>
                        <a:rPr lang="en-US" b="1" dirty="0">
                          <a:latin typeface="Montserrat SemiBold" panose="00000700000000000000" pitchFamily="2" charset="0"/>
                        </a:rPr>
                        <a:t>Program</a:t>
                      </a:r>
                    </a:p>
                  </a:txBody>
                  <a:tcPr/>
                </a:tc>
                <a:tc>
                  <a:txBody>
                    <a:bodyPr/>
                    <a:lstStyle/>
                    <a:p>
                      <a:r>
                        <a:rPr lang="en-US" dirty="0">
                          <a:latin typeface="Montserrat SemiBold" panose="00000700000000000000" pitchFamily="2" charset="0"/>
                        </a:rPr>
                        <a:t>SBA 7a</a:t>
                      </a:r>
                    </a:p>
                  </a:txBody>
                  <a:tcPr/>
                </a:tc>
                <a:extLst>
                  <a:ext uri="{0D108BD9-81ED-4DB2-BD59-A6C34878D82A}">
                    <a16:rowId xmlns:a16="http://schemas.microsoft.com/office/drawing/2014/main" val="2598208955"/>
                  </a:ext>
                </a:extLst>
              </a:tr>
              <a:tr h="796082">
                <a:tc>
                  <a:txBody>
                    <a:bodyPr/>
                    <a:lstStyle/>
                    <a:p>
                      <a:r>
                        <a:rPr lang="en-US" b="1" dirty="0">
                          <a:latin typeface="Montserrat SemiBold" panose="00000700000000000000" pitchFamily="2" charset="0"/>
                        </a:rPr>
                        <a:t>Use of Funds</a:t>
                      </a:r>
                    </a:p>
                  </a:txBody>
                  <a:tcPr/>
                </a:tc>
                <a:tc>
                  <a:txBody>
                    <a:bodyPr/>
                    <a:lstStyle/>
                    <a:p>
                      <a:r>
                        <a:rPr lang="en-US" dirty="0">
                          <a:latin typeface="Montserrat SemiBold" panose="00000700000000000000" pitchFamily="2" charset="0"/>
                        </a:rPr>
                        <a:t>Equipment, Real Estate, Tenant Improvements, Working Capital, Business Acquisition</a:t>
                      </a:r>
                    </a:p>
                  </a:txBody>
                  <a:tcPr/>
                </a:tc>
                <a:extLst>
                  <a:ext uri="{0D108BD9-81ED-4DB2-BD59-A6C34878D82A}">
                    <a16:rowId xmlns:a16="http://schemas.microsoft.com/office/drawing/2014/main" val="1149149951"/>
                  </a:ext>
                </a:extLst>
              </a:tr>
              <a:tr h="428673">
                <a:tc>
                  <a:txBody>
                    <a:bodyPr/>
                    <a:lstStyle/>
                    <a:p>
                      <a:r>
                        <a:rPr lang="en-US" b="1" dirty="0">
                          <a:latin typeface="Montserrat SemiBold" panose="00000700000000000000" pitchFamily="2" charset="0"/>
                        </a:rPr>
                        <a:t>Loan Amount</a:t>
                      </a:r>
                    </a:p>
                  </a:txBody>
                  <a:tcPr/>
                </a:tc>
                <a:tc>
                  <a:txBody>
                    <a:bodyPr/>
                    <a:lstStyle/>
                    <a:p>
                      <a:r>
                        <a:rPr lang="en-US" dirty="0">
                          <a:latin typeface="Montserrat SemiBold" panose="00000700000000000000" pitchFamily="2" charset="0"/>
                        </a:rPr>
                        <a:t>$100k - $5MM</a:t>
                      </a:r>
                    </a:p>
                  </a:txBody>
                  <a:tcPr/>
                </a:tc>
                <a:extLst>
                  <a:ext uri="{0D108BD9-81ED-4DB2-BD59-A6C34878D82A}">
                    <a16:rowId xmlns:a16="http://schemas.microsoft.com/office/drawing/2014/main" val="650183784"/>
                  </a:ext>
                </a:extLst>
              </a:tr>
              <a:tr h="333397">
                <a:tc>
                  <a:txBody>
                    <a:bodyPr/>
                    <a:lstStyle/>
                    <a:p>
                      <a:r>
                        <a:rPr lang="en-US" b="1" dirty="0">
                          <a:latin typeface="Montserrat SemiBold" panose="00000700000000000000" pitchFamily="2" charset="0"/>
                        </a:rPr>
                        <a:t>Term</a:t>
                      </a:r>
                    </a:p>
                  </a:txBody>
                  <a:tcPr/>
                </a:tc>
                <a:tc>
                  <a:txBody>
                    <a:bodyPr/>
                    <a:lstStyle/>
                    <a:p>
                      <a:r>
                        <a:rPr lang="en-US" dirty="0">
                          <a:latin typeface="Montserrat SemiBold" panose="00000700000000000000" pitchFamily="2" charset="0"/>
                        </a:rPr>
                        <a:t>10 – 25 years</a:t>
                      </a:r>
                    </a:p>
                  </a:txBody>
                  <a:tcPr/>
                </a:tc>
                <a:extLst>
                  <a:ext uri="{0D108BD9-81ED-4DB2-BD59-A6C34878D82A}">
                    <a16:rowId xmlns:a16="http://schemas.microsoft.com/office/drawing/2014/main" val="1917976375"/>
                  </a:ext>
                </a:extLst>
              </a:tr>
              <a:tr h="428673">
                <a:tc>
                  <a:txBody>
                    <a:bodyPr/>
                    <a:lstStyle/>
                    <a:p>
                      <a:r>
                        <a:rPr lang="en-US" b="1" dirty="0">
                          <a:latin typeface="Montserrat SemiBold" panose="00000700000000000000" pitchFamily="2" charset="0"/>
                        </a:rPr>
                        <a:t>Interest Rate</a:t>
                      </a:r>
                    </a:p>
                  </a:txBody>
                  <a:tcPr/>
                </a:tc>
                <a:tc>
                  <a:txBody>
                    <a:bodyPr/>
                    <a:lstStyle/>
                    <a:p>
                      <a:r>
                        <a:rPr lang="en-US" dirty="0">
                          <a:latin typeface="Montserrat SemiBold" panose="00000700000000000000" pitchFamily="2" charset="0"/>
                        </a:rPr>
                        <a:t>8.50% Fixed or WSJP + 2.75%</a:t>
                      </a:r>
                    </a:p>
                  </a:txBody>
                  <a:tcPr/>
                </a:tc>
                <a:extLst>
                  <a:ext uri="{0D108BD9-81ED-4DB2-BD59-A6C34878D82A}">
                    <a16:rowId xmlns:a16="http://schemas.microsoft.com/office/drawing/2014/main" val="146340749"/>
                  </a:ext>
                </a:extLst>
              </a:tr>
              <a:tr h="428673">
                <a:tc>
                  <a:txBody>
                    <a:bodyPr/>
                    <a:lstStyle/>
                    <a:p>
                      <a:r>
                        <a:rPr lang="en-US" b="1" dirty="0">
                          <a:latin typeface="Montserrat SemiBold" panose="00000700000000000000" pitchFamily="2" charset="0"/>
                        </a:rPr>
                        <a:t>Payments</a:t>
                      </a:r>
                    </a:p>
                  </a:txBody>
                  <a:tcPr/>
                </a:tc>
                <a:tc>
                  <a:txBody>
                    <a:bodyPr/>
                    <a:lstStyle/>
                    <a:p>
                      <a:r>
                        <a:rPr lang="en-US" dirty="0">
                          <a:latin typeface="Montserrat SemiBold" panose="00000700000000000000" pitchFamily="2" charset="0"/>
                        </a:rPr>
                        <a:t>Interest Only for up to 6 months, then P+I</a:t>
                      </a:r>
                    </a:p>
                  </a:txBody>
                  <a:tcPr/>
                </a:tc>
                <a:extLst>
                  <a:ext uri="{0D108BD9-81ED-4DB2-BD59-A6C34878D82A}">
                    <a16:rowId xmlns:a16="http://schemas.microsoft.com/office/drawing/2014/main" val="3352805496"/>
                  </a:ext>
                </a:extLst>
              </a:tr>
              <a:tr h="428673">
                <a:tc>
                  <a:txBody>
                    <a:bodyPr/>
                    <a:lstStyle/>
                    <a:p>
                      <a:r>
                        <a:rPr lang="en-US" b="1" dirty="0">
                          <a:latin typeface="Montserrat SemiBold" panose="00000700000000000000" pitchFamily="2" charset="0"/>
                        </a:rPr>
                        <a:t>Eligibility</a:t>
                      </a:r>
                    </a:p>
                  </a:txBody>
                  <a:tcPr/>
                </a:tc>
                <a:tc>
                  <a:txBody>
                    <a:bodyPr/>
                    <a:lstStyle/>
                    <a:p>
                      <a:r>
                        <a:rPr lang="en-US" dirty="0">
                          <a:latin typeface="Montserrat SemiBold" panose="00000700000000000000" pitchFamily="2" charset="0"/>
                        </a:rPr>
                        <a:t>1.15x – 1.20x DSC in most recent FYE </a:t>
                      </a:r>
                    </a:p>
                  </a:txBody>
                  <a:tcPr/>
                </a:tc>
                <a:extLst>
                  <a:ext uri="{0D108BD9-81ED-4DB2-BD59-A6C34878D82A}">
                    <a16:rowId xmlns:a16="http://schemas.microsoft.com/office/drawing/2014/main" val="8253883"/>
                  </a:ext>
                </a:extLst>
              </a:tr>
              <a:tr h="796082">
                <a:tc>
                  <a:txBody>
                    <a:bodyPr/>
                    <a:lstStyle/>
                    <a:p>
                      <a:r>
                        <a:rPr lang="en-US" b="1" dirty="0">
                          <a:latin typeface="Montserrat SemiBold" panose="00000700000000000000" pitchFamily="2" charset="0"/>
                        </a:rPr>
                        <a:t>Money Down</a:t>
                      </a:r>
                    </a:p>
                  </a:txBody>
                  <a:tcPr/>
                </a:tc>
                <a:tc>
                  <a:txBody>
                    <a:bodyPr/>
                    <a:lstStyle/>
                    <a:p>
                      <a:r>
                        <a:rPr lang="en-US" dirty="0">
                          <a:latin typeface="Montserrat SemiBold" panose="00000700000000000000" pitchFamily="2" charset="0"/>
                        </a:rPr>
                        <a:t>N/A on debt refi and working capital</a:t>
                      </a:r>
                    </a:p>
                    <a:p>
                      <a:r>
                        <a:rPr lang="en-US" dirty="0">
                          <a:latin typeface="Montserrat SemiBold" panose="00000700000000000000" pitchFamily="2" charset="0"/>
                        </a:rPr>
                        <a:t>10% for existing and 15% for startups</a:t>
                      </a:r>
                    </a:p>
                  </a:txBody>
                  <a:tcPr/>
                </a:tc>
                <a:extLst>
                  <a:ext uri="{0D108BD9-81ED-4DB2-BD59-A6C34878D82A}">
                    <a16:rowId xmlns:a16="http://schemas.microsoft.com/office/drawing/2014/main" val="2353424945"/>
                  </a:ext>
                </a:extLst>
              </a:tr>
              <a:tr h="428673">
                <a:tc>
                  <a:txBody>
                    <a:bodyPr/>
                    <a:lstStyle/>
                    <a:p>
                      <a:r>
                        <a:rPr lang="en-US" b="1" dirty="0">
                          <a:latin typeface="Montserrat SemiBold" panose="00000700000000000000" pitchFamily="2" charset="0"/>
                        </a:rPr>
                        <a:t>Closing Costs</a:t>
                      </a:r>
                    </a:p>
                  </a:txBody>
                  <a:tcPr/>
                </a:tc>
                <a:tc>
                  <a:txBody>
                    <a:bodyPr/>
                    <a:lstStyle/>
                    <a:p>
                      <a:r>
                        <a:rPr lang="en-US" dirty="0">
                          <a:latin typeface="Montserrat SemiBold" panose="00000700000000000000" pitchFamily="2" charset="0"/>
                        </a:rPr>
                        <a:t>$2,500 + Due Diligence Costs</a:t>
                      </a:r>
                    </a:p>
                  </a:txBody>
                  <a:tcPr/>
                </a:tc>
                <a:extLst>
                  <a:ext uri="{0D108BD9-81ED-4DB2-BD59-A6C34878D82A}">
                    <a16:rowId xmlns:a16="http://schemas.microsoft.com/office/drawing/2014/main" val="265964465"/>
                  </a:ext>
                </a:extLst>
              </a:tr>
              <a:tr h="428673">
                <a:tc>
                  <a:txBody>
                    <a:bodyPr/>
                    <a:lstStyle/>
                    <a:p>
                      <a:r>
                        <a:rPr lang="en-US" b="1" dirty="0">
                          <a:latin typeface="Montserrat SemiBold" panose="00000700000000000000" pitchFamily="2" charset="0"/>
                        </a:rPr>
                        <a:t>Credit Score</a:t>
                      </a:r>
                    </a:p>
                  </a:txBody>
                  <a:tcPr/>
                </a:tc>
                <a:tc>
                  <a:txBody>
                    <a:bodyPr/>
                    <a:lstStyle/>
                    <a:p>
                      <a:r>
                        <a:rPr lang="en-US" dirty="0">
                          <a:latin typeface="Montserrat SemiBold" panose="00000700000000000000" pitchFamily="2" charset="0"/>
                        </a:rPr>
                        <a:t>650+</a:t>
                      </a:r>
                    </a:p>
                  </a:txBody>
                  <a:tcPr/>
                </a:tc>
                <a:extLst>
                  <a:ext uri="{0D108BD9-81ED-4DB2-BD59-A6C34878D82A}">
                    <a16:rowId xmlns:a16="http://schemas.microsoft.com/office/drawing/2014/main" val="2611471277"/>
                  </a:ext>
                </a:extLst>
              </a:tr>
            </a:tbl>
          </a:graphicData>
        </a:graphic>
      </p:graphicFrame>
    </p:spTree>
    <p:extLst>
      <p:ext uri="{BB962C8B-B14F-4D97-AF65-F5344CB8AC3E}">
        <p14:creationId xmlns:p14="http://schemas.microsoft.com/office/powerpoint/2010/main" val="2886617880"/>
      </p:ext>
    </p:extLst>
  </p:cSld>
  <p:clrMapOvr>
    <a:masterClrMapping/>
  </p:clrMapOvr>
  <p:transition spd="slow" advTm="71488">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42570-DC90-448A-612D-BAC7A599890F}"/>
              </a:ext>
            </a:extLst>
          </p:cNvPr>
          <p:cNvSpPr>
            <a:spLocks noGrp="1"/>
          </p:cNvSpPr>
          <p:nvPr>
            <p:ph type="title"/>
          </p:nvPr>
        </p:nvSpPr>
        <p:spPr>
          <a:xfrm>
            <a:off x="266700" y="236087"/>
            <a:ext cx="11658600" cy="1010920"/>
          </a:xfrm>
        </p:spPr>
        <p:txBody>
          <a:bodyPr/>
          <a:lstStyle/>
          <a:p>
            <a:pPr algn="ctr"/>
            <a:r>
              <a:rPr lang="en-US" dirty="0">
                <a:effectLst>
                  <a:outerShdw blurRad="38100" dist="38100" dir="2700000" algn="tl">
                    <a:srgbClr val="000000">
                      <a:alpha val="43137"/>
                    </a:srgbClr>
                  </a:outerShdw>
                </a:effectLst>
              </a:rPr>
              <a:t>CRF  Line of Credit</a:t>
            </a:r>
          </a:p>
        </p:txBody>
      </p:sp>
      <p:graphicFrame>
        <p:nvGraphicFramePr>
          <p:cNvPr id="5" name="Content Placeholder 4">
            <a:extLst>
              <a:ext uri="{FF2B5EF4-FFF2-40B4-BE49-F238E27FC236}">
                <a16:creationId xmlns:a16="http://schemas.microsoft.com/office/drawing/2014/main" id="{2561B763-8E3C-DA3B-CE16-2EA38CCD8ADB}"/>
              </a:ext>
            </a:extLst>
          </p:cNvPr>
          <p:cNvGraphicFramePr>
            <a:graphicFrameLocks noGrp="1"/>
          </p:cNvGraphicFramePr>
          <p:nvPr>
            <p:ph idx="1"/>
            <p:extLst>
              <p:ext uri="{D42A27DB-BD31-4B8C-83A1-F6EECF244321}">
                <p14:modId xmlns:p14="http://schemas.microsoft.com/office/powerpoint/2010/main" val="840397051"/>
              </p:ext>
            </p:extLst>
          </p:nvPr>
        </p:nvGraphicFramePr>
        <p:xfrm>
          <a:off x="552449" y="1260489"/>
          <a:ext cx="11087101" cy="4337022"/>
        </p:xfrm>
        <a:graphic>
          <a:graphicData uri="http://schemas.openxmlformats.org/drawingml/2006/table">
            <a:tbl>
              <a:tblPr firstRow="1" bandRow="1">
                <a:tableStyleId>{21E4AEA4-8DFA-4A89-87EB-49C32662AFE0}</a:tableStyleId>
              </a:tblPr>
              <a:tblGrid>
                <a:gridCol w="2024944">
                  <a:extLst>
                    <a:ext uri="{9D8B030D-6E8A-4147-A177-3AD203B41FA5}">
                      <a16:colId xmlns:a16="http://schemas.microsoft.com/office/drawing/2014/main" val="94686731"/>
                    </a:ext>
                  </a:extLst>
                </a:gridCol>
                <a:gridCol w="9062157">
                  <a:extLst>
                    <a:ext uri="{9D8B030D-6E8A-4147-A177-3AD203B41FA5}">
                      <a16:colId xmlns:a16="http://schemas.microsoft.com/office/drawing/2014/main" val="1052677669"/>
                    </a:ext>
                  </a:extLst>
                </a:gridCol>
              </a:tblGrid>
              <a:tr h="370840">
                <a:tc>
                  <a:txBody>
                    <a:bodyPr/>
                    <a:lstStyle/>
                    <a:p>
                      <a:r>
                        <a:rPr lang="en-US" dirty="0">
                          <a:latin typeface="Montserrat SemiBold" panose="00000700000000000000" pitchFamily="2" charset="0"/>
                        </a:rPr>
                        <a:t>Program</a:t>
                      </a:r>
                    </a:p>
                  </a:txBody>
                  <a:tcPr/>
                </a:tc>
                <a:tc>
                  <a:txBody>
                    <a:bodyPr/>
                    <a:lstStyle/>
                    <a:p>
                      <a:r>
                        <a:rPr lang="en-US" dirty="0">
                          <a:latin typeface="Montserrat SemiBold" panose="00000700000000000000" pitchFamily="2" charset="0"/>
                        </a:rPr>
                        <a:t>Line of Credit</a:t>
                      </a:r>
                    </a:p>
                  </a:txBody>
                  <a:tcPr/>
                </a:tc>
                <a:extLst>
                  <a:ext uri="{0D108BD9-81ED-4DB2-BD59-A6C34878D82A}">
                    <a16:rowId xmlns:a16="http://schemas.microsoft.com/office/drawing/2014/main" val="2496590856"/>
                  </a:ext>
                </a:extLst>
              </a:tr>
              <a:tr h="461490">
                <a:tc>
                  <a:txBody>
                    <a:bodyPr/>
                    <a:lstStyle/>
                    <a:p>
                      <a:r>
                        <a:rPr lang="en-US" dirty="0">
                          <a:latin typeface="Montserrat SemiBold" panose="00000700000000000000" pitchFamily="2" charset="0"/>
                        </a:rPr>
                        <a:t>Eligibility</a:t>
                      </a:r>
                    </a:p>
                  </a:txBody>
                  <a:tcPr/>
                </a:tc>
                <a:tc>
                  <a:txBody>
                    <a:bodyPr/>
                    <a:lstStyle/>
                    <a:p>
                      <a:r>
                        <a:rPr lang="en-US" dirty="0">
                          <a:latin typeface="Montserrat SemiBold" panose="00000700000000000000" pitchFamily="2" charset="0"/>
                        </a:rPr>
                        <a:t>620+, 2 Years in business, for profit, no bankruptcy in the last 5 years</a:t>
                      </a:r>
                    </a:p>
                  </a:txBody>
                  <a:tcPr/>
                </a:tc>
                <a:extLst>
                  <a:ext uri="{0D108BD9-81ED-4DB2-BD59-A6C34878D82A}">
                    <a16:rowId xmlns:a16="http://schemas.microsoft.com/office/drawing/2014/main" val="4198040417"/>
                  </a:ext>
                </a:extLst>
              </a:tr>
              <a:tr h="370840">
                <a:tc>
                  <a:txBody>
                    <a:bodyPr/>
                    <a:lstStyle/>
                    <a:p>
                      <a:r>
                        <a:rPr lang="en-US" dirty="0">
                          <a:latin typeface="Montserrat SemiBold" panose="00000700000000000000" pitchFamily="2" charset="0"/>
                        </a:rPr>
                        <a:t>Use of Funds</a:t>
                      </a:r>
                    </a:p>
                  </a:txBody>
                  <a:tcPr/>
                </a:tc>
                <a:tc>
                  <a:txBody>
                    <a:bodyPr/>
                    <a:lstStyle/>
                    <a:p>
                      <a:r>
                        <a:rPr lang="en-US" sz="1799" kern="1200" dirty="0">
                          <a:solidFill>
                            <a:schemeClr val="dk1"/>
                          </a:solidFill>
                          <a:effectLst/>
                          <a:latin typeface="Montserrat SemiBold" panose="00000700000000000000" pitchFamily="2" charset="0"/>
                          <a:ea typeface="+mn-ea"/>
                          <a:cs typeface="+mn-cs"/>
                        </a:rPr>
                        <a:t>Recurring capital needs such as labor, inventory, materials, and equipment</a:t>
                      </a:r>
                      <a:endParaRPr lang="en-US" dirty="0">
                        <a:latin typeface="Montserrat SemiBold" panose="00000700000000000000" pitchFamily="2" charset="0"/>
                      </a:endParaRPr>
                    </a:p>
                  </a:txBody>
                  <a:tcPr/>
                </a:tc>
                <a:extLst>
                  <a:ext uri="{0D108BD9-81ED-4DB2-BD59-A6C34878D82A}">
                    <a16:rowId xmlns:a16="http://schemas.microsoft.com/office/drawing/2014/main" val="2876354404"/>
                  </a:ext>
                </a:extLst>
              </a:tr>
              <a:tr h="370840">
                <a:tc>
                  <a:txBody>
                    <a:bodyPr/>
                    <a:lstStyle/>
                    <a:p>
                      <a:r>
                        <a:rPr lang="en-US" dirty="0">
                          <a:latin typeface="Montserrat SemiBold" panose="00000700000000000000" pitchFamily="2" charset="0"/>
                        </a:rPr>
                        <a:t>Loan Amount</a:t>
                      </a:r>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799" b="0" i="0" u="none" strike="noStrike" kern="1200" dirty="0">
                          <a:solidFill>
                            <a:schemeClr val="dk1"/>
                          </a:solidFill>
                          <a:effectLst/>
                          <a:latin typeface="Montserrat SemiBold" panose="00000700000000000000" pitchFamily="2" charset="0"/>
                          <a:ea typeface="+mn-ea"/>
                          <a:cs typeface="+mn-cs"/>
                        </a:rPr>
                        <a:t>$100k - $500k</a:t>
                      </a:r>
                      <a:endParaRPr lang="en-US" dirty="0">
                        <a:latin typeface="Montserrat SemiBold" panose="00000700000000000000" pitchFamily="2" charset="0"/>
                      </a:endParaRPr>
                    </a:p>
                  </a:txBody>
                  <a:tcPr/>
                </a:tc>
                <a:extLst>
                  <a:ext uri="{0D108BD9-81ED-4DB2-BD59-A6C34878D82A}">
                    <a16:rowId xmlns:a16="http://schemas.microsoft.com/office/drawing/2014/main" val="2967952411"/>
                  </a:ext>
                </a:extLst>
              </a:tr>
              <a:tr h="370840">
                <a:tc>
                  <a:txBody>
                    <a:bodyPr/>
                    <a:lstStyle/>
                    <a:p>
                      <a:r>
                        <a:rPr lang="en-US" dirty="0">
                          <a:latin typeface="Montserrat SemiBold" panose="00000700000000000000" pitchFamily="2" charset="0"/>
                        </a:rPr>
                        <a:t>Loan Term</a:t>
                      </a:r>
                    </a:p>
                  </a:txBody>
                  <a:tcPr/>
                </a:tc>
                <a:tc>
                  <a:txBody>
                    <a:bodyPr/>
                    <a:lstStyle/>
                    <a:p>
                      <a:r>
                        <a:rPr lang="en-US" sz="1799" b="0" i="0" u="none" strike="noStrike" kern="1200" dirty="0">
                          <a:solidFill>
                            <a:schemeClr val="dk1"/>
                          </a:solidFill>
                          <a:effectLst/>
                          <a:latin typeface="Montserrat SemiBold" panose="00000700000000000000" pitchFamily="2" charset="0"/>
                          <a:ea typeface="+mn-ea"/>
                          <a:cs typeface="+mn-cs"/>
                        </a:rPr>
                        <a:t>12 months; renewals subject to credit approval</a:t>
                      </a:r>
                      <a:endParaRPr lang="en-US" dirty="0">
                        <a:latin typeface="Montserrat SemiBold" panose="00000700000000000000" pitchFamily="2" charset="0"/>
                      </a:endParaRPr>
                    </a:p>
                  </a:txBody>
                  <a:tcPr/>
                </a:tc>
                <a:extLst>
                  <a:ext uri="{0D108BD9-81ED-4DB2-BD59-A6C34878D82A}">
                    <a16:rowId xmlns:a16="http://schemas.microsoft.com/office/drawing/2014/main" val="2681090036"/>
                  </a:ext>
                </a:extLst>
              </a:tr>
              <a:tr h="0">
                <a:tc>
                  <a:txBody>
                    <a:bodyPr/>
                    <a:lstStyle/>
                    <a:p>
                      <a:r>
                        <a:rPr lang="en-US" dirty="0">
                          <a:latin typeface="Montserrat SemiBold" panose="00000700000000000000" pitchFamily="2" charset="0"/>
                        </a:rPr>
                        <a:t>Rate</a:t>
                      </a:r>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799" b="0" i="0" u="none" strike="noStrike" kern="1200" dirty="0">
                          <a:solidFill>
                            <a:schemeClr val="dk1"/>
                          </a:solidFill>
                          <a:effectLst/>
                          <a:latin typeface="Montserrat SemiBold" panose="00000700000000000000" pitchFamily="2" charset="0"/>
                          <a:ea typeface="+mn-ea"/>
                          <a:cs typeface="+mn-cs"/>
                        </a:rPr>
                        <a:t>WSJP + 3.00%</a:t>
                      </a:r>
                      <a:endParaRPr lang="en-US" dirty="0">
                        <a:latin typeface="Montserrat SemiBold" panose="00000700000000000000" pitchFamily="2" charset="0"/>
                      </a:endParaRPr>
                    </a:p>
                    <a:p>
                      <a:endParaRPr lang="en-US" dirty="0">
                        <a:latin typeface="Montserrat SemiBold" panose="00000700000000000000" pitchFamily="2" charset="0"/>
                      </a:endParaRPr>
                    </a:p>
                  </a:txBody>
                  <a:tcPr/>
                </a:tc>
                <a:extLst>
                  <a:ext uri="{0D108BD9-81ED-4DB2-BD59-A6C34878D82A}">
                    <a16:rowId xmlns:a16="http://schemas.microsoft.com/office/drawing/2014/main" val="3113881797"/>
                  </a:ext>
                </a:extLst>
              </a:tr>
              <a:tr h="370840">
                <a:tc>
                  <a:txBody>
                    <a:bodyPr/>
                    <a:lstStyle/>
                    <a:p>
                      <a:r>
                        <a:rPr lang="en-US" dirty="0">
                          <a:latin typeface="Montserrat SemiBold" panose="00000700000000000000" pitchFamily="2" charset="0"/>
                        </a:rPr>
                        <a:t>Repayment</a:t>
                      </a:r>
                    </a:p>
                  </a:txBody>
                  <a:tcPr/>
                </a:tc>
                <a:tc>
                  <a:txBody>
                    <a:bodyPr/>
                    <a:lstStyle/>
                    <a:p>
                      <a:r>
                        <a:rPr lang="en-US" dirty="0">
                          <a:latin typeface="Montserrat SemiBold" panose="00000700000000000000" pitchFamily="2" charset="0"/>
                        </a:rPr>
                        <a:t>Interest only monthly with balance due at maturity</a:t>
                      </a:r>
                    </a:p>
                  </a:txBody>
                  <a:tcPr/>
                </a:tc>
                <a:extLst>
                  <a:ext uri="{0D108BD9-81ED-4DB2-BD59-A6C34878D82A}">
                    <a16:rowId xmlns:a16="http://schemas.microsoft.com/office/drawing/2014/main" val="936886878"/>
                  </a:ext>
                </a:extLst>
              </a:tr>
              <a:tr h="370840">
                <a:tc>
                  <a:txBody>
                    <a:bodyPr/>
                    <a:lstStyle/>
                    <a:p>
                      <a:r>
                        <a:rPr lang="en-US" dirty="0">
                          <a:latin typeface="Montserrat SemiBold" panose="00000700000000000000" pitchFamily="2" charset="0"/>
                        </a:rPr>
                        <a:t>Requirements</a:t>
                      </a:r>
                    </a:p>
                  </a:txBody>
                  <a:tcPr/>
                </a:tc>
                <a:tc>
                  <a:txBody>
                    <a:bodyPr/>
                    <a:lstStyle/>
                    <a:p>
                      <a:r>
                        <a:rPr lang="en-US" sz="1799" b="0" i="0" kern="1200" dirty="0">
                          <a:solidFill>
                            <a:schemeClr val="dk1"/>
                          </a:solidFill>
                          <a:effectLst/>
                          <a:latin typeface="Montserrat SemiBold" panose="00000700000000000000" pitchFamily="2" charset="0"/>
                          <a:ea typeface="+mn-ea"/>
                          <a:cs typeface="+mn-cs"/>
                        </a:rPr>
                        <a:t>Personal Guaranty from all 20%+ owners,  1</a:t>
                      </a:r>
                      <a:r>
                        <a:rPr lang="en-US" sz="1799" b="0" i="0" kern="1200" baseline="30000" dirty="0">
                          <a:solidFill>
                            <a:schemeClr val="dk1"/>
                          </a:solidFill>
                          <a:effectLst/>
                          <a:latin typeface="Montserrat SemiBold" panose="00000700000000000000" pitchFamily="2" charset="0"/>
                          <a:ea typeface="+mn-ea"/>
                          <a:cs typeface="+mn-cs"/>
                        </a:rPr>
                        <a:t>st</a:t>
                      </a:r>
                      <a:r>
                        <a:rPr lang="en-US" sz="1799" b="0" i="0" kern="1200" dirty="0">
                          <a:solidFill>
                            <a:schemeClr val="dk1"/>
                          </a:solidFill>
                          <a:effectLst/>
                          <a:latin typeface="Montserrat SemiBold" panose="00000700000000000000" pitchFamily="2" charset="0"/>
                          <a:ea typeface="+mn-ea"/>
                          <a:cs typeface="+mn-cs"/>
                        </a:rPr>
                        <a:t> lien on current receivables, life insurance for 20%+ owners</a:t>
                      </a:r>
                      <a:endParaRPr lang="en-US" dirty="0">
                        <a:latin typeface="Montserrat SemiBold" panose="00000700000000000000" pitchFamily="2" charset="0"/>
                      </a:endParaRPr>
                    </a:p>
                  </a:txBody>
                  <a:tcPr/>
                </a:tc>
                <a:extLst>
                  <a:ext uri="{0D108BD9-81ED-4DB2-BD59-A6C34878D82A}">
                    <a16:rowId xmlns:a16="http://schemas.microsoft.com/office/drawing/2014/main" val="1409385252"/>
                  </a:ext>
                </a:extLst>
              </a:tr>
              <a:tr h="370840">
                <a:tc>
                  <a:txBody>
                    <a:bodyPr/>
                    <a:lstStyle/>
                    <a:p>
                      <a:r>
                        <a:rPr lang="en-US" dirty="0">
                          <a:latin typeface="Montserrat SemiBold" panose="00000700000000000000" pitchFamily="2" charset="0"/>
                        </a:rPr>
                        <a:t>Fees</a:t>
                      </a:r>
                    </a:p>
                  </a:txBody>
                  <a:tcPr/>
                </a:tc>
                <a:tc>
                  <a:txBody>
                    <a:bodyPr/>
                    <a:lstStyle/>
                    <a:p>
                      <a:r>
                        <a:rPr lang="en-US" dirty="0">
                          <a:latin typeface="Montserrat SemiBold" panose="00000700000000000000" pitchFamily="2" charset="0"/>
                        </a:rPr>
                        <a:t>3% origination fee, 1% renewal fee (max of $3,500)</a:t>
                      </a:r>
                    </a:p>
                  </a:txBody>
                  <a:tcPr/>
                </a:tc>
                <a:extLst>
                  <a:ext uri="{0D108BD9-81ED-4DB2-BD59-A6C34878D82A}">
                    <a16:rowId xmlns:a16="http://schemas.microsoft.com/office/drawing/2014/main" val="383610812"/>
                  </a:ext>
                </a:extLst>
              </a:tr>
              <a:tr h="370840">
                <a:tc>
                  <a:txBody>
                    <a:bodyPr/>
                    <a:lstStyle/>
                    <a:p>
                      <a:r>
                        <a:rPr lang="en-US" dirty="0">
                          <a:latin typeface="Montserrat SemiBold" panose="00000700000000000000" pitchFamily="2" charset="0"/>
                        </a:rPr>
                        <a:t>Draws</a:t>
                      </a:r>
                    </a:p>
                  </a:txBody>
                  <a:tcPr/>
                </a:tc>
                <a:tc>
                  <a:txBody>
                    <a:bodyPr/>
                    <a:lstStyle/>
                    <a:p>
                      <a:r>
                        <a:rPr lang="en-US" dirty="0">
                          <a:latin typeface="Montserrat SemiBold" panose="00000700000000000000" pitchFamily="2" charset="0"/>
                        </a:rPr>
                        <a:t>Up to 4 per month, turn around time of 3 business days</a:t>
                      </a:r>
                    </a:p>
                  </a:txBody>
                  <a:tcPr/>
                </a:tc>
                <a:extLst>
                  <a:ext uri="{0D108BD9-81ED-4DB2-BD59-A6C34878D82A}">
                    <a16:rowId xmlns:a16="http://schemas.microsoft.com/office/drawing/2014/main" val="3481252287"/>
                  </a:ext>
                </a:extLst>
              </a:tr>
            </a:tbl>
          </a:graphicData>
        </a:graphic>
      </p:graphicFrame>
    </p:spTree>
    <p:extLst>
      <p:ext uri="{BB962C8B-B14F-4D97-AF65-F5344CB8AC3E}">
        <p14:creationId xmlns:p14="http://schemas.microsoft.com/office/powerpoint/2010/main" val="2196532652"/>
      </p:ext>
    </p:extLst>
  </p:cSld>
  <p:clrMapOvr>
    <a:masterClrMapping/>
  </p:clrMapOvr>
  <p:transition spd="slow" advTm="4903">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677" y="398371"/>
            <a:ext cx="11431882" cy="1306971"/>
          </a:xfrm>
        </p:spPr>
        <p:txBody>
          <a:bodyPr>
            <a:noAutofit/>
          </a:bodyPr>
          <a:lstStyle/>
          <a:p>
            <a:pPr algn="ctr">
              <a:lnSpc>
                <a:spcPct val="150000"/>
              </a:lnSpc>
            </a:pPr>
            <a:r>
              <a:rPr lang="en-US" sz="4400" b="1" dirty="0">
                <a:solidFill>
                  <a:schemeClr val="tx1"/>
                </a:solidFill>
                <a:effectLst>
                  <a:outerShdw blurRad="38100" dist="38100" dir="2700000" algn="tl">
                    <a:srgbClr val="000000">
                      <a:alpha val="43137"/>
                    </a:srgbClr>
                  </a:outerShdw>
                </a:effectLst>
                <a:latin typeface="Montserrat SemiBold" panose="00000700000000000000" pitchFamily="2" charset="0"/>
              </a:rPr>
              <a:t>Get Lender Ready With CRF</a:t>
            </a:r>
            <a:endParaRPr lang="en-US" sz="4400" b="1" dirty="0">
              <a:solidFill>
                <a:schemeClr val="tx1"/>
              </a:solidFill>
              <a:latin typeface="Montserrat SemiBold" panose="00000700000000000000" pitchFamily="2" charset="0"/>
            </a:endParaRPr>
          </a:p>
        </p:txBody>
      </p:sp>
      <p:sp>
        <p:nvSpPr>
          <p:cNvPr id="6" name="Footer Placeholder 5">
            <a:extLst>
              <a:ext uri="{FF2B5EF4-FFF2-40B4-BE49-F238E27FC236}">
                <a16:creationId xmlns:a16="http://schemas.microsoft.com/office/drawing/2014/main" id="{4ECC4C6E-BB7E-BDB2-4C81-C31B0513D83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lumMod val="65000"/>
                  </a:srgbClr>
                </a:solidFill>
                <a:effectLst/>
                <a:uLnTx/>
                <a:uFillTx/>
                <a:ea typeface="+mn-ea"/>
                <a:cs typeface="+mn-cs"/>
              </a:rPr>
              <a:t>© Community Reinvestment Fund, USA </a:t>
            </a:r>
          </a:p>
        </p:txBody>
      </p:sp>
      <p:sp>
        <p:nvSpPr>
          <p:cNvPr id="21" name="Content Placeholder 5">
            <a:extLst>
              <a:ext uri="{FF2B5EF4-FFF2-40B4-BE49-F238E27FC236}">
                <a16:creationId xmlns:a16="http://schemas.microsoft.com/office/drawing/2014/main" id="{635FF036-71BA-43F5-ACC8-D834F423BF8A}"/>
              </a:ext>
            </a:extLst>
          </p:cNvPr>
          <p:cNvSpPr txBox="1">
            <a:spLocks/>
          </p:cNvSpPr>
          <p:nvPr/>
        </p:nvSpPr>
        <p:spPr>
          <a:xfrm>
            <a:off x="591730" y="3211404"/>
            <a:ext cx="3461143" cy="340196"/>
          </a:xfrm>
          <a:prstGeom prst="rect">
            <a:avLst/>
          </a:prstGeom>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2"/>
                </a:solidFill>
                <a:latin typeface="Arial Narrow" panose="020B0606020202030204" pitchFamily="34" charset="0"/>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2"/>
                </a:solidFill>
                <a:latin typeface="Arial Narrow" panose="020B0606020202030204" pitchFamily="34" charset="0"/>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2"/>
                </a:solidFill>
                <a:latin typeface="Arial Narrow" panose="020B0606020202030204" pitchFamily="34" charset="0"/>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ctr" defTabSz="914126" rtl="0" eaLnBrk="1" fontAlgn="auto" latinLnBrk="0" hangingPunct="1">
              <a:lnSpc>
                <a:spcPct val="90000"/>
              </a:lnSpc>
              <a:spcBef>
                <a:spcPts val="1000"/>
              </a:spcBef>
              <a:spcAft>
                <a:spcPts val="0"/>
              </a:spcAft>
              <a:buClr>
                <a:srgbClr val="50C3CB"/>
              </a:buClr>
              <a:buSzTx/>
              <a:buFont typeface="Arial" panose="020B0604020202020204" pitchFamily="34" charset="0"/>
              <a:buNone/>
              <a:tabLst/>
              <a:defRPr/>
            </a:pPr>
            <a:r>
              <a:rPr lang="en-US" sz="3200" b="1" baseline="30000" dirty="0">
                <a:solidFill>
                  <a:srgbClr val="78D3CF"/>
                </a:solidFill>
                <a:latin typeface="Montserrat SemiBold" panose="00000700000000000000" pitchFamily="2" charset="0"/>
              </a:rPr>
              <a:t>Reviewing Financials</a:t>
            </a:r>
          </a:p>
          <a:p>
            <a:pPr marL="0" marR="0" lvl="0" indent="0" algn="l" defTabSz="914126" rtl="0" eaLnBrk="1" fontAlgn="auto" latinLnBrk="0" hangingPunct="1">
              <a:lnSpc>
                <a:spcPct val="90000"/>
              </a:lnSpc>
              <a:spcBef>
                <a:spcPts val="1000"/>
              </a:spcBef>
              <a:spcAft>
                <a:spcPts val="0"/>
              </a:spcAft>
              <a:buClr>
                <a:srgbClr val="50C3CB"/>
              </a:buClr>
              <a:buSzTx/>
              <a:buFont typeface="Arial" panose="020B0604020202020204" pitchFamily="34" charset="0"/>
              <a:buNone/>
              <a:tabLst/>
              <a:defRPr/>
            </a:pPr>
            <a:endParaRPr kumimoji="0" lang="en-US" sz="2800" b="0" i="0" u="none" strike="noStrike" kern="1200" cap="none" spc="0" normalizeH="0" baseline="30000" noProof="0" dirty="0">
              <a:ln>
                <a:noFill/>
              </a:ln>
              <a:solidFill>
                <a:prstClr val="white"/>
              </a:solidFill>
              <a:effectLst/>
              <a:uLnTx/>
              <a:uFillTx/>
              <a:latin typeface="Montserrat SemiBold" panose="00000700000000000000" pitchFamily="2" charset="0"/>
              <a:ea typeface="+mn-ea"/>
              <a:cs typeface="+mn-cs"/>
            </a:endParaRPr>
          </a:p>
        </p:txBody>
      </p:sp>
      <p:sp>
        <p:nvSpPr>
          <p:cNvPr id="32" name="Content Placeholder 5">
            <a:extLst>
              <a:ext uri="{FF2B5EF4-FFF2-40B4-BE49-F238E27FC236}">
                <a16:creationId xmlns:a16="http://schemas.microsoft.com/office/drawing/2014/main" id="{4AFB3B8C-3E62-4458-98A0-DB210CB7BE83}"/>
              </a:ext>
            </a:extLst>
          </p:cNvPr>
          <p:cNvSpPr txBox="1">
            <a:spLocks/>
          </p:cNvSpPr>
          <p:nvPr/>
        </p:nvSpPr>
        <p:spPr>
          <a:xfrm>
            <a:off x="806452" y="3954238"/>
            <a:ext cx="6334883" cy="2124590"/>
          </a:xfrm>
          <a:prstGeom prst="rect">
            <a:avLst/>
          </a:prstGeom>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2"/>
                </a:solidFill>
                <a:latin typeface="Arial Narrow" panose="020B0606020202030204" pitchFamily="34" charset="0"/>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2"/>
                </a:solidFill>
                <a:latin typeface="Arial Narrow" panose="020B0606020202030204" pitchFamily="34" charset="0"/>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2"/>
                </a:solidFill>
                <a:latin typeface="Arial Narrow" panose="020B0606020202030204" pitchFamily="34" charset="0"/>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126"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30000" noProof="0" dirty="0">
              <a:ln>
                <a:noFill/>
              </a:ln>
              <a:solidFill>
                <a:prstClr val="white"/>
              </a:solidFill>
              <a:effectLst/>
              <a:uLnTx/>
              <a:uFillTx/>
              <a:latin typeface="Montserrat SemiBold" panose="00000700000000000000" pitchFamily="2" charset="0"/>
              <a:ea typeface="+mn-ea"/>
              <a:cs typeface="+mn-cs"/>
            </a:endParaRPr>
          </a:p>
        </p:txBody>
      </p:sp>
      <p:sp>
        <p:nvSpPr>
          <p:cNvPr id="33" name="Content Placeholder 5">
            <a:extLst>
              <a:ext uri="{FF2B5EF4-FFF2-40B4-BE49-F238E27FC236}">
                <a16:creationId xmlns:a16="http://schemas.microsoft.com/office/drawing/2014/main" id="{3E892A99-0256-434A-B421-633229BD61D0}"/>
              </a:ext>
            </a:extLst>
          </p:cNvPr>
          <p:cNvSpPr txBox="1">
            <a:spLocks/>
          </p:cNvSpPr>
          <p:nvPr/>
        </p:nvSpPr>
        <p:spPr>
          <a:xfrm>
            <a:off x="314942" y="3592163"/>
            <a:ext cx="3658951" cy="2074552"/>
          </a:xfrm>
          <a:prstGeom prst="rect">
            <a:avLst/>
          </a:prstGeom>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2"/>
                </a:solidFill>
                <a:latin typeface="Arial Narrow" panose="020B0606020202030204" pitchFamily="34" charset="0"/>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2"/>
                </a:solidFill>
                <a:latin typeface="Arial Narrow" panose="020B0606020202030204" pitchFamily="34" charset="0"/>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2"/>
                </a:solidFill>
                <a:latin typeface="Arial Narrow" panose="020B0606020202030204" pitchFamily="34" charset="0"/>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228531" marR="0" lvl="0" indent="-228531" algn="l" defTabSz="914126"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30000" noProof="0" dirty="0">
              <a:ln>
                <a:noFill/>
              </a:ln>
              <a:solidFill>
                <a:prstClr val="white"/>
              </a:solidFill>
              <a:effectLst/>
              <a:uLnTx/>
              <a:uFillTx/>
              <a:latin typeface="Montserrat SemiBold" panose="00000700000000000000" pitchFamily="2" charset="0"/>
              <a:ea typeface="+mn-ea"/>
              <a:cs typeface="+mn-cs"/>
            </a:endParaRPr>
          </a:p>
        </p:txBody>
      </p:sp>
      <p:sp>
        <p:nvSpPr>
          <p:cNvPr id="40" name="Content Placeholder 5">
            <a:extLst>
              <a:ext uri="{FF2B5EF4-FFF2-40B4-BE49-F238E27FC236}">
                <a16:creationId xmlns:a16="http://schemas.microsoft.com/office/drawing/2014/main" id="{AECAD3F6-D8FF-4AE3-89F1-9F70631D0FD5}"/>
              </a:ext>
            </a:extLst>
          </p:cNvPr>
          <p:cNvSpPr txBox="1">
            <a:spLocks/>
          </p:cNvSpPr>
          <p:nvPr/>
        </p:nvSpPr>
        <p:spPr>
          <a:xfrm>
            <a:off x="8393831" y="4707468"/>
            <a:ext cx="2346825" cy="998827"/>
          </a:xfrm>
          <a:prstGeom prst="rect">
            <a:avLst/>
          </a:prstGeom>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2"/>
                </a:solidFill>
                <a:latin typeface="Arial Narrow" panose="020B0606020202030204" pitchFamily="34" charset="0"/>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2"/>
                </a:solidFill>
                <a:latin typeface="Arial Narrow" panose="020B0606020202030204" pitchFamily="34" charset="0"/>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2"/>
                </a:solidFill>
                <a:latin typeface="Arial Narrow" panose="020B0606020202030204" pitchFamily="34" charset="0"/>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126"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30000" noProof="0" dirty="0">
              <a:ln>
                <a:noFill/>
              </a:ln>
              <a:solidFill>
                <a:prstClr val="white"/>
              </a:solidFill>
              <a:effectLst/>
              <a:uLnTx/>
              <a:uFillTx/>
              <a:latin typeface="Montserrat SemiBold" panose="00000700000000000000" pitchFamily="2" charset="0"/>
              <a:ea typeface="+mn-ea"/>
              <a:cs typeface="+mn-cs"/>
            </a:endParaRPr>
          </a:p>
        </p:txBody>
      </p:sp>
      <p:sp>
        <p:nvSpPr>
          <p:cNvPr id="3" name="Content Placeholder 5">
            <a:extLst>
              <a:ext uri="{FF2B5EF4-FFF2-40B4-BE49-F238E27FC236}">
                <a16:creationId xmlns:a16="http://schemas.microsoft.com/office/drawing/2014/main" id="{34F4335B-D575-0B90-7656-FAC620067E7D}"/>
              </a:ext>
            </a:extLst>
          </p:cNvPr>
          <p:cNvSpPr txBox="1">
            <a:spLocks/>
          </p:cNvSpPr>
          <p:nvPr/>
        </p:nvSpPr>
        <p:spPr>
          <a:xfrm>
            <a:off x="4498118" y="3193909"/>
            <a:ext cx="3461143" cy="340196"/>
          </a:xfrm>
          <a:prstGeom prst="rect">
            <a:avLst/>
          </a:prstGeom>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2"/>
                </a:solidFill>
                <a:latin typeface="Arial Narrow" panose="020B0606020202030204" pitchFamily="34" charset="0"/>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2"/>
                </a:solidFill>
                <a:latin typeface="Arial Narrow" panose="020B0606020202030204" pitchFamily="34" charset="0"/>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2"/>
                </a:solidFill>
                <a:latin typeface="Arial Narrow" panose="020B0606020202030204" pitchFamily="34" charset="0"/>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2"/>
                </a:solidFill>
                <a:latin typeface="Arial Narrow" panose="020B0606020202030204" pitchFamily="34"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3200" b="1" i="0" u="none" strike="noStrike" kern="1200" cap="none" spc="0" normalizeH="0" baseline="30000" noProof="0" dirty="0">
                <a:ln>
                  <a:noFill/>
                </a:ln>
                <a:solidFill>
                  <a:srgbClr val="78D3CF"/>
                </a:solidFill>
                <a:effectLst/>
                <a:uLnTx/>
                <a:uFillTx/>
                <a:latin typeface="Montserrat SemiBold" panose="00000700000000000000" pitchFamily="2" charset="0"/>
                <a:ea typeface="+mn-ea"/>
                <a:cs typeface="+mn-cs"/>
              </a:rPr>
              <a:t>Create a Business Plan </a:t>
            </a:r>
          </a:p>
        </p:txBody>
      </p:sp>
      <p:sp>
        <p:nvSpPr>
          <p:cNvPr id="5" name="TextBox 4">
            <a:extLst>
              <a:ext uri="{FF2B5EF4-FFF2-40B4-BE49-F238E27FC236}">
                <a16:creationId xmlns:a16="http://schemas.microsoft.com/office/drawing/2014/main" id="{6F95BDD1-CF23-E10B-3BB2-B64183357EFA}"/>
              </a:ext>
            </a:extLst>
          </p:cNvPr>
          <p:cNvSpPr txBox="1"/>
          <p:nvPr/>
        </p:nvSpPr>
        <p:spPr>
          <a:xfrm>
            <a:off x="8725068" y="3218686"/>
            <a:ext cx="2893267" cy="420628"/>
          </a:xfrm>
          <a:prstGeom prst="rect">
            <a:avLst/>
          </a:prstGeom>
          <a:noFill/>
        </p:spPr>
        <p:txBody>
          <a:bodyPr wrap="square">
            <a:spAutoFit/>
          </a:bodyPr>
          <a:lstStyle/>
          <a:p>
            <a:pPr marR="0" lvl="0" algn="ctr" defTabSz="914400" rtl="0" eaLnBrk="1" fontAlgn="auto" latinLnBrk="0" hangingPunct="1">
              <a:lnSpc>
                <a:spcPct val="100000"/>
              </a:lnSpc>
              <a:spcBef>
                <a:spcPts val="0"/>
              </a:spcBef>
              <a:spcAft>
                <a:spcPts val="0"/>
              </a:spcAft>
              <a:buClrTx/>
              <a:buSzTx/>
              <a:tabLst/>
              <a:defRPr/>
            </a:pPr>
            <a:r>
              <a:rPr kumimoji="0" lang="en-US" sz="3200" b="1" i="0" u="none" strike="noStrike" kern="1200" cap="none" spc="0" normalizeH="0" baseline="30000" noProof="0" dirty="0">
                <a:ln>
                  <a:noFill/>
                </a:ln>
                <a:solidFill>
                  <a:srgbClr val="78D3CF"/>
                </a:solidFill>
                <a:effectLst/>
                <a:uLnTx/>
                <a:uFillTx/>
                <a:latin typeface="Montserrat SemiBold" panose="00000700000000000000" pitchFamily="2" charset="0"/>
                <a:ea typeface="+mn-ea"/>
                <a:cs typeface="+mn-cs"/>
              </a:rPr>
              <a:t>Create Projections</a:t>
            </a:r>
          </a:p>
        </p:txBody>
      </p:sp>
      <p:pic>
        <p:nvPicPr>
          <p:cNvPr id="14" name="Graphic 13" descr="Badge 1 with solid fill">
            <a:extLst>
              <a:ext uri="{FF2B5EF4-FFF2-40B4-BE49-F238E27FC236}">
                <a16:creationId xmlns:a16="http://schemas.microsoft.com/office/drawing/2014/main" id="{C8ACD7C3-C4E7-308B-D2A6-5CDF7693E62F}"/>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93702" y="2601037"/>
            <a:ext cx="457200" cy="457200"/>
          </a:xfrm>
          <a:prstGeom prst="rect">
            <a:avLst/>
          </a:prstGeom>
        </p:spPr>
      </p:pic>
      <p:pic>
        <p:nvPicPr>
          <p:cNvPr id="15" name="Graphic 14" descr="Badge with solid fill">
            <a:extLst>
              <a:ext uri="{FF2B5EF4-FFF2-40B4-BE49-F238E27FC236}">
                <a16:creationId xmlns:a16="http://schemas.microsoft.com/office/drawing/2014/main" id="{864B91E7-B8F5-5C53-568A-629893DF8046}"/>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18402" y="2601037"/>
            <a:ext cx="457200" cy="457200"/>
          </a:xfrm>
          <a:prstGeom prst="rect">
            <a:avLst/>
          </a:prstGeom>
        </p:spPr>
      </p:pic>
      <p:pic>
        <p:nvPicPr>
          <p:cNvPr id="16" name="Graphic 15" descr="Badge 3 with solid fill">
            <a:extLst>
              <a:ext uri="{FF2B5EF4-FFF2-40B4-BE49-F238E27FC236}">
                <a16:creationId xmlns:a16="http://schemas.microsoft.com/office/drawing/2014/main" id="{479624A6-66E4-E260-7BEF-565C83B37FA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943102" y="2601037"/>
            <a:ext cx="457200" cy="457200"/>
          </a:xfrm>
          <a:prstGeom prst="rect">
            <a:avLst/>
          </a:prstGeom>
        </p:spPr>
      </p:pic>
      <p:sp>
        <p:nvSpPr>
          <p:cNvPr id="8" name="TextBox 7">
            <a:extLst>
              <a:ext uri="{FF2B5EF4-FFF2-40B4-BE49-F238E27FC236}">
                <a16:creationId xmlns:a16="http://schemas.microsoft.com/office/drawing/2014/main" id="{5427CE46-585F-B177-C8A4-3ED02C293961}"/>
              </a:ext>
            </a:extLst>
          </p:cNvPr>
          <p:cNvSpPr txBox="1"/>
          <p:nvPr/>
        </p:nvSpPr>
        <p:spPr>
          <a:xfrm>
            <a:off x="547202" y="3639314"/>
            <a:ext cx="3550200" cy="1733808"/>
          </a:xfrm>
          <a:prstGeom prst="rect">
            <a:avLst/>
          </a:prstGeom>
          <a:noFill/>
        </p:spPr>
        <p:txBody>
          <a:bodyPr wrap="square">
            <a:spAutoFit/>
          </a:bodyPr>
          <a:lstStyle/>
          <a:p>
            <a:pPr marL="0" indent="0" algn="ctr">
              <a:buClr>
                <a:srgbClr val="50C3CB"/>
              </a:buClr>
              <a:buNone/>
              <a:defRPr/>
            </a:pPr>
            <a:r>
              <a:rPr kumimoji="0" lang="en-US" sz="3200" b="0" u="none" strike="noStrike" kern="1200" cap="none" spc="0" normalizeH="0" baseline="30000" noProof="0" dirty="0">
                <a:ln>
                  <a:noFill/>
                </a:ln>
                <a:solidFill>
                  <a:prstClr val="white"/>
                </a:solidFill>
                <a:effectLst/>
                <a:uLnTx/>
                <a:uFillTx/>
                <a:latin typeface="Montserrat SemiBold" panose="00000700000000000000" pitchFamily="2" charset="0"/>
                <a:ea typeface="Roboto" panose="02000000000000000000" pitchFamily="2" charset="0"/>
                <a:cs typeface="Roboto" panose="02000000000000000000" pitchFamily="2" charset="0"/>
              </a:rPr>
              <a:t>Connect your historical performance to your “story”</a:t>
            </a:r>
          </a:p>
          <a:p>
            <a:pPr marL="0" indent="0" algn="ctr">
              <a:buClr>
                <a:srgbClr val="50C3CB"/>
              </a:buClr>
              <a:buNone/>
              <a:defRPr/>
            </a:pPr>
            <a:r>
              <a:rPr kumimoji="0" lang="en-US" sz="3200" b="0" u="none" strike="noStrike" kern="1200" cap="none" spc="0" normalizeH="0" baseline="30000" noProof="0" dirty="0">
                <a:ln>
                  <a:noFill/>
                </a:ln>
                <a:solidFill>
                  <a:prstClr val="white"/>
                </a:solidFill>
                <a:effectLst/>
                <a:uLnTx/>
                <a:uFillTx/>
                <a:latin typeface="Montserrat SemiBold" panose="00000700000000000000" pitchFamily="2" charset="0"/>
                <a:ea typeface="Roboto" panose="02000000000000000000" pitchFamily="2" charset="0"/>
                <a:cs typeface="Roboto" panose="02000000000000000000" pitchFamily="2" charset="0"/>
              </a:rPr>
              <a:t>Identify trends, and note lessons learned</a:t>
            </a:r>
          </a:p>
        </p:txBody>
      </p:sp>
      <p:sp>
        <p:nvSpPr>
          <p:cNvPr id="10" name="TextBox 9">
            <a:extLst>
              <a:ext uri="{FF2B5EF4-FFF2-40B4-BE49-F238E27FC236}">
                <a16:creationId xmlns:a16="http://schemas.microsoft.com/office/drawing/2014/main" id="{113F297D-6EF1-4A30-E29A-DBF593573BFF}"/>
              </a:ext>
            </a:extLst>
          </p:cNvPr>
          <p:cNvSpPr txBox="1"/>
          <p:nvPr/>
        </p:nvSpPr>
        <p:spPr>
          <a:xfrm>
            <a:off x="4573766" y="3624035"/>
            <a:ext cx="3257705" cy="2010807"/>
          </a:xfrm>
          <a:prstGeom prst="rect">
            <a:avLst/>
          </a:prstGeom>
          <a:noFill/>
        </p:spPr>
        <p:txBody>
          <a:bodyPr wrap="square" rtlCol="0">
            <a:spAutoFit/>
          </a:bodyPr>
          <a:lstStyle/>
          <a:p>
            <a:pPr algn="ctr"/>
            <a:r>
              <a:rPr lang="en-US" sz="3200" baseline="30000" dirty="0">
                <a:solidFill>
                  <a:prstClr val="white"/>
                </a:solidFill>
                <a:latin typeface="Montserrat SemiBold" panose="00000700000000000000" pitchFamily="2" charset="0"/>
              </a:rPr>
              <a:t>Serves as both a roadmap for your business’s success and a tool for securing funding</a:t>
            </a:r>
          </a:p>
          <a:p>
            <a:pPr algn="ctr"/>
            <a:endParaRPr lang="en-US" dirty="0">
              <a:latin typeface="Montserrat SemiBold" panose="00000700000000000000" pitchFamily="2" charset="0"/>
            </a:endParaRPr>
          </a:p>
        </p:txBody>
      </p:sp>
      <p:sp>
        <p:nvSpPr>
          <p:cNvPr id="11" name="TextBox 10">
            <a:extLst>
              <a:ext uri="{FF2B5EF4-FFF2-40B4-BE49-F238E27FC236}">
                <a16:creationId xmlns:a16="http://schemas.microsoft.com/office/drawing/2014/main" id="{41A6C4F2-23A7-5CE2-2B11-9F72E421DF3B}"/>
              </a:ext>
            </a:extLst>
          </p:cNvPr>
          <p:cNvSpPr txBox="1"/>
          <p:nvPr/>
        </p:nvSpPr>
        <p:spPr>
          <a:xfrm>
            <a:off x="8307835" y="3688430"/>
            <a:ext cx="3727731" cy="2390398"/>
          </a:xfrm>
          <a:prstGeom prst="rect">
            <a:avLst/>
          </a:prstGeom>
          <a:noFill/>
        </p:spPr>
        <p:txBody>
          <a:bodyPr wrap="square" rtlCol="0">
            <a:spAutoFit/>
          </a:bodyPr>
          <a:lstStyle/>
          <a:p>
            <a:pPr lvl="0" algn="ctr">
              <a:defRPr/>
            </a:pPr>
            <a:r>
              <a:rPr lang="en-US" sz="3200" baseline="30000" dirty="0">
                <a:solidFill>
                  <a:prstClr val="white"/>
                </a:solidFill>
                <a:latin typeface="Montserrat SemiBold" panose="00000700000000000000" pitchFamily="2" charset="0"/>
              </a:rPr>
              <a:t>Ties your business plan, historical performance, and goals together</a:t>
            </a:r>
          </a:p>
          <a:p>
            <a:pPr lvl="0" algn="ctr">
              <a:defRPr/>
            </a:pPr>
            <a:endParaRPr lang="en-US" sz="3200" baseline="30000" dirty="0">
              <a:solidFill>
                <a:prstClr val="white"/>
              </a:solidFill>
              <a:latin typeface="Montserrat SemiBold" panose="00000700000000000000" pitchFamily="2" charset="0"/>
            </a:endParaRPr>
          </a:p>
          <a:p>
            <a:pPr lvl="0" algn="ctr">
              <a:defRPr/>
            </a:pPr>
            <a:r>
              <a:rPr lang="en-US" sz="3200" baseline="30000" dirty="0">
                <a:solidFill>
                  <a:prstClr val="white"/>
                </a:solidFill>
                <a:latin typeface="Montserrat SemiBold" panose="00000700000000000000" pitchFamily="2" charset="0"/>
              </a:rPr>
              <a:t>Demonstrates ability to meet financial obligations</a:t>
            </a:r>
          </a:p>
        </p:txBody>
      </p:sp>
    </p:spTree>
    <p:extLst>
      <p:ext uri="{BB962C8B-B14F-4D97-AF65-F5344CB8AC3E}">
        <p14:creationId xmlns:p14="http://schemas.microsoft.com/office/powerpoint/2010/main" val="1184774004"/>
      </p:ext>
    </p:extLst>
  </p:cSld>
  <p:clrMapOvr>
    <a:masterClrMapping/>
  </p:clrMapOvr>
  <p:transition spd="slow" advTm="23369">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34779" y="1027906"/>
            <a:ext cx="11957222" cy="13255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0" kern="1200">
                <a:solidFill>
                  <a:schemeClr val="tx1"/>
                </a:solidFill>
                <a:latin typeface="Franklin Gothic Demi" panose="020B07030201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
        <p:nvSpPr>
          <p:cNvPr id="8" name="Title 7">
            <a:extLst>
              <a:ext uri="{FF2B5EF4-FFF2-40B4-BE49-F238E27FC236}">
                <a16:creationId xmlns:a16="http://schemas.microsoft.com/office/drawing/2014/main" id="{6565545B-E5B4-8C3F-04C5-9D18B33FC8E8}"/>
              </a:ext>
            </a:extLst>
          </p:cNvPr>
          <p:cNvSpPr>
            <a:spLocks noGrp="1"/>
          </p:cNvSpPr>
          <p:nvPr>
            <p:ph type="title"/>
          </p:nvPr>
        </p:nvSpPr>
        <p:spPr>
          <a:xfrm>
            <a:off x="266700" y="228601"/>
            <a:ext cx="11658600" cy="1010920"/>
          </a:xfrm>
        </p:spPr>
        <p:txBody>
          <a:bodyPr>
            <a:normAutofit/>
          </a:bodyPr>
          <a:lstStyle/>
          <a:p>
            <a:pPr algn="ctr"/>
            <a:r>
              <a:rPr lang="en-US" dirty="0">
                <a:effectLst>
                  <a:outerShdw blurRad="38100" dist="38100" dir="2700000" algn="tl">
                    <a:srgbClr val="000000">
                      <a:alpha val="43137"/>
                    </a:srgbClr>
                  </a:outerShdw>
                </a:effectLst>
              </a:rPr>
              <a:t>Success Story: Auto Repair Shop</a:t>
            </a:r>
          </a:p>
        </p:txBody>
      </p:sp>
      <p:sp>
        <p:nvSpPr>
          <p:cNvPr id="5" name="Content Placeholder 4"/>
          <p:cNvSpPr>
            <a:spLocks noGrp="1"/>
          </p:cNvSpPr>
          <p:nvPr>
            <p:ph idx="1"/>
          </p:nvPr>
        </p:nvSpPr>
        <p:spPr>
          <a:xfrm>
            <a:off x="266700" y="1532249"/>
            <a:ext cx="8143955" cy="3702686"/>
          </a:xfrm>
        </p:spPr>
        <p:txBody>
          <a:bodyPr>
            <a:noAutofit/>
          </a:bodyPr>
          <a:lstStyle/>
          <a:p>
            <a:pPr>
              <a:lnSpc>
                <a:spcPct val="100000"/>
              </a:lnSpc>
            </a:pPr>
            <a:r>
              <a:rPr lang="en-US" sz="2000" dirty="0">
                <a:solidFill>
                  <a:srgbClr val="1D2B36"/>
                </a:solidFill>
                <a:cs typeface="Calibri" panose="020F0502020204030204" pitchFamily="34" charset="0"/>
              </a:rPr>
              <a:t>Existing early-stage auto repair business looking to expand</a:t>
            </a:r>
          </a:p>
          <a:p>
            <a:pPr>
              <a:lnSpc>
                <a:spcPct val="100000"/>
              </a:lnSpc>
            </a:pPr>
            <a:r>
              <a:rPr lang="en-US" sz="2000" dirty="0">
                <a:solidFill>
                  <a:srgbClr val="1D2B36"/>
                </a:solidFill>
                <a:cs typeface="Calibri" panose="020F0502020204030204" pitchFamily="34" charset="0"/>
              </a:rPr>
              <a:t>Building purchase</a:t>
            </a:r>
          </a:p>
          <a:p>
            <a:pPr>
              <a:lnSpc>
                <a:spcPct val="100000"/>
              </a:lnSpc>
            </a:pPr>
            <a:r>
              <a:rPr lang="en-US" sz="2000" dirty="0">
                <a:solidFill>
                  <a:srgbClr val="1D2B36"/>
                </a:solidFill>
                <a:cs typeface="Calibri" panose="020F0502020204030204" pitchFamily="34" charset="0"/>
              </a:rPr>
              <a:t>Financing was difficult, business performance did not support a bigger building</a:t>
            </a:r>
          </a:p>
          <a:p>
            <a:pPr>
              <a:lnSpc>
                <a:spcPct val="100000"/>
              </a:lnSpc>
            </a:pPr>
            <a:r>
              <a:rPr lang="en-US" sz="2000" dirty="0">
                <a:solidFill>
                  <a:srgbClr val="1D2B36"/>
                </a:solidFill>
                <a:cs typeface="Calibri" panose="020F0502020204030204" pitchFamily="34" charset="0"/>
              </a:rPr>
              <a:t>Power of Self Awareness</a:t>
            </a:r>
          </a:p>
          <a:p>
            <a:pPr>
              <a:lnSpc>
                <a:spcPct val="100000"/>
              </a:lnSpc>
            </a:pPr>
            <a:r>
              <a:rPr lang="en-US" sz="2000" dirty="0">
                <a:solidFill>
                  <a:srgbClr val="1D2B36"/>
                </a:solidFill>
                <a:cs typeface="Calibri" panose="020F0502020204030204" pitchFamily="34" charset="0"/>
              </a:rPr>
              <a:t>Increased revenue 50% in a year from closing and hired 10+ employees.</a:t>
            </a:r>
          </a:p>
        </p:txBody>
      </p:sp>
      <p:sp>
        <p:nvSpPr>
          <p:cNvPr id="11" name="Rectangle: Rounded Corners 1">
            <a:extLst>
              <a:ext uri="{FF2B5EF4-FFF2-40B4-BE49-F238E27FC236}">
                <a16:creationId xmlns:a16="http://schemas.microsoft.com/office/drawing/2014/main" id="{267715CF-C72F-F020-96D9-5594962E51E3}"/>
              </a:ext>
            </a:extLst>
          </p:cNvPr>
          <p:cNvSpPr/>
          <p:nvPr/>
        </p:nvSpPr>
        <p:spPr>
          <a:xfrm>
            <a:off x="266701" y="4780783"/>
            <a:ext cx="1616963" cy="330714"/>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bg1"/>
                </a:solidFill>
                <a:latin typeface="Montserrat Medium" pitchFamily="2" charset="77"/>
              </a:rPr>
              <a:t>Minority-owned</a:t>
            </a:r>
          </a:p>
        </p:txBody>
      </p:sp>
      <p:sp>
        <p:nvSpPr>
          <p:cNvPr id="13" name="Rectangle: Rounded Corners 1">
            <a:extLst>
              <a:ext uri="{FF2B5EF4-FFF2-40B4-BE49-F238E27FC236}">
                <a16:creationId xmlns:a16="http://schemas.microsoft.com/office/drawing/2014/main" id="{0A82C7CD-B2AF-A04D-7ACB-68873772D318}"/>
              </a:ext>
            </a:extLst>
          </p:cNvPr>
          <p:cNvSpPr/>
          <p:nvPr/>
        </p:nvSpPr>
        <p:spPr>
          <a:xfrm>
            <a:off x="266700" y="5234935"/>
            <a:ext cx="3116580" cy="330714"/>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bg1"/>
                </a:solidFill>
                <a:latin typeface="Montserrat Medium" pitchFamily="2" charset="77"/>
              </a:rPr>
              <a:t>Focused on job creation and growth</a:t>
            </a:r>
          </a:p>
        </p:txBody>
      </p:sp>
      <p:sp>
        <p:nvSpPr>
          <p:cNvPr id="14" name="Rectangle: Rounded Corners 1">
            <a:extLst>
              <a:ext uri="{FF2B5EF4-FFF2-40B4-BE49-F238E27FC236}">
                <a16:creationId xmlns:a16="http://schemas.microsoft.com/office/drawing/2014/main" id="{AC874066-2E56-ECEA-6A0F-12B230B5EF89}"/>
              </a:ext>
            </a:extLst>
          </p:cNvPr>
          <p:cNvSpPr/>
          <p:nvPr/>
        </p:nvSpPr>
        <p:spPr>
          <a:xfrm>
            <a:off x="266700" y="5698231"/>
            <a:ext cx="1616963" cy="330714"/>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solidFill>
                  <a:schemeClr val="bg1"/>
                </a:solidFill>
                <a:latin typeface="Montserrat Medium" pitchFamily="2" charset="77"/>
              </a:rPr>
              <a:t>Atlanta, GA</a:t>
            </a:r>
          </a:p>
        </p:txBody>
      </p:sp>
      <p:pic>
        <p:nvPicPr>
          <p:cNvPr id="10" name="Picture 9" descr="Mechanic at work">
            <a:extLst>
              <a:ext uri="{FF2B5EF4-FFF2-40B4-BE49-F238E27FC236}">
                <a16:creationId xmlns:a16="http://schemas.microsoft.com/office/drawing/2014/main" id="{785184CC-3EDA-BA0F-CE6E-410E325381C4}"/>
              </a:ext>
            </a:extLst>
          </p:cNvPr>
          <p:cNvPicPr>
            <a:picLocks noChangeAspect="1"/>
          </p:cNvPicPr>
          <p:nvPr/>
        </p:nvPicPr>
        <p:blipFill>
          <a:blip r:embed="rId3"/>
          <a:srcRect/>
          <a:stretch/>
        </p:blipFill>
        <p:spPr>
          <a:xfrm>
            <a:off x="8442576" y="1387488"/>
            <a:ext cx="2878254" cy="4310743"/>
          </a:xfrm>
          <a:prstGeom prst="rect">
            <a:avLst/>
          </a:prstGeom>
        </p:spPr>
      </p:pic>
    </p:spTree>
    <p:extLst>
      <p:ext uri="{BB962C8B-B14F-4D97-AF65-F5344CB8AC3E}">
        <p14:creationId xmlns:p14="http://schemas.microsoft.com/office/powerpoint/2010/main" val="2170358305"/>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CD5D2-56B4-5461-0B15-31E28E16C375}"/>
              </a:ext>
            </a:extLst>
          </p:cNvPr>
          <p:cNvSpPr>
            <a:spLocks noGrp="1"/>
          </p:cNvSpPr>
          <p:nvPr>
            <p:ph type="title"/>
          </p:nvPr>
        </p:nvSpPr>
        <p:spPr>
          <a:xfrm>
            <a:off x="1364204" y="2290948"/>
            <a:ext cx="5712759" cy="925814"/>
          </a:xfrm>
        </p:spPr>
        <p:txBody>
          <a:bodyPr>
            <a:noAutofit/>
          </a:bodyPr>
          <a:lstStyle/>
          <a:p>
            <a:r>
              <a:rPr lang="en-US" sz="6600" dirty="0"/>
              <a:t>Thank You!</a:t>
            </a:r>
          </a:p>
        </p:txBody>
      </p:sp>
      <p:pic>
        <p:nvPicPr>
          <p:cNvPr id="12" name="Content Placeholder 11" descr="Qr code&#10;&#10;Description automatically generated">
            <a:extLst>
              <a:ext uri="{FF2B5EF4-FFF2-40B4-BE49-F238E27FC236}">
                <a16:creationId xmlns:a16="http://schemas.microsoft.com/office/drawing/2014/main" id="{9BAE4270-60BD-6268-F260-25034D039368}"/>
              </a:ext>
            </a:extLst>
          </p:cNvPr>
          <p:cNvPicPr>
            <a:picLocks noGrp="1" noChangeAspect="1"/>
          </p:cNvPicPr>
          <p:nvPr>
            <p:ph idx="4294967295"/>
          </p:nvPr>
        </p:nvPicPr>
        <p:blipFill>
          <a:blip r:embed="rId3"/>
          <a:stretch>
            <a:fillRect/>
          </a:stretch>
        </p:blipFill>
        <p:spPr>
          <a:xfrm>
            <a:off x="7845065" y="1325105"/>
            <a:ext cx="2857500" cy="2857500"/>
          </a:xfrm>
        </p:spPr>
      </p:pic>
      <p:sp>
        <p:nvSpPr>
          <p:cNvPr id="9" name="Subtitle 6">
            <a:extLst>
              <a:ext uri="{FF2B5EF4-FFF2-40B4-BE49-F238E27FC236}">
                <a16:creationId xmlns:a16="http://schemas.microsoft.com/office/drawing/2014/main" id="{97638D02-D99F-E1D5-4B80-20E83C93CCEF}"/>
              </a:ext>
            </a:extLst>
          </p:cNvPr>
          <p:cNvSpPr txBox="1">
            <a:spLocks/>
          </p:cNvSpPr>
          <p:nvPr/>
        </p:nvSpPr>
        <p:spPr>
          <a:xfrm>
            <a:off x="7852528" y="4504913"/>
            <a:ext cx="2894029" cy="510147"/>
          </a:xfrm>
          <a:prstGeom prst="rect">
            <a:avLst/>
          </a:prstGeom>
          <a:solidFill>
            <a:srgbClr val="78D3CF"/>
          </a:solidFill>
        </p:spPr>
        <p:txBody>
          <a:bodyPr vert="horz" lIns="91440" tIns="45720" rIns="91440" bIns="45720" rtlCol="0" anchor="ctr">
            <a:norm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bg1"/>
                </a:solidFill>
                <a:latin typeface="Arial Narrow" panose="020B0606020202030204" pitchFamily="34" charset="0"/>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bg1"/>
                </a:solidFill>
                <a:latin typeface="Arial Narrow" panose="020B0606020202030204" pitchFamily="34" charset="0"/>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bg1"/>
                </a:solidFill>
                <a:latin typeface="Arial Narrow" panose="020B0606020202030204" pitchFamily="34" charset="0"/>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bg1"/>
                </a:solidFill>
                <a:latin typeface="Arial Narrow" panose="020B0606020202030204" pitchFamily="34" charset="0"/>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bg1"/>
                </a:solidFill>
                <a:latin typeface="Arial Narrow" panose="020B0606020202030204" pitchFamily="34"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ctr">
              <a:buNone/>
            </a:pPr>
            <a:r>
              <a:rPr lang="en-US" sz="2000" b="1" dirty="0">
                <a:latin typeface="Montserrat Medium" pitchFamily="2" charset="77"/>
              </a:rPr>
              <a:t>Connect With Me</a:t>
            </a:r>
          </a:p>
        </p:txBody>
      </p:sp>
    </p:spTree>
    <p:extLst>
      <p:ext uri="{BB962C8B-B14F-4D97-AF65-F5344CB8AC3E}">
        <p14:creationId xmlns:p14="http://schemas.microsoft.com/office/powerpoint/2010/main" val="1697173387"/>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RF-Brand-Master-2020">
  <a:themeElements>
    <a:clrScheme name="CRF-Custom-2023">
      <a:dk1>
        <a:srgbClr val="000000"/>
      </a:dk1>
      <a:lt1>
        <a:srgbClr val="FFFFFF"/>
      </a:lt1>
      <a:dk2>
        <a:srgbClr val="282B2B"/>
      </a:dk2>
      <a:lt2>
        <a:srgbClr val="F1F1F1"/>
      </a:lt2>
      <a:accent1>
        <a:srgbClr val="B9B9B9"/>
      </a:accent1>
      <a:accent2>
        <a:srgbClr val="053A66"/>
      </a:accent2>
      <a:accent3>
        <a:srgbClr val="676767"/>
      </a:accent3>
      <a:accent4>
        <a:srgbClr val="FAAF19"/>
      </a:accent4>
      <a:accent5>
        <a:srgbClr val="001A30"/>
      </a:accent5>
      <a:accent6>
        <a:srgbClr val="006370"/>
      </a:accent6>
      <a:hlink>
        <a:srgbClr val="009999"/>
      </a:hlink>
      <a:folHlink>
        <a:srgbClr val="0099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RF-CustomTheme-2023">
  <a:themeElements>
    <a:clrScheme name="CustomTheme-CorpColors">
      <a:dk1>
        <a:srgbClr val="1D2B36"/>
      </a:dk1>
      <a:lt1>
        <a:srgbClr val="FFFFFF"/>
      </a:lt1>
      <a:dk2>
        <a:srgbClr val="282B2B"/>
      </a:dk2>
      <a:lt2>
        <a:srgbClr val="F1F1F1"/>
      </a:lt2>
      <a:accent1>
        <a:srgbClr val="B9B9B9"/>
      </a:accent1>
      <a:accent2>
        <a:srgbClr val="2E5C94"/>
      </a:accent2>
      <a:accent3>
        <a:srgbClr val="676767"/>
      </a:accent3>
      <a:accent4>
        <a:srgbClr val="F9C05D"/>
      </a:accent4>
      <a:accent5>
        <a:srgbClr val="78D3CF"/>
      </a:accent5>
      <a:accent6>
        <a:srgbClr val="006370"/>
      </a:accent6>
      <a:hlink>
        <a:srgbClr val="009999"/>
      </a:hlink>
      <a:folHlink>
        <a:srgbClr val="009999"/>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F-CustomTheme-2023" id="{8131436C-A0BA-0D4F-979D-DD56EF06DDF5}" vid="{88B76166-F7F7-A044-8A16-8F4C067C8109}"/>
    </a:ext>
  </a:extLst>
</a:theme>
</file>

<file path=ppt/theme/theme3.xml><?xml version="1.0" encoding="utf-8"?>
<a:theme xmlns:a="http://schemas.openxmlformats.org/drawingml/2006/main" name="2_CRF-Brand-Master-2020">
  <a:themeElements>
    <a:clrScheme name="CRM Custom Colors">
      <a:dk1>
        <a:srgbClr val="1D2B36"/>
      </a:dk1>
      <a:lt1>
        <a:sysClr val="window" lastClr="FFFFFF"/>
      </a:lt1>
      <a:dk2>
        <a:srgbClr val="1D2B36"/>
      </a:dk2>
      <a:lt2>
        <a:srgbClr val="E7E6E6"/>
      </a:lt2>
      <a:accent1>
        <a:srgbClr val="78D3CF"/>
      </a:accent1>
      <a:accent2>
        <a:srgbClr val="F9DD5D"/>
      </a:accent2>
      <a:accent3>
        <a:srgbClr val="FE3D05"/>
      </a:accent3>
      <a:accent4>
        <a:srgbClr val="E0DEDC"/>
      </a:accent4>
      <a:accent5>
        <a:srgbClr val="E0DEDC"/>
      </a:accent5>
      <a:accent6>
        <a:srgbClr val="FFFFFF"/>
      </a:accent6>
      <a:hlink>
        <a:srgbClr val="1D2B36"/>
      </a:hlink>
      <a:folHlink>
        <a:srgbClr val="78D3C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FA709110FAAE429B7A01BA8A525DD9" ma:contentTypeVersion="20" ma:contentTypeDescription="Create a new document." ma:contentTypeScope="" ma:versionID="92cb6ef25383f1df3e5a397c009f7b2b">
  <xsd:schema xmlns:xsd="http://www.w3.org/2001/XMLSchema" xmlns:xs="http://www.w3.org/2001/XMLSchema" xmlns:p="http://schemas.microsoft.com/office/2006/metadata/properties" xmlns:ns2="329fc319-e42c-4b20-b2ae-b74af2e9f562" xmlns:ns3="7620e9d7-bd1c-478b-9b10-6250f874a9bb" targetNamespace="http://schemas.microsoft.com/office/2006/metadata/properties" ma:root="true" ma:fieldsID="41b69338c276d9ade2fa80866dd90c0f" ns2:_="" ns3:_="">
    <xsd:import namespace="329fc319-e42c-4b20-b2ae-b74af2e9f562"/>
    <xsd:import namespace="7620e9d7-bd1c-478b-9b10-6250f874a9bb"/>
    <xsd:element name="properties">
      <xsd:complexType>
        <xsd:sequence>
          <xsd:element name="documentManagement">
            <xsd:complexType>
              <xsd:all>
                <xsd:element ref="ns2:Client" minOccurs="0"/>
                <xsd:element ref="ns2:MediaServiceMetadata" minOccurs="0"/>
                <xsd:element ref="ns2:MediaServiceFastMetadata" minOccurs="0"/>
                <xsd:element ref="ns2:MediaServiceAutoTags" minOccurs="0"/>
                <xsd:element ref="ns2:MediaServiceDateTaken" minOccurs="0"/>
                <xsd:element ref="ns2:MediaServiceOCR" minOccurs="0"/>
                <xsd:element ref="ns3:SharedWithUsers" minOccurs="0"/>
                <xsd:element ref="ns3:SharedWithDetails"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Approved_x003f_" minOccurs="0"/>
                <xsd:element ref="ns2:Ready_x0020_for_x0020_Legal_x0020_Review"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9fc319-e42c-4b20-b2ae-b74af2e9f562" elementFormDefault="qualified">
    <xsd:import namespace="http://schemas.microsoft.com/office/2006/documentManagement/types"/>
    <xsd:import namespace="http://schemas.microsoft.com/office/infopath/2007/PartnerControls"/>
    <xsd:element name="Client" ma:index="2" nillable="true" ma:displayName="Client" ma:internalName="Client">
      <xsd:simpleType>
        <xsd:restriction base="dms:Text">
          <xsd:maxLength value="255"/>
        </xsd:restriction>
      </xsd:simpleType>
    </xsd:element>
    <xsd:element name="MediaServiceMetadata" ma:index="6" nillable="true" ma:displayName="MediaServiceMetadata" ma:description="" ma:hidden="true" ma:internalName="MediaServiceMetadata" ma:readOnly="true">
      <xsd:simpleType>
        <xsd:restriction base="dms:Note"/>
      </xsd:simpleType>
    </xsd:element>
    <xsd:element name="MediaServiceFastMetadata" ma:index="7" nillable="true" ma:displayName="MediaServiceFastMetadata" ma:description="" ma:hidden="true" ma:internalName="MediaServiceFastMetadata" ma:readOnly="true">
      <xsd:simpleType>
        <xsd:restriction base="dms:Note"/>
      </xsd:simpleType>
    </xsd:element>
    <xsd:element name="MediaServiceAutoTags" ma:index="11" nillable="true" ma:displayName="Tags" ma:internalName="MediaServiceAutoTags" ma:readOnly="true">
      <xsd:simpleType>
        <xsd:restriction base="dms:Text"/>
      </xsd:simpleType>
    </xsd:element>
    <xsd:element name="MediaServiceDateTaken" ma:index="12" nillable="true" ma:displayName="MediaServiceDateTaken" ma:hidden="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Approved_x003f_" ma:index="21" nillable="true" ma:displayName="Approved?" ma:format="Dropdown" ma:internalName="Approved_x003f_">
      <xsd:simpleType>
        <xsd:restriction base="dms:Text">
          <xsd:maxLength value="255"/>
        </xsd:restriction>
      </xsd:simpleType>
    </xsd:element>
    <xsd:element name="Ready_x0020_for_x0020_Legal_x0020_Review" ma:index="22" nillable="true" ma:displayName="Ready for Legal Review" ma:default="YES" ma:format="Dropdown" ma:internalName="Ready_x0020_for_x0020_Legal_x0020_Review">
      <xsd:simpleType>
        <xsd:restriction base="dms:Choice">
          <xsd:enumeration value="YES"/>
          <xsd:enumeration value="NO"/>
          <xsd:enumeration value="N/A"/>
        </xsd:restriction>
      </xsd:simpleType>
    </xsd:element>
    <xsd:element name="MediaLengthInSeconds" ma:index="23" nillable="true" ma:displayName="MediaLengthInSeconds" ma:hidden="true"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bc69c88f-3b7a-464c-beae-07efabbd42c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20e9d7-bd1c-478b-9b10-6250f874a9bb"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472bba19-a042-412b-9189-09a2aa314be1}" ma:internalName="TaxCatchAll" ma:showField="CatchAllData" ma:web="7620e9d7-bd1c-478b-9b10-6250f874a9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8"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29fc319-e42c-4b20-b2ae-b74af2e9f562">
      <Terms xmlns="http://schemas.microsoft.com/office/infopath/2007/PartnerControls"/>
    </lcf76f155ced4ddcb4097134ff3c332f>
    <TaxCatchAll xmlns="7620e9d7-bd1c-478b-9b10-6250f874a9bb" xsi:nil="true"/>
    <Approved_x003f_ xmlns="329fc319-e42c-4b20-b2ae-b74af2e9f562" xsi:nil="true"/>
    <Ready_x0020_for_x0020_Legal_x0020_Review xmlns="329fc319-e42c-4b20-b2ae-b74af2e9f562">YES</Ready_x0020_for_x0020_Legal_x0020_Review>
    <Client xmlns="329fc319-e42c-4b20-b2ae-b74af2e9f56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0AB074-215F-435B-B282-FF926625DF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9fc319-e42c-4b20-b2ae-b74af2e9f562"/>
    <ds:schemaRef ds:uri="7620e9d7-bd1c-478b-9b10-6250f874a9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EBBE54-83B9-4428-AA0A-178FE8CB0FB8}">
  <ds:schemaRefs>
    <ds:schemaRef ds:uri="http://schemas.openxmlformats.org/package/2006/metadata/core-properties"/>
    <ds:schemaRef ds:uri="http://purl.org/dc/elements/1.1/"/>
    <ds:schemaRef ds:uri="7620e9d7-bd1c-478b-9b10-6250f874a9bb"/>
    <ds:schemaRef ds:uri="http://schemas.microsoft.com/office/infopath/2007/PartnerControls"/>
    <ds:schemaRef ds:uri="http://schemas.microsoft.com/office/2006/metadata/properties"/>
    <ds:schemaRef ds:uri="http://purl.org/dc/dcmitype/"/>
    <ds:schemaRef ds:uri="http://schemas.microsoft.com/office/2006/documentManagement/types"/>
    <ds:schemaRef ds:uri="329fc319-e42c-4b20-b2ae-b74af2e9f562"/>
    <ds:schemaRef ds:uri="http://www.w3.org/XML/1998/namespace"/>
    <ds:schemaRef ds:uri="http://purl.org/dc/terms/"/>
  </ds:schemaRefs>
</ds:datastoreItem>
</file>

<file path=customXml/itemProps3.xml><?xml version="1.0" encoding="utf-8"?>
<ds:datastoreItem xmlns:ds="http://schemas.openxmlformats.org/officeDocument/2006/customXml" ds:itemID="{FE325354-C57F-482D-B282-E8F4E49923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46443</TotalTime>
  <Words>1259</Words>
  <Application>Microsoft Office PowerPoint</Application>
  <PresentationFormat>Widescreen</PresentationFormat>
  <Paragraphs>183</Paragraphs>
  <Slides>11</Slides>
  <Notes>10</Notes>
  <HiddenSlides>0</HiddenSlides>
  <MMClips>0</MMClips>
  <ScaleCrop>false</ScaleCrop>
  <HeadingPairs>
    <vt:vector size="8" baseType="variant">
      <vt:variant>
        <vt:lpstr>Fonts Used</vt:lpstr>
      </vt:variant>
      <vt:variant>
        <vt:i4>17</vt:i4>
      </vt:variant>
      <vt:variant>
        <vt:lpstr>Theme</vt:lpstr>
      </vt:variant>
      <vt:variant>
        <vt:i4>3</vt:i4>
      </vt:variant>
      <vt:variant>
        <vt:lpstr>Embedded OLE Servers</vt:lpstr>
      </vt:variant>
      <vt:variant>
        <vt:i4>1</vt:i4>
      </vt:variant>
      <vt:variant>
        <vt:lpstr>Slide Titles</vt:lpstr>
      </vt:variant>
      <vt:variant>
        <vt:i4>11</vt:i4>
      </vt:variant>
    </vt:vector>
  </HeadingPairs>
  <TitlesOfParts>
    <vt:vector size="32" baseType="lpstr">
      <vt:lpstr>Arial</vt:lpstr>
      <vt:lpstr>Arial Narrow</vt:lpstr>
      <vt:lpstr>Calibri</vt:lpstr>
      <vt:lpstr>Courier New</vt:lpstr>
      <vt:lpstr>Franklin Gothic Book</vt:lpstr>
      <vt:lpstr>Franklin Gothic Demi</vt:lpstr>
      <vt:lpstr>Google Sans</vt:lpstr>
      <vt:lpstr>Montserrat</vt:lpstr>
      <vt:lpstr>Montserrat Light</vt:lpstr>
      <vt:lpstr>Montserrat Medium</vt:lpstr>
      <vt:lpstr>Montserrat SemiBold</vt:lpstr>
      <vt:lpstr>Roboto</vt:lpstr>
      <vt:lpstr>Roboto Light</vt:lpstr>
      <vt:lpstr>Roboto Medium</vt:lpstr>
      <vt:lpstr>Verdana</vt:lpstr>
      <vt:lpstr>Wingdings</vt:lpstr>
      <vt:lpstr>Wingdings 3</vt:lpstr>
      <vt:lpstr>1_CRF-Brand-Master-2020</vt:lpstr>
      <vt:lpstr>CRF-CustomTheme-2023</vt:lpstr>
      <vt:lpstr>2_CRF-Brand-Master-2020</vt:lpstr>
      <vt:lpstr>think-cell Slide</vt:lpstr>
      <vt:lpstr>A just economy that works for all small businesses and communities</vt:lpstr>
      <vt:lpstr>A Track Record for Transformative Community Impact</vt:lpstr>
      <vt:lpstr>Agenda</vt:lpstr>
      <vt:lpstr>Power of Self Awareness</vt:lpstr>
      <vt:lpstr>What’s the Difference? Bank vs. CDFI</vt:lpstr>
      <vt:lpstr>Get Lender Ready:  Tell Your Story</vt:lpstr>
      <vt:lpstr>Term Loans</vt:lpstr>
      <vt:lpstr>CRF  Line of Credit</vt:lpstr>
      <vt:lpstr>Get Lender Ready With CRF</vt:lpstr>
      <vt:lpstr>Success Story: Auto Repair Shop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c:title>
  <dc:creator>Kris Nyreen</dc:creator>
  <cp:lastModifiedBy>Erin Chase</cp:lastModifiedBy>
  <cp:revision>10</cp:revision>
  <dcterms:created xsi:type="dcterms:W3CDTF">2022-10-06T18:09:01Z</dcterms:created>
  <dcterms:modified xsi:type="dcterms:W3CDTF">2026-07-21T13:57:17Z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0x01010033FA709110FAAE429B7A01BA8A525DD9</vt:lpwstr>
  </property>
</Properties>
</file>