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IBM Plex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bold.fntdata"/><Relationship Id="rId11" Type="http://schemas.openxmlformats.org/officeDocument/2006/relationships/slide" Target="slides/slide6.xml"/><Relationship Id="rId22" Type="http://schemas.openxmlformats.org/officeDocument/2006/relationships/font" Target="fonts/IBMPlexSans-boldItalic.fntdata"/><Relationship Id="rId10" Type="http://schemas.openxmlformats.org/officeDocument/2006/relationships/slide" Target="slides/slide5.xml"/><Relationship Id="rId21" Type="http://schemas.openxmlformats.org/officeDocument/2006/relationships/font" Target="fonts/IBMPlex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BMPlex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b894d22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7b894d22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7b894d22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7b894d22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7b894d22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7b894d22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7b894d22c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7b894d22c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7b894d22c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7b894d22c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b894d22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7b894d22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7b894d22c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7b894d22c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7b894d22c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7b894d22c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36e1dd00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36e1dd00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7b894d22c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7b894d22c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7b894d22c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7b894d22c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7b894d22c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7b894d22c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phys.org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phys.org" TargetMode="External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raise money from VC as an early-stage Founder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Noah Lee</a:t>
            </a:r>
            <a:b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1752vc</a:t>
            </a:r>
            <a:b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Venture Scout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57" name="Google Shape;57;p13" title="Screenshot 2026-07-06 at 8.12.25 AM.png"/>
          <p:cNvPicPr preferRelativeResize="0"/>
          <p:nvPr/>
        </p:nvPicPr>
        <p:blipFill rotWithShape="1">
          <a:blip r:embed="rId3">
            <a:alphaModFix/>
          </a:blip>
          <a:srcRect b="24973" l="3170" r="5481" t="20143"/>
          <a:stretch/>
        </p:blipFill>
        <p:spPr>
          <a:xfrm>
            <a:off x="92950" y="4663225"/>
            <a:ext cx="211274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AutoNum type="romanUcPeriod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Background &amp; Motivation.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AutoNum type="romanUcPeriod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Basic Investment Thesis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AutoNum type="romanUcPeriod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Pitch Communication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AutoNum type="romanUcPeriod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Mindset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AutoNum type="romanUcPeriod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10-min Break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AutoNum type="romanUcPeriod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Speech Preparation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AutoNum type="romanUcPeriod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Speech &amp; Real-Time Feedback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65" name="Google Shape;65;p14" title="Screenshot 2026-07-06 at 8.12.25 AM.png"/>
          <p:cNvPicPr preferRelativeResize="0"/>
          <p:nvPr/>
        </p:nvPicPr>
        <p:blipFill rotWithShape="1">
          <a:blip r:embed="rId3">
            <a:alphaModFix/>
          </a:blip>
          <a:srcRect b="24973" l="3170" r="5481" t="20143"/>
          <a:stretch/>
        </p:blipFill>
        <p:spPr>
          <a:xfrm>
            <a:off x="92950" y="4663225"/>
            <a:ext cx="211274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romanUcPeriod"/>
            </a:pPr>
            <a:r>
              <a:rPr lang="en"/>
              <a:t>Background &amp; Motivation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401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When sourcing deals to VC, I see same Problem with pattern.</a:t>
            </a:r>
            <a:b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Pitch Communication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Basic Investment Thesis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Mindset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356350" y="4470916"/>
            <a:ext cx="536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Pick, Best Corporate Events, workplace-unhappiness (2023)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Ellison, Built In, avoid-common-investor-pitch-pitfalls (2024)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Teten &amp; Nasser, TechCrunch, investment-thesis-or-hypothesis (2021)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Menn, TechCrunch, three-human-mistakes-vcs-make (2023)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74" name="Google Shape;74;p15" title="Screenshot 2026-07-06 at 8.12.25 AM.png"/>
          <p:cNvPicPr preferRelativeResize="0"/>
          <p:nvPr/>
        </p:nvPicPr>
        <p:blipFill rotWithShape="1">
          <a:blip r:embed="rId3">
            <a:alphaModFix/>
          </a:blip>
          <a:srcRect b="24973" l="3170" r="5481" t="20143"/>
          <a:stretch/>
        </p:blipFill>
        <p:spPr>
          <a:xfrm>
            <a:off x="92950" y="4663225"/>
            <a:ext cx="211274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sleeping-6763396_12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2575" y="1152475"/>
            <a:ext cx="4267200" cy="3050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romanUcPeriod"/>
            </a:pPr>
            <a:r>
              <a:rPr lang="en"/>
              <a:t>Background &amp; Motivation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Goal: Early-Stage Founders to get Fundraise easily.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VCs </a:t>
            </a:r>
            <a:r>
              <a:rPr b="1"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want</a:t>
            </a: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to invest on a Startup.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If knowing what most startups are </a:t>
            </a:r>
            <a:r>
              <a:rPr b="1"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missing</a:t>
            </a: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 VCs’ perspective, better chance at fundraising!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356350" y="4480254"/>
            <a:ext cx="536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Kumar, Startup Talky, pitch-mistakes (2021)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Spectup, spectup Resource Hub, vc-expectations-2025-founders-missing (2025)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4" name="Google Shape;84;p16" title="Screenshot 2026-07-06 at 8.12.25 AM.png"/>
          <p:cNvPicPr preferRelativeResize="0"/>
          <p:nvPr/>
        </p:nvPicPr>
        <p:blipFill rotWithShape="1">
          <a:blip r:embed="rId3">
            <a:alphaModFix/>
          </a:blip>
          <a:srcRect b="24973" l="3170" r="5481" t="20143"/>
          <a:stretch/>
        </p:blipFill>
        <p:spPr>
          <a:xfrm>
            <a:off x="92950" y="4663225"/>
            <a:ext cx="211274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 title="Mistakes-to-avoid-while-pitching-investors-StartupTalky.jpg"/>
          <p:cNvPicPr preferRelativeResize="0"/>
          <p:nvPr/>
        </p:nvPicPr>
        <p:blipFill rotWithShape="1">
          <a:blip r:embed="rId4">
            <a:alphaModFix/>
          </a:blip>
          <a:srcRect b="1865" l="1562" r="1417" t="2000"/>
          <a:stretch/>
        </p:blipFill>
        <p:spPr>
          <a:xfrm>
            <a:off x="4572000" y="1376350"/>
            <a:ext cx="4333425" cy="241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II. Basic Investment Thesis: Power Law Startup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Does your Startup actually </a:t>
            </a: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</a:t>
            </a: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money from VC?</a:t>
            </a:r>
            <a:b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Is it a Lifestyle Business?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Does it go through the Power Law?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 you actually dominate an industry?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2356350" y="4452240"/>
            <a:ext cx="536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Fisher, Medium, 963ac72227ba (2021)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Rachitsky, Lenny’s Newsletter, venture-scale-idea (2023)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94" name="Google Shape;94;p17" title="Screenshot 2026-07-06 at 8.12.25 AM.png"/>
          <p:cNvPicPr preferRelativeResize="0"/>
          <p:nvPr/>
        </p:nvPicPr>
        <p:blipFill rotWithShape="1">
          <a:blip r:embed="rId3">
            <a:alphaModFix/>
          </a:blip>
          <a:srcRect b="24973" l="3170" r="5481" t="20143"/>
          <a:stretch/>
        </p:blipFill>
        <p:spPr>
          <a:xfrm>
            <a:off x="92950" y="4663225"/>
            <a:ext cx="211274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1739532349452.png"/>
          <p:cNvPicPr preferRelativeResize="0"/>
          <p:nvPr/>
        </p:nvPicPr>
        <p:blipFill rotWithShape="1">
          <a:blip r:embed="rId4">
            <a:alphaModFix/>
          </a:blip>
          <a:srcRect b="0" l="9659" r="15808" t="0"/>
          <a:stretch/>
        </p:blipFill>
        <p:spPr>
          <a:xfrm>
            <a:off x="4572000" y="1152475"/>
            <a:ext cx="4169651" cy="314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II. Basic Investment Thesis: Know in Detail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Are you serious about actually starting this company? Do you know your</a:t>
            </a:r>
            <a:b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Units/Price?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Adoption Path?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Cash Runway &amp; Burn Rate?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Customer Validation?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Co-Founder Equity Vesting?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2356350" y="4463912"/>
            <a:ext cx="536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Oakmont Capital Services, Oakmont Capital Services, three-finance-professionals (2025)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Content, Haven, startup-finance-basics (2026)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Digital Marketing, Basel Area Business &amp; Innovation, 6-stages-startup (2026)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Donohoe, The Wealth Standard, mike-moyer-slicing-pie (2019)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04" name="Google Shape;104;p18" title="Screenshot 2026-07-06 at 8.12.25 AM.png"/>
          <p:cNvPicPr preferRelativeResize="0"/>
          <p:nvPr/>
        </p:nvPicPr>
        <p:blipFill rotWithShape="1">
          <a:blip r:embed="rId3">
            <a:alphaModFix/>
          </a:blip>
          <a:srcRect b="24973" l="3170" r="5481" t="20143"/>
          <a:stretch/>
        </p:blipFill>
        <p:spPr>
          <a:xfrm>
            <a:off x="92950" y="4663225"/>
            <a:ext cx="211274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 title="three-meeting-15096276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04950"/>
            <a:ext cx="42672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III. Pitch Communication: Slide Deck Framework</a:t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2356350" y="4452240"/>
            <a:ext cx="536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Drumbeat Capital, Drumbeat Capital, home (n.d.)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13" name="Google Shape;113;p19" title="Screenshot 2026-07-06 at 8.12.25 AM.png"/>
          <p:cNvPicPr preferRelativeResize="0"/>
          <p:nvPr/>
        </p:nvPicPr>
        <p:blipFill rotWithShape="1">
          <a:blip r:embed="rId3">
            <a:alphaModFix/>
          </a:blip>
          <a:srcRect b="24973" l="3170" r="5481" t="20143"/>
          <a:stretch/>
        </p:blipFill>
        <p:spPr>
          <a:xfrm>
            <a:off x="92950" y="4663225"/>
            <a:ext cx="211274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 title="Screenshot 2026-07-06 at 9.33.57 AM.png"/>
          <p:cNvPicPr preferRelativeResize="0"/>
          <p:nvPr/>
        </p:nvPicPr>
        <p:blipFill rotWithShape="1">
          <a:blip r:embed="rId4">
            <a:alphaModFix/>
          </a:blip>
          <a:srcRect b="0" l="478" r="0" t="0"/>
          <a:stretch/>
        </p:blipFill>
        <p:spPr>
          <a:xfrm>
            <a:off x="351400" y="1046350"/>
            <a:ext cx="8358799" cy="335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III. Pitch Communication: Short Articulation</a:t>
            </a:r>
            <a:endParaRPr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 you articulate your Startup in 2 minutes?</a:t>
            </a:r>
            <a:b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the Company does?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Who it’s for?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now?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2356350" y="4442901"/>
            <a:ext cx="536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Giordano, StaffedUp, unique-abilities (2026)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Legler, GoingVC, effective-elevator-pitch (2025)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23" name="Google Shape;123;p20" title="Screenshot 2026-07-06 at 8.12.25 AM.png"/>
          <p:cNvPicPr preferRelativeResize="0"/>
          <p:nvPr/>
        </p:nvPicPr>
        <p:blipFill rotWithShape="1">
          <a:blip r:embed="rId3">
            <a:alphaModFix/>
          </a:blip>
          <a:srcRect b="24973" l="3170" r="5481" t="20143"/>
          <a:stretch/>
        </p:blipFill>
        <p:spPr>
          <a:xfrm>
            <a:off x="92950" y="4663225"/>
            <a:ext cx="211274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 title="people-meeting-in-coffee-shop_6145226.png!sw800-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1170125"/>
            <a:ext cx="4267200" cy="2586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IV. Mindset: Mental Framework</a:t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Don’t be nervous. </a:t>
            </a: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Venture</a:t>
            </a: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Capitalists are just normal human being who want to talk.</a:t>
            </a:r>
            <a:b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They also feel happy, sad, fear, hungry, and have normal daylife like you. You’re just talking to another human-being.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2356350" y="4452240"/>
            <a:ext cx="536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University of Pennsylvania, </a:t>
            </a:r>
            <a:r>
              <a:rPr lang="en" sz="8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3"/>
              </a:rPr>
              <a:t>Phys.org</a:t>
            </a: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, 2019-08-society-cultural-social-networks (2019)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33" name="Google Shape;133;p21" title="Screenshot 2026-07-06 at 8.12.25 AM.png"/>
          <p:cNvPicPr preferRelativeResize="0"/>
          <p:nvPr/>
        </p:nvPicPr>
        <p:blipFill rotWithShape="1">
          <a:blip r:embed="rId4">
            <a:alphaModFix/>
          </a:blip>
          <a:srcRect b="24973" l="3170" r="5481" t="20143"/>
          <a:stretch/>
        </p:blipFill>
        <p:spPr>
          <a:xfrm>
            <a:off x="92950" y="4663225"/>
            <a:ext cx="211274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 title="society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9950" y="1418625"/>
            <a:ext cx="4022349" cy="268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IV. Short Tips: Increase Valuation without Revenue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quality and market size value.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Make real prototype or MVP.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Comparable reality check.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Documentation (Methodology, supporting idea, transparent logic)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2356350" y="4452240"/>
            <a:ext cx="536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FasterCapital, FasterCapital, ecommerce-inventory-management-efficient (2025)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Gregory, Flippa, value-startup-no-revenue-5-steps (2026)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43" name="Google Shape;143;p22" title="Screenshot 2026-07-06 at 8.12.25 AM.png"/>
          <p:cNvPicPr preferRelativeResize="0"/>
          <p:nvPr/>
        </p:nvPicPr>
        <p:blipFill rotWithShape="1">
          <a:blip r:embed="rId3">
            <a:alphaModFix/>
          </a:blip>
          <a:srcRect b="24973" l="3170" r="5481" t="20143"/>
          <a:stretch/>
        </p:blipFill>
        <p:spPr>
          <a:xfrm>
            <a:off x="92950" y="4663225"/>
            <a:ext cx="211274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 title="Screenshot 2026-07-07 at 2.35.5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3850" y="1401526"/>
            <a:ext cx="5171302" cy="247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V. 10-min Break</a:t>
            </a:r>
            <a:endParaRPr/>
          </a:p>
        </p:txBody>
      </p:sp>
      <p:sp>
        <p:nvSpPr>
          <p:cNvPr id="150" name="Google Shape;150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2356350" y="4461578"/>
            <a:ext cx="536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Lowe, Loving Life, breaks-at-work-productivity (2025)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52" name="Google Shape;152;p23" title="Screenshot 2026-07-06 at 8.12.25 AM.png"/>
          <p:cNvPicPr preferRelativeResize="0"/>
          <p:nvPr/>
        </p:nvPicPr>
        <p:blipFill rotWithShape="1">
          <a:blip r:embed="rId3">
            <a:alphaModFix/>
          </a:blip>
          <a:srcRect b="24973" l="3170" r="5481" t="20143"/>
          <a:stretch/>
        </p:blipFill>
        <p:spPr>
          <a:xfrm>
            <a:off x="92950" y="4663225"/>
            <a:ext cx="211274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3" title="images-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0100" y="1120500"/>
            <a:ext cx="4603812" cy="326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V. Speech Preparation</a:t>
            </a:r>
            <a:endParaRPr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311700" y="1152475"/>
            <a:ext cx="843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"/>
              <a:buAutoNum type="arabicPeriod"/>
            </a:pPr>
            <a:r>
              <a:rPr b="1" lang="en" sz="2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Make a framework of your Pitch Deck.</a:t>
            </a:r>
            <a:endParaRPr b="1" sz="2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"/>
              <a:buAutoNum type="arabicPeriod"/>
            </a:pPr>
            <a:r>
              <a:rPr b="1" lang="en" sz="2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Able to Articulate your business in 2 minutes.</a:t>
            </a:r>
            <a:endParaRPr b="1" sz="2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2356350" y="4433563"/>
            <a:ext cx="536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University of Pennsylvania, </a:t>
            </a:r>
            <a:r>
              <a:rPr lang="en" sz="8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3"/>
              </a:rPr>
              <a:t>Phys.org</a:t>
            </a: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, 2019-08-society-cultural-social-networks (2019)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62" name="Google Shape;162;p24" title="Screenshot 2026-07-06 at 8.12.25 AM.png"/>
          <p:cNvPicPr preferRelativeResize="0"/>
          <p:nvPr/>
        </p:nvPicPr>
        <p:blipFill rotWithShape="1">
          <a:blip r:embed="rId4">
            <a:alphaModFix/>
          </a:blip>
          <a:srcRect b="24973" l="3170" r="5481" t="20143"/>
          <a:stretch/>
        </p:blipFill>
        <p:spPr>
          <a:xfrm>
            <a:off x="92950" y="4663225"/>
            <a:ext cx="211274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VII. Speech &amp; Real-Time Feedback</a:t>
            </a:r>
            <a:endParaRPr/>
          </a:p>
        </p:txBody>
      </p:sp>
      <p:sp>
        <p:nvSpPr>
          <p:cNvPr id="168" name="Google Shape;168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2356350" y="4470916"/>
            <a:ext cx="536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Sans"/>
              <a:buAutoNum type="arabicPeriod"/>
            </a:pPr>
            <a:r>
              <a:rPr lang="en" sz="800">
                <a:latin typeface="IBM Plex Sans"/>
                <a:ea typeface="IBM Plex Sans"/>
                <a:cs typeface="IBM Plex Sans"/>
                <a:sym typeface="IBM Plex Sans"/>
              </a:rPr>
              <a:t>Birt, Indeed Career Guide, how-to-memorize-speech (2026)</a:t>
            </a:r>
            <a:endParaRPr sz="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70" name="Google Shape;170;p25" title="Screenshot 2026-07-06 at 8.12.25 AM.png"/>
          <p:cNvPicPr preferRelativeResize="0"/>
          <p:nvPr/>
        </p:nvPicPr>
        <p:blipFill rotWithShape="1">
          <a:blip r:embed="rId3">
            <a:alphaModFix/>
          </a:blip>
          <a:srcRect b="24973" l="3170" r="5481" t="20143"/>
          <a:stretch/>
        </p:blipFill>
        <p:spPr>
          <a:xfrm>
            <a:off x="92950" y="4663225"/>
            <a:ext cx="211274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5" title="Illustration_02__1_.png.jpeg"/>
          <p:cNvPicPr preferRelativeResize="0"/>
          <p:nvPr/>
        </p:nvPicPr>
        <p:blipFill rotWithShape="1">
          <a:blip r:embed="rId4">
            <a:alphaModFix/>
          </a:blip>
          <a:srcRect b="0" l="17624" r="20121" t="0"/>
          <a:stretch/>
        </p:blipFill>
        <p:spPr>
          <a:xfrm>
            <a:off x="4721975" y="1170125"/>
            <a:ext cx="3750476" cy="326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AutoNum type="arabicPeriod"/>
            </a:pP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Pitch Deck Overview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Or 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 M</a:t>
            </a: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inutes</a:t>
            </a: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Pitch</a:t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AutoNum type="arabicPeriod"/>
            </a:pP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Feedback from Audience </a:t>
            </a: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(Short notes and write down on a piece of paper)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