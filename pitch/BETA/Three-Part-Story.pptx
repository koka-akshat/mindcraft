
<file path=[Content_Types].xml><?xml version="1.0" encoding="utf-8"?>
<Types xmlns="http://schemas.openxmlformats.org/package/2006/content-types">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Lst>
  <p:sldSz cy="5143500" cx="9144000"/>
  <p:notesSz cx="51435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4" Type="http://schemas.openxmlformats.org/officeDocument/2006/relationships/slide" Target="slides/slide10.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 name="Shape 18"/>
        <p:cNvGrpSpPr/>
        <p:nvPr/>
      </p:nvGrpSpPr>
      <p:grpSpPr>
        <a:xfrm>
          <a:off x="0" y="0"/>
          <a:ext cx="0" cy="0"/>
          <a:chOff x="0" y="0"/>
          <a:chExt cx="0" cy="0"/>
        </a:xfrm>
      </p:grpSpPr>
      <p:sp>
        <p:nvSpPr>
          <p:cNvPr id="19" name="Google Shape;19;g3ef15c22a48_0_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 name="Google Shape;20;g3ef15c22a48_0_2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 name="Google Shape;21;g3ef15c22a48_0_2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 name="Shape 25"/>
        <p:cNvGrpSpPr/>
        <p:nvPr/>
      </p:nvGrpSpPr>
      <p:grpSpPr>
        <a:xfrm>
          <a:off x="0" y="0"/>
          <a:ext cx="0" cy="0"/>
          <a:chOff x="0" y="0"/>
          <a:chExt cx="0" cy="0"/>
        </a:xfrm>
      </p:grpSpPr>
      <p:sp>
        <p:nvSpPr>
          <p:cNvPr id="26" name="Google Shape;26;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 name="Google Shape;27;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 name="Google Shape;28;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 name="Shape 39"/>
        <p:cNvGrpSpPr/>
        <p:nvPr/>
      </p:nvGrpSpPr>
      <p:grpSpPr>
        <a:xfrm>
          <a:off x="0" y="0"/>
          <a:ext cx="0" cy="0"/>
          <a:chOff x="0" y="0"/>
          <a:chExt cx="0" cy="0"/>
        </a:xfrm>
      </p:grpSpPr>
      <p:sp>
        <p:nvSpPr>
          <p:cNvPr id="40" name="Google Shape;40;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 name="Google Shape;41;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 name="Google Shape;42;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 name="Shape 47"/>
        <p:cNvGrpSpPr/>
        <p:nvPr/>
      </p:nvGrpSpPr>
      <p:grpSpPr>
        <a:xfrm>
          <a:off x="0" y="0"/>
          <a:ext cx="0" cy="0"/>
          <a:chOff x="0" y="0"/>
          <a:chExt cx="0" cy="0"/>
        </a:xfrm>
      </p:grpSpPr>
      <p:sp>
        <p:nvSpPr>
          <p:cNvPr id="48" name="Google Shape;48;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 name="Google Shape;49;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 name="Google Shape;50;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 name="Google Shape;56;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 name="Google Shape;57;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3ef15c22a48_0_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 name="Google Shape;71;g3ef15c22a48_0_2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2" name="Google Shape;72;g3ef15c22a48_0_2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7" name="Google Shape;87;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8" name="Google Shape;88;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7" name="Google Shape;97;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8" name="Google Shape;98;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ef15c22a48_0_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5" name="Google Shape;115;g3ef15c22a48_0_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6" name="Google Shape;116;g3ef15c22a48_0_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 name="Shape 15"/>
        <p:cNvGrpSpPr/>
        <p:nvPr/>
      </p:nvGrpSpPr>
      <p:grpSpPr>
        <a:xfrm>
          <a:off x="0" y="0"/>
          <a:ext cx="0" cy="0"/>
          <a:chOff x="0" y="0"/>
          <a:chExt cx="0" cy="0"/>
        </a:xfrm>
      </p:grpSpPr>
      <p:sp>
        <p:nvSpPr>
          <p:cNvPr id="16" name="Google Shape;16;p3"/>
          <p:cNvSpPr/>
          <p:nvPr/>
        </p:nvSpPr>
        <p:spPr>
          <a:xfrm>
            <a:off x="4297680" y="1188720"/>
            <a:ext cx="548640" cy="548640"/>
          </a:xfrm>
          <a:prstGeom prst="ellipse">
            <a:avLst/>
          </a:prstGeom>
          <a:solidFill>
            <a:srgbClr val="C77F1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3"/>
          <p:cNvSpPr/>
          <p:nvPr/>
        </p:nvSpPr>
        <p:spPr>
          <a:xfrm>
            <a:off x="457200" y="2421669"/>
            <a:ext cx="8229600" cy="1005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1B2E"/>
              </a:buClr>
              <a:buSzPts val="4200"/>
              <a:buFont typeface="Cambria"/>
              <a:buNone/>
            </a:pPr>
            <a:r>
              <a:rPr b="1" i="0" lang="en-US" sz="4200" u="none" cap="none" strike="noStrike">
                <a:solidFill>
                  <a:srgbClr val="1F1B2E"/>
                </a:solidFill>
                <a:latin typeface="Cambria"/>
                <a:ea typeface="Cambria"/>
                <a:cs typeface="Cambria"/>
                <a:sym typeface="Cambria"/>
              </a:rPr>
              <a:t>What makes a story stick?</a:t>
            </a:r>
            <a:endParaRPr b="1" i="0" sz="4200" u="none" cap="none" strike="noStrike">
              <a:solidFill>
                <a:srgbClr val="1F1B2E"/>
              </a:solidFill>
              <a:latin typeface="Cambria"/>
              <a:ea typeface="Cambria"/>
              <a:cs typeface="Cambria"/>
              <a:sym typeface="Cambria"/>
            </a:endParaRPr>
          </a:p>
          <a:p>
            <a:pPr indent="0" lvl="0" marL="0" marR="0" rtl="0" algn="ctr">
              <a:spcBef>
                <a:spcPts val="0"/>
              </a:spcBef>
              <a:spcAft>
                <a:spcPts val="0"/>
              </a:spcAft>
              <a:buClr>
                <a:srgbClr val="1F1B2E"/>
              </a:buClr>
              <a:buSzPts val="4200"/>
              <a:buFont typeface="Cambria"/>
              <a:buNone/>
            </a:pPr>
            <a:r>
              <a:t/>
            </a:r>
            <a:endParaRPr b="1" sz="4200">
              <a:solidFill>
                <a:srgbClr val="1F1B2E"/>
              </a:solidFill>
              <a:latin typeface="Cambria"/>
              <a:ea typeface="Cambria"/>
              <a:cs typeface="Cambria"/>
              <a:sym typeface="Cambria"/>
            </a:endParaRPr>
          </a:p>
          <a:p>
            <a:pPr indent="0" lvl="0" marL="0" marR="0" rtl="0" algn="ctr">
              <a:spcBef>
                <a:spcPts val="0"/>
              </a:spcBef>
              <a:spcAft>
                <a:spcPts val="0"/>
              </a:spcAft>
              <a:buClr>
                <a:srgbClr val="1F1B2E"/>
              </a:buClr>
              <a:buSzPts val="4200"/>
              <a:buFont typeface="Cambria"/>
              <a:buNone/>
            </a:pPr>
            <a:r>
              <a:t/>
            </a:r>
            <a:endParaRPr b="1" sz="2800">
              <a:solidFill>
                <a:srgbClr val="1F1B2E"/>
              </a:solidFill>
              <a:latin typeface="Cambria"/>
              <a:ea typeface="Cambria"/>
              <a:cs typeface="Cambria"/>
              <a:sym typeface="Cambria"/>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 name="Shape 22"/>
        <p:cNvGrpSpPr/>
        <p:nvPr/>
      </p:nvGrpSpPr>
      <p:grpSpPr>
        <a:xfrm>
          <a:off x="0" y="0"/>
          <a:ext cx="0" cy="0"/>
          <a:chOff x="0" y="0"/>
          <a:chExt cx="0" cy="0"/>
        </a:xfrm>
      </p:grpSpPr>
      <p:sp>
        <p:nvSpPr>
          <p:cNvPr id="23" name="Google Shape;23;p4"/>
          <p:cNvSpPr/>
          <p:nvPr/>
        </p:nvSpPr>
        <p:spPr>
          <a:xfrm>
            <a:off x="4297680" y="1188720"/>
            <a:ext cx="548700" cy="548700"/>
          </a:xfrm>
          <a:prstGeom prst="ellipse">
            <a:avLst/>
          </a:prstGeom>
          <a:solidFill>
            <a:srgbClr val="C77F1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4"/>
          <p:cNvSpPr/>
          <p:nvPr/>
        </p:nvSpPr>
        <p:spPr>
          <a:xfrm>
            <a:off x="457200" y="2421669"/>
            <a:ext cx="8229600" cy="1005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1B2E"/>
              </a:buClr>
              <a:buSzPts val="4200"/>
              <a:buFont typeface="Cambria"/>
              <a:buNone/>
            </a:pPr>
            <a:r>
              <a:rPr b="1" i="0" lang="en-US" sz="4200" u="none" cap="none" strike="noStrike">
                <a:solidFill>
                  <a:srgbClr val="1F1B2E"/>
                </a:solidFill>
                <a:latin typeface="Cambria"/>
                <a:ea typeface="Cambria"/>
                <a:cs typeface="Cambria"/>
                <a:sym typeface="Cambria"/>
              </a:rPr>
              <a:t>What makes a story stick?</a:t>
            </a:r>
            <a:endParaRPr b="1" i="0" sz="4200" u="none" cap="none" strike="noStrike">
              <a:solidFill>
                <a:srgbClr val="1F1B2E"/>
              </a:solidFill>
              <a:latin typeface="Cambria"/>
              <a:ea typeface="Cambria"/>
              <a:cs typeface="Cambria"/>
              <a:sym typeface="Cambria"/>
            </a:endParaRPr>
          </a:p>
          <a:p>
            <a:pPr indent="0" lvl="0" marL="0" marR="0" rtl="0" algn="ctr">
              <a:spcBef>
                <a:spcPts val="0"/>
              </a:spcBef>
              <a:spcAft>
                <a:spcPts val="0"/>
              </a:spcAft>
              <a:buClr>
                <a:srgbClr val="1F1B2E"/>
              </a:buClr>
              <a:buSzPts val="4200"/>
              <a:buFont typeface="Cambria"/>
              <a:buNone/>
            </a:pPr>
            <a:r>
              <a:t/>
            </a:r>
            <a:endParaRPr b="1" sz="4200">
              <a:solidFill>
                <a:srgbClr val="1F1B2E"/>
              </a:solidFill>
              <a:latin typeface="Cambria"/>
              <a:ea typeface="Cambria"/>
              <a:cs typeface="Cambria"/>
              <a:sym typeface="Cambria"/>
            </a:endParaRPr>
          </a:p>
          <a:p>
            <a:pPr indent="0" lvl="0" marL="0" marR="0" rtl="0" algn="ctr">
              <a:spcBef>
                <a:spcPts val="0"/>
              </a:spcBef>
              <a:spcAft>
                <a:spcPts val="0"/>
              </a:spcAft>
              <a:buClr>
                <a:srgbClr val="1F1B2E"/>
              </a:buClr>
              <a:buSzPts val="4200"/>
              <a:buFont typeface="Cambria"/>
              <a:buNone/>
            </a:pPr>
            <a:r>
              <a:rPr b="1" lang="en-US" sz="2800">
                <a:solidFill>
                  <a:srgbClr val="1F1B2E"/>
                </a:solidFill>
                <a:latin typeface="Cambria"/>
                <a:ea typeface="Cambria"/>
                <a:cs typeface="Cambria"/>
                <a:sym typeface="Cambria"/>
              </a:rPr>
              <a:t>Everything happens in three</a:t>
            </a:r>
            <a:endParaRPr b="1" sz="2800">
              <a:solidFill>
                <a:srgbClr val="1F1B2E"/>
              </a:solidFill>
              <a:latin typeface="Cambria"/>
              <a:ea typeface="Cambria"/>
              <a:cs typeface="Cambria"/>
              <a:sym typeface="Cambria"/>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9" name="Shape 29"/>
        <p:cNvGrpSpPr/>
        <p:nvPr/>
      </p:nvGrpSpPr>
      <p:grpSpPr>
        <a:xfrm>
          <a:off x="0" y="0"/>
          <a:ext cx="0" cy="0"/>
          <a:chOff x="0" y="0"/>
          <a:chExt cx="0" cy="0"/>
        </a:xfrm>
      </p:grpSpPr>
      <p:sp>
        <p:nvSpPr>
          <p:cNvPr id="30" name="Google Shape;30;p5"/>
          <p:cNvSpPr/>
          <p:nvPr/>
        </p:nvSpPr>
        <p:spPr>
          <a:xfrm>
            <a:off x="1371600" y="1783080"/>
            <a:ext cx="914400" cy="914400"/>
          </a:xfrm>
          <a:prstGeom prst="ellipse">
            <a:avLst/>
          </a:prstGeom>
          <a:solidFill>
            <a:srgbClr val="C77F1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5"/>
          <p:cNvSpPr/>
          <p:nvPr/>
        </p:nvSpPr>
        <p:spPr>
          <a:xfrm>
            <a:off x="1371600" y="1783080"/>
            <a:ext cx="914400" cy="914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200"/>
              <a:buFont typeface="Cambria"/>
              <a:buNone/>
            </a:pPr>
            <a:r>
              <a:rPr b="1" i="0" lang="en-US" sz="2200" u="none" cap="none" strike="noStrike">
                <a:solidFill>
                  <a:srgbClr val="FFFFFF"/>
                </a:solidFill>
                <a:latin typeface="Cambria"/>
                <a:ea typeface="Cambria"/>
                <a:cs typeface="Cambria"/>
                <a:sym typeface="Cambria"/>
              </a:rPr>
              <a:t>1</a:t>
            </a:r>
            <a:endParaRPr b="0" i="0" sz="2200" u="none" cap="none" strike="noStrike">
              <a:solidFill>
                <a:schemeClr val="dk1"/>
              </a:solidFill>
              <a:latin typeface="Calibri"/>
              <a:ea typeface="Calibri"/>
              <a:cs typeface="Calibri"/>
              <a:sym typeface="Calibri"/>
            </a:endParaRPr>
          </a:p>
        </p:txBody>
      </p:sp>
      <p:sp>
        <p:nvSpPr>
          <p:cNvPr id="32" name="Google Shape;32;p5"/>
          <p:cNvSpPr/>
          <p:nvPr/>
        </p:nvSpPr>
        <p:spPr>
          <a:xfrm>
            <a:off x="640080" y="2926080"/>
            <a:ext cx="237744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1B2E"/>
              </a:buClr>
              <a:buSzPts val="2100"/>
              <a:buFont typeface="Cambria"/>
              <a:buNone/>
            </a:pPr>
            <a:r>
              <a:rPr b="1" i="0" lang="en-US" sz="2100" u="none" cap="none" strike="noStrike">
                <a:solidFill>
                  <a:srgbClr val="1F1B2E"/>
                </a:solidFill>
                <a:latin typeface="Cambria"/>
                <a:ea typeface="Cambria"/>
                <a:cs typeface="Cambria"/>
                <a:sym typeface="Cambria"/>
              </a:rPr>
              <a:t>Normal world</a:t>
            </a:r>
            <a:endParaRPr b="0" i="0" sz="2100" u="none" cap="none" strike="noStrike">
              <a:solidFill>
                <a:schemeClr val="dk1"/>
              </a:solidFill>
              <a:latin typeface="Calibri"/>
              <a:ea typeface="Calibri"/>
              <a:cs typeface="Calibri"/>
              <a:sym typeface="Calibri"/>
            </a:endParaRPr>
          </a:p>
        </p:txBody>
      </p:sp>
      <p:sp>
        <p:nvSpPr>
          <p:cNvPr id="33" name="Google Shape;33;p5"/>
          <p:cNvSpPr/>
          <p:nvPr/>
        </p:nvSpPr>
        <p:spPr>
          <a:xfrm>
            <a:off x="4114800" y="1783080"/>
            <a:ext cx="914400" cy="914400"/>
          </a:xfrm>
          <a:prstGeom prst="ellipse">
            <a:avLst/>
          </a:prstGeom>
          <a:solidFill>
            <a:srgbClr val="C77F1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5"/>
          <p:cNvSpPr/>
          <p:nvPr/>
        </p:nvSpPr>
        <p:spPr>
          <a:xfrm>
            <a:off x="4114800" y="1783080"/>
            <a:ext cx="914400" cy="914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200"/>
              <a:buFont typeface="Cambria"/>
              <a:buNone/>
            </a:pPr>
            <a:r>
              <a:rPr b="1" i="0" lang="en-US" sz="2200" u="none" cap="none" strike="noStrike">
                <a:solidFill>
                  <a:srgbClr val="FFFFFF"/>
                </a:solidFill>
                <a:latin typeface="Cambria"/>
                <a:ea typeface="Cambria"/>
                <a:cs typeface="Cambria"/>
                <a:sym typeface="Cambria"/>
              </a:rPr>
              <a:t>2</a:t>
            </a:r>
            <a:endParaRPr b="0" i="0" sz="2200" u="none" cap="none" strike="noStrike">
              <a:solidFill>
                <a:schemeClr val="dk1"/>
              </a:solidFill>
              <a:latin typeface="Calibri"/>
              <a:ea typeface="Calibri"/>
              <a:cs typeface="Calibri"/>
              <a:sym typeface="Calibri"/>
            </a:endParaRPr>
          </a:p>
        </p:txBody>
      </p:sp>
      <p:sp>
        <p:nvSpPr>
          <p:cNvPr id="35" name="Google Shape;35;p5"/>
          <p:cNvSpPr/>
          <p:nvPr/>
        </p:nvSpPr>
        <p:spPr>
          <a:xfrm>
            <a:off x="3383280" y="2926080"/>
            <a:ext cx="237744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1B2E"/>
              </a:buClr>
              <a:buSzPts val="2100"/>
              <a:buFont typeface="Cambria"/>
              <a:buNone/>
            </a:pPr>
            <a:r>
              <a:rPr b="1" i="0" lang="en-US" sz="2100" u="none" cap="none" strike="noStrike">
                <a:solidFill>
                  <a:srgbClr val="1F1B2E"/>
                </a:solidFill>
                <a:latin typeface="Cambria"/>
                <a:ea typeface="Cambria"/>
                <a:cs typeface="Cambria"/>
                <a:sym typeface="Cambria"/>
              </a:rPr>
              <a:t>Everything changes</a:t>
            </a:r>
            <a:endParaRPr b="0" i="0" sz="2100" u="none" cap="none" strike="noStrike">
              <a:solidFill>
                <a:schemeClr val="dk1"/>
              </a:solidFill>
              <a:latin typeface="Calibri"/>
              <a:ea typeface="Calibri"/>
              <a:cs typeface="Calibri"/>
              <a:sym typeface="Calibri"/>
            </a:endParaRPr>
          </a:p>
        </p:txBody>
      </p:sp>
      <p:sp>
        <p:nvSpPr>
          <p:cNvPr id="36" name="Google Shape;36;p5"/>
          <p:cNvSpPr/>
          <p:nvPr/>
        </p:nvSpPr>
        <p:spPr>
          <a:xfrm>
            <a:off x="6858000" y="1783080"/>
            <a:ext cx="914400" cy="914400"/>
          </a:xfrm>
          <a:prstGeom prst="ellipse">
            <a:avLst/>
          </a:prstGeom>
          <a:solidFill>
            <a:srgbClr val="C77F1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5"/>
          <p:cNvSpPr/>
          <p:nvPr/>
        </p:nvSpPr>
        <p:spPr>
          <a:xfrm>
            <a:off x="6858000" y="1783080"/>
            <a:ext cx="914400" cy="914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200"/>
              <a:buFont typeface="Cambria"/>
              <a:buNone/>
            </a:pPr>
            <a:r>
              <a:rPr b="1" i="0" lang="en-US" sz="2200" u="none" cap="none" strike="noStrike">
                <a:solidFill>
                  <a:srgbClr val="FFFFFF"/>
                </a:solidFill>
                <a:latin typeface="Cambria"/>
                <a:ea typeface="Cambria"/>
                <a:cs typeface="Cambria"/>
                <a:sym typeface="Cambria"/>
              </a:rPr>
              <a:t>3</a:t>
            </a:r>
            <a:endParaRPr b="0" i="0" sz="2200" u="none" cap="none" strike="noStrike">
              <a:solidFill>
                <a:schemeClr val="dk1"/>
              </a:solidFill>
              <a:latin typeface="Calibri"/>
              <a:ea typeface="Calibri"/>
              <a:cs typeface="Calibri"/>
              <a:sym typeface="Calibri"/>
            </a:endParaRPr>
          </a:p>
        </p:txBody>
      </p:sp>
      <p:sp>
        <p:nvSpPr>
          <p:cNvPr id="38" name="Google Shape;38;p5"/>
          <p:cNvSpPr/>
          <p:nvPr/>
        </p:nvSpPr>
        <p:spPr>
          <a:xfrm>
            <a:off x="6126480" y="2926080"/>
            <a:ext cx="237744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1B2E"/>
              </a:buClr>
              <a:buSzPts val="2100"/>
              <a:buFont typeface="Cambria"/>
              <a:buNone/>
            </a:pPr>
            <a:r>
              <a:rPr b="1" i="0" lang="en-US" sz="2100" u="none" cap="none" strike="noStrike">
                <a:solidFill>
                  <a:srgbClr val="1F1B2E"/>
                </a:solidFill>
                <a:latin typeface="Cambria"/>
                <a:ea typeface="Cambria"/>
                <a:cs typeface="Cambria"/>
                <a:sym typeface="Cambria"/>
              </a:rPr>
              <a:t>The </a:t>
            </a:r>
            <a:r>
              <a:rPr b="1" lang="en-US" sz="2100">
                <a:solidFill>
                  <a:srgbClr val="1F1B2E"/>
                </a:solidFill>
                <a:latin typeface="Cambria"/>
                <a:ea typeface="Cambria"/>
                <a:cs typeface="Cambria"/>
                <a:sym typeface="Cambria"/>
              </a:rPr>
              <a:t>race home</a:t>
            </a:r>
            <a:endParaRPr b="0" i="0" sz="21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3" name="Shape 43"/>
        <p:cNvGrpSpPr/>
        <p:nvPr/>
      </p:nvGrpSpPr>
      <p:grpSpPr>
        <a:xfrm>
          <a:off x="0" y="0"/>
          <a:ext cx="0" cy="0"/>
          <a:chOff x="0" y="0"/>
          <a:chExt cx="0" cy="0"/>
        </a:xfrm>
      </p:grpSpPr>
      <p:sp>
        <p:nvSpPr>
          <p:cNvPr id="44" name="Google Shape;44;p6"/>
          <p:cNvSpPr/>
          <p:nvPr/>
        </p:nvSpPr>
        <p:spPr>
          <a:xfrm>
            <a:off x="731520" y="1508760"/>
            <a:ext cx="7680960" cy="11887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1B2E"/>
              </a:buClr>
              <a:buSzPts val="3400"/>
              <a:buFont typeface="Cambria"/>
              <a:buNone/>
            </a:pPr>
            <a:r>
              <a:rPr b="1" lang="en-US" sz="2200">
                <a:solidFill>
                  <a:srgbClr val="1F1B2E"/>
                </a:solidFill>
                <a:latin typeface="Cambria"/>
                <a:ea typeface="Cambria"/>
                <a:cs typeface="Cambria"/>
                <a:sym typeface="Cambria"/>
              </a:rPr>
              <a:t>Compelling Characters have</a:t>
            </a:r>
            <a:endParaRPr b="1" sz="2200">
              <a:solidFill>
                <a:srgbClr val="1F1B2E"/>
              </a:solidFill>
              <a:latin typeface="Cambria"/>
              <a:ea typeface="Cambria"/>
              <a:cs typeface="Cambria"/>
              <a:sym typeface="Cambria"/>
            </a:endParaRPr>
          </a:p>
          <a:p>
            <a:pPr indent="0" lvl="0" marL="0" marR="0" rtl="0" algn="ctr">
              <a:spcBef>
                <a:spcPts val="0"/>
              </a:spcBef>
              <a:spcAft>
                <a:spcPts val="0"/>
              </a:spcAft>
              <a:buClr>
                <a:srgbClr val="1F1B2E"/>
              </a:buClr>
              <a:buSzPts val="3400"/>
              <a:buFont typeface="Cambria"/>
              <a:buNone/>
            </a:pPr>
            <a:r>
              <a:t/>
            </a:r>
            <a:endParaRPr b="1" sz="3400">
              <a:solidFill>
                <a:srgbClr val="1F1B2E"/>
              </a:solidFill>
              <a:latin typeface="Cambria"/>
              <a:ea typeface="Cambria"/>
              <a:cs typeface="Cambria"/>
              <a:sym typeface="Cambria"/>
            </a:endParaRPr>
          </a:p>
          <a:p>
            <a:pPr indent="0" lvl="0" marL="0" marR="0" rtl="0" algn="ctr">
              <a:spcBef>
                <a:spcPts val="0"/>
              </a:spcBef>
              <a:spcAft>
                <a:spcPts val="0"/>
              </a:spcAft>
              <a:buClr>
                <a:srgbClr val="1F1B2E"/>
              </a:buClr>
              <a:buSzPts val="3400"/>
              <a:buFont typeface="Cambria"/>
              <a:buNone/>
            </a:pPr>
            <a:r>
              <a:rPr b="1" lang="en-US" sz="3400">
                <a:solidFill>
                  <a:srgbClr val="1F1B2E"/>
                </a:solidFill>
                <a:latin typeface="Cambria"/>
                <a:ea typeface="Cambria"/>
                <a:cs typeface="Cambria"/>
                <a:sym typeface="Cambria"/>
              </a:rPr>
              <a:t>Intention and </a:t>
            </a:r>
            <a:r>
              <a:rPr b="1" lang="en-US" sz="3400">
                <a:solidFill>
                  <a:srgbClr val="1F1B2E"/>
                </a:solidFill>
                <a:latin typeface="Cambria"/>
                <a:ea typeface="Cambria"/>
                <a:cs typeface="Cambria"/>
                <a:sym typeface="Cambria"/>
              </a:rPr>
              <a:t>Obstacle</a:t>
            </a:r>
            <a:endParaRPr b="0" i="0" sz="3400" u="none" cap="none" strike="noStrike">
              <a:solidFill>
                <a:schemeClr val="dk1"/>
              </a:solidFill>
              <a:latin typeface="Calibri"/>
              <a:ea typeface="Calibri"/>
              <a:cs typeface="Calibri"/>
              <a:sym typeface="Calibri"/>
            </a:endParaRPr>
          </a:p>
        </p:txBody>
      </p:sp>
      <p:sp>
        <p:nvSpPr>
          <p:cNvPr id="45" name="Google Shape;45;p6"/>
          <p:cNvSpPr/>
          <p:nvPr/>
        </p:nvSpPr>
        <p:spPr>
          <a:xfrm>
            <a:off x="731520" y="2743200"/>
            <a:ext cx="76809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E6880"/>
              </a:buClr>
              <a:buSzPts val="1500"/>
              <a:buFont typeface="Calibri"/>
              <a:buNone/>
            </a:pPr>
            <a:r>
              <a:t/>
            </a:r>
            <a:endParaRPr b="0" i="0" sz="1500" u="none" cap="none" strike="noStrike">
              <a:solidFill>
                <a:schemeClr val="dk1"/>
              </a:solidFill>
              <a:latin typeface="Calibri"/>
              <a:ea typeface="Calibri"/>
              <a:cs typeface="Calibri"/>
              <a:sym typeface="Calibri"/>
            </a:endParaRPr>
          </a:p>
        </p:txBody>
      </p:sp>
      <p:sp>
        <p:nvSpPr>
          <p:cNvPr id="46" name="Google Shape;46;p6"/>
          <p:cNvSpPr/>
          <p:nvPr/>
        </p:nvSpPr>
        <p:spPr>
          <a:xfrm>
            <a:off x="731545" y="3242270"/>
            <a:ext cx="76809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77F1A"/>
              </a:buClr>
              <a:buSzPts val="1800"/>
              <a:buFont typeface="Calibri"/>
              <a:buNone/>
            </a:pPr>
            <a:r>
              <a:rPr b="1" i="0" lang="en-US" sz="1800" u="none" cap="none" strike="noStrike">
                <a:solidFill>
                  <a:srgbClr val="C77F1A"/>
                </a:solidFill>
                <a:latin typeface="Calibri"/>
                <a:ea typeface="Calibri"/>
                <a:cs typeface="Calibri"/>
                <a:sym typeface="Calibri"/>
              </a:rPr>
              <a:t>Who wants what</a:t>
            </a:r>
            <a:r>
              <a:rPr b="1" lang="en-US" sz="1800">
                <a:solidFill>
                  <a:srgbClr val="C77F1A"/>
                </a:solidFill>
                <a:latin typeface="Calibri"/>
                <a:ea typeface="Calibri"/>
                <a:cs typeface="Calibri"/>
                <a:sym typeface="Calibri"/>
              </a:rPr>
              <a:t>, </a:t>
            </a:r>
            <a:r>
              <a:rPr b="1" i="0" lang="en-US" sz="1800" u="none" cap="none" strike="noStrike">
                <a:solidFill>
                  <a:srgbClr val="C77F1A"/>
                </a:solidFill>
                <a:latin typeface="Calibri"/>
                <a:ea typeface="Calibri"/>
                <a:cs typeface="Calibri"/>
                <a:sym typeface="Calibri"/>
              </a:rPr>
              <a:t>and what's in their way?</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1" name="Shape 51"/>
        <p:cNvGrpSpPr/>
        <p:nvPr/>
      </p:nvGrpSpPr>
      <p:grpSpPr>
        <a:xfrm>
          <a:off x="0" y="0"/>
          <a:ext cx="0" cy="0"/>
          <a:chOff x="0" y="0"/>
          <a:chExt cx="0" cy="0"/>
        </a:xfrm>
      </p:grpSpPr>
      <p:sp>
        <p:nvSpPr>
          <p:cNvPr id="52" name="Google Shape;52;p7"/>
          <p:cNvSpPr/>
          <p:nvPr/>
        </p:nvSpPr>
        <p:spPr>
          <a:xfrm>
            <a:off x="548640" y="1554480"/>
            <a:ext cx="8046720" cy="10972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1B2E"/>
              </a:buClr>
              <a:buSzPts val="3800"/>
              <a:buFont typeface="Cambria"/>
              <a:buNone/>
            </a:pPr>
            <a:r>
              <a:rPr b="1" i="0" lang="en-US" sz="3800" u="none" cap="none" strike="noStrike">
                <a:solidFill>
                  <a:srgbClr val="1F1B2E"/>
                </a:solidFill>
                <a:latin typeface="Cambria"/>
                <a:ea typeface="Cambria"/>
                <a:cs typeface="Cambria"/>
                <a:sym typeface="Cambria"/>
              </a:rPr>
              <a:t>Your customer is the hero</a:t>
            </a:r>
            <a:r>
              <a:rPr b="1" lang="en-US" sz="3800">
                <a:solidFill>
                  <a:srgbClr val="1F1B2E"/>
                </a:solidFill>
                <a:latin typeface="Cambria"/>
                <a:ea typeface="Cambria"/>
                <a:cs typeface="Cambria"/>
                <a:sym typeface="Cambria"/>
              </a:rPr>
              <a:t> </a:t>
            </a:r>
            <a:endParaRPr b="1" sz="3800">
              <a:solidFill>
                <a:srgbClr val="1F1B2E"/>
              </a:solidFill>
              <a:latin typeface="Cambria"/>
              <a:ea typeface="Cambria"/>
              <a:cs typeface="Cambria"/>
              <a:sym typeface="Cambria"/>
            </a:endParaRPr>
          </a:p>
          <a:p>
            <a:pPr indent="0" lvl="0" marL="0" marR="0" rtl="0" algn="ctr">
              <a:spcBef>
                <a:spcPts val="0"/>
              </a:spcBef>
              <a:spcAft>
                <a:spcPts val="0"/>
              </a:spcAft>
              <a:buClr>
                <a:srgbClr val="1F1B2E"/>
              </a:buClr>
              <a:buSzPts val="3800"/>
              <a:buFont typeface="Cambria"/>
              <a:buNone/>
            </a:pPr>
            <a:r>
              <a:rPr b="1" lang="en-US" sz="3800">
                <a:solidFill>
                  <a:srgbClr val="1F1B2E"/>
                </a:solidFill>
                <a:latin typeface="Cambria"/>
                <a:ea typeface="Cambria"/>
                <a:cs typeface="Cambria"/>
                <a:sym typeface="Cambria"/>
              </a:rPr>
              <a:t>with intentions and </a:t>
            </a:r>
            <a:r>
              <a:rPr b="1" lang="en-US" sz="3800">
                <a:solidFill>
                  <a:srgbClr val="1F1B2E"/>
                </a:solidFill>
                <a:latin typeface="Cambria"/>
                <a:ea typeface="Cambria"/>
                <a:cs typeface="Cambria"/>
                <a:sym typeface="Cambria"/>
              </a:rPr>
              <a:t>obstacles</a:t>
            </a:r>
            <a:endParaRPr b="0" i="0" sz="3800" u="none" cap="none" strike="noStrike">
              <a:solidFill>
                <a:schemeClr val="dk1"/>
              </a:solidFill>
              <a:latin typeface="Calibri"/>
              <a:ea typeface="Calibri"/>
              <a:cs typeface="Calibri"/>
              <a:sym typeface="Calibri"/>
            </a:endParaRPr>
          </a:p>
        </p:txBody>
      </p:sp>
      <p:sp>
        <p:nvSpPr>
          <p:cNvPr id="53" name="Google Shape;53;p7"/>
          <p:cNvSpPr/>
          <p:nvPr/>
        </p:nvSpPr>
        <p:spPr>
          <a:xfrm>
            <a:off x="1864650" y="3204700"/>
            <a:ext cx="5414700" cy="548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77F1A"/>
              </a:buClr>
              <a:buSzPts val="1800"/>
              <a:buFont typeface="Calibri"/>
              <a:buNone/>
            </a:pPr>
            <a:r>
              <a:t/>
            </a:r>
            <a:endParaRPr b="1" sz="1800">
              <a:solidFill>
                <a:srgbClr val="C77F1A"/>
              </a:solidFill>
              <a:latin typeface="Calibri"/>
              <a:ea typeface="Calibri"/>
              <a:cs typeface="Calibri"/>
              <a:sym typeface="Calibri"/>
            </a:endParaRPr>
          </a:p>
          <a:p>
            <a:pPr indent="0" lvl="0" marL="0" marR="0" rtl="0" algn="l">
              <a:spcBef>
                <a:spcPts val="0"/>
              </a:spcBef>
              <a:spcAft>
                <a:spcPts val="0"/>
              </a:spcAft>
              <a:buClr>
                <a:srgbClr val="C77F1A"/>
              </a:buClr>
              <a:buSzPts val="1800"/>
              <a:buFont typeface="Calibri"/>
              <a:buNone/>
            </a:pPr>
            <a:r>
              <a:t/>
            </a:r>
            <a:endParaRPr b="1" sz="1800">
              <a:solidFill>
                <a:srgbClr val="C77F1A"/>
              </a:solidFill>
              <a:latin typeface="Calibri"/>
              <a:ea typeface="Calibri"/>
              <a:cs typeface="Calibri"/>
              <a:sym typeface="Calibri"/>
            </a:endParaRPr>
          </a:p>
          <a:p>
            <a:pPr indent="0" lvl="0" marL="0" marR="0" rtl="0" algn="ctr">
              <a:spcBef>
                <a:spcPts val="0"/>
              </a:spcBef>
              <a:spcAft>
                <a:spcPts val="0"/>
              </a:spcAft>
              <a:buClr>
                <a:srgbClr val="C77F1A"/>
              </a:buClr>
              <a:buSzPts val="1800"/>
              <a:buFont typeface="Calibri"/>
              <a:buNone/>
            </a:pPr>
            <a:r>
              <a:rPr b="1" lang="en-US" sz="1800">
                <a:solidFill>
                  <a:srgbClr val="C77F1A"/>
                </a:solidFill>
                <a:latin typeface="Calibri"/>
                <a:ea typeface="Calibri"/>
                <a:cs typeface="Calibri"/>
                <a:sym typeface="Calibri"/>
              </a:rPr>
              <a:t>You get to be the reason </a:t>
            </a:r>
            <a:r>
              <a:rPr b="1" i="0" lang="en-US" sz="1800" u="none" cap="none" strike="noStrike">
                <a:solidFill>
                  <a:srgbClr val="C77F1A"/>
                </a:solidFill>
                <a:latin typeface="Calibri"/>
                <a:ea typeface="Calibri"/>
                <a:cs typeface="Calibri"/>
                <a:sym typeface="Calibri"/>
              </a:rPr>
              <a:t>their story ends well.</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8" name="Shape 58"/>
        <p:cNvGrpSpPr/>
        <p:nvPr/>
      </p:nvGrpSpPr>
      <p:grpSpPr>
        <a:xfrm>
          <a:off x="0" y="0"/>
          <a:ext cx="0" cy="0"/>
          <a:chOff x="0" y="0"/>
          <a:chExt cx="0" cy="0"/>
        </a:xfrm>
      </p:grpSpPr>
      <p:sp>
        <p:nvSpPr>
          <p:cNvPr id="59" name="Google Shape;59;p8"/>
          <p:cNvSpPr/>
          <p:nvPr/>
        </p:nvSpPr>
        <p:spPr>
          <a:xfrm>
            <a:off x="640080" y="457200"/>
            <a:ext cx="804672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1B2E"/>
              </a:buClr>
              <a:buSzPts val="2700"/>
              <a:buFont typeface="Cambria"/>
              <a:buNone/>
            </a:pPr>
            <a:r>
              <a:rPr b="1" lang="en-US" sz="2700">
                <a:solidFill>
                  <a:srgbClr val="1F1B2E"/>
                </a:solidFill>
                <a:latin typeface="Cambria"/>
                <a:ea typeface="Cambria"/>
                <a:cs typeface="Cambria"/>
                <a:sym typeface="Cambria"/>
              </a:rPr>
              <a:t>Practice </a:t>
            </a:r>
            <a:r>
              <a:rPr b="1" i="0" lang="en-US" sz="2700" u="none" cap="none" strike="noStrike">
                <a:solidFill>
                  <a:srgbClr val="1F1B2E"/>
                </a:solidFill>
                <a:latin typeface="Cambria"/>
                <a:ea typeface="Cambria"/>
                <a:cs typeface="Cambria"/>
                <a:sym typeface="Cambria"/>
              </a:rPr>
              <a:t>Three sentences.</a:t>
            </a:r>
            <a:endParaRPr b="0" i="0" sz="2700" u="none" cap="none" strike="noStrike">
              <a:solidFill>
                <a:schemeClr val="dk1"/>
              </a:solidFill>
              <a:latin typeface="Calibri"/>
              <a:ea typeface="Calibri"/>
              <a:cs typeface="Calibri"/>
              <a:sym typeface="Calibri"/>
            </a:endParaRPr>
          </a:p>
        </p:txBody>
      </p:sp>
      <p:sp>
        <p:nvSpPr>
          <p:cNvPr id="60" name="Google Shape;60;p8"/>
          <p:cNvSpPr/>
          <p:nvPr/>
        </p:nvSpPr>
        <p:spPr>
          <a:xfrm>
            <a:off x="640080" y="1417320"/>
            <a:ext cx="457200" cy="457200"/>
          </a:xfrm>
          <a:prstGeom prst="ellipse">
            <a:avLst/>
          </a:prstGeom>
          <a:solidFill>
            <a:srgbClr val="C77F1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8"/>
          <p:cNvSpPr/>
          <p:nvPr/>
        </p:nvSpPr>
        <p:spPr>
          <a:xfrm>
            <a:off x="640080" y="141732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mbria"/>
              <a:buNone/>
            </a:pPr>
            <a:r>
              <a:rPr b="1" i="0" lang="en-US" sz="1800" u="none" cap="none" strike="noStrike">
                <a:solidFill>
                  <a:srgbClr val="FFFFFF"/>
                </a:solidFill>
                <a:latin typeface="Cambria"/>
                <a:ea typeface="Cambria"/>
                <a:cs typeface="Cambria"/>
                <a:sym typeface="Cambria"/>
              </a:rPr>
              <a:t>1</a:t>
            </a:r>
            <a:endParaRPr b="0" i="0" sz="1800" u="none" cap="none" strike="noStrike">
              <a:solidFill>
                <a:schemeClr val="dk1"/>
              </a:solidFill>
              <a:latin typeface="Calibri"/>
              <a:ea typeface="Calibri"/>
              <a:cs typeface="Calibri"/>
              <a:sym typeface="Calibri"/>
            </a:endParaRPr>
          </a:p>
        </p:txBody>
      </p:sp>
      <p:sp>
        <p:nvSpPr>
          <p:cNvPr id="62" name="Google Shape;62;p8"/>
          <p:cNvSpPr/>
          <p:nvPr/>
        </p:nvSpPr>
        <p:spPr>
          <a:xfrm>
            <a:off x="1280160" y="1371600"/>
            <a:ext cx="73152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77F1A"/>
              </a:buClr>
              <a:buSzPts val="1700"/>
              <a:buFont typeface="Calibri"/>
              <a:buNone/>
            </a:pPr>
            <a:r>
              <a:rPr b="1" lang="en-US" sz="1700">
                <a:solidFill>
                  <a:srgbClr val="C77F1A"/>
                </a:solidFill>
                <a:latin typeface="Calibri"/>
                <a:ea typeface="Calibri"/>
                <a:cs typeface="Calibri"/>
                <a:sym typeface="Calibri"/>
              </a:rPr>
              <a:t>(Your customer) </a:t>
            </a:r>
            <a:r>
              <a:rPr b="1" i="0" lang="en-US" sz="1700" u="none" cap="none" strike="noStrike">
                <a:solidFill>
                  <a:srgbClr val="1F1B2E"/>
                </a:solidFill>
                <a:latin typeface="Calibri"/>
                <a:ea typeface="Calibri"/>
                <a:cs typeface="Calibri"/>
                <a:sym typeface="Calibri"/>
              </a:rPr>
              <a:t>struggles with  </a:t>
            </a:r>
            <a:r>
              <a:rPr b="1" lang="en-US" sz="1700">
                <a:solidFill>
                  <a:srgbClr val="C77F1A"/>
                </a:solidFill>
                <a:latin typeface="Calibri"/>
                <a:ea typeface="Calibri"/>
                <a:cs typeface="Calibri"/>
                <a:sym typeface="Calibri"/>
              </a:rPr>
              <a:t>(</a:t>
            </a:r>
            <a:r>
              <a:rPr b="1" lang="en-US" sz="1700">
                <a:solidFill>
                  <a:srgbClr val="C77F1A"/>
                </a:solidFill>
                <a:latin typeface="Calibri"/>
                <a:ea typeface="Calibri"/>
                <a:cs typeface="Calibri"/>
                <a:sym typeface="Calibri"/>
              </a:rPr>
              <a:t>Obstacle</a:t>
            </a:r>
            <a:r>
              <a:rPr b="1" lang="en-US" sz="1700">
                <a:solidFill>
                  <a:srgbClr val="C77F1A"/>
                </a:solidFill>
                <a:latin typeface="Calibri"/>
                <a:ea typeface="Calibri"/>
                <a:cs typeface="Calibri"/>
                <a:sym typeface="Calibri"/>
              </a:rPr>
              <a:t>)</a:t>
            </a:r>
            <a:r>
              <a:rPr b="1" i="0" lang="en-US" sz="1700" u="none" cap="none" strike="noStrike">
                <a:solidFill>
                  <a:srgbClr val="1F1B2E"/>
                </a:solidFill>
                <a:latin typeface="Calibri"/>
                <a:ea typeface="Calibri"/>
                <a:cs typeface="Calibri"/>
                <a:sym typeface="Calibri"/>
              </a:rPr>
              <a:t>.</a:t>
            </a:r>
            <a:endParaRPr b="0" i="0" sz="1700" u="none" cap="none" strike="noStrike">
              <a:solidFill>
                <a:schemeClr val="dk1"/>
              </a:solidFill>
              <a:latin typeface="Calibri"/>
              <a:ea typeface="Calibri"/>
              <a:cs typeface="Calibri"/>
              <a:sym typeface="Calibri"/>
            </a:endParaRPr>
          </a:p>
        </p:txBody>
      </p:sp>
      <p:sp>
        <p:nvSpPr>
          <p:cNvPr id="63" name="Google Shape;63;p8"/>
          <p:cNvSpPr/>
          <p:nvPr/>
        </p:nvSpPr>
        <p:spPr>
          <a:xfrm>
            <a:off x="640080" y="2249680"/>
            <a:ext cx="457200" cy="457200"/>
          </a:xfrm>
          <a:prstGeom prst="ellipse">
            <a:avLst/>
          </a:prstGeom>
          <a:solidFill>
            <a:srgbClr val="C77F1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8"/>
          <p:cNvSpPr/>
          <p:nvPr/>
        </p:nvSpPr>
        <p:spPr>
          <a:xfrm>
            <a:off x="640080" y="224968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mbria"/>
              <a:buNone/>
            </a:pPr>
            <a:r>
              <a:rPr b="1" i="0" lang="en-US" sz="1800" u="none" cap="none" strike="noStrike">
                <a:solidFill>
                  <a:srgbClr val="FFFFFF"/>
                </a:solidFill>
                <a:latin typeface="Cambria"/>
                <a:ea typeface="Cambria"/>
                <a:cs typeface="Cambria"/>
                <a:sym typeface="Cambria"/>
              </a:rPr>
              <a:t>2</a:t>
            </a:r>
            <a:endParaRPr b="0" i="0" sz="1800" u="none" cap="none" strike="noStrike">
              <a:solidFill>
                <a:schemeClr val="dk1"/>
              </a:solidFill>
              <a:latin typeface="Calibri"/>
              <a:ea typeface="Calibri"/>
              <a:cs typeface="Calibri"/>
              <a:sym typeface="Calibri"/>
            </a:endParaRPr>
          </a:p>
        </p:txBody>
      </p:sp>
      <p:sp>
        <p:nvSpPr>
          <p:cNvPr id="65" name="Google Shape;65;p8"/>
          <p:cNvSpPr/>
          <p:nvPr/>
        </p:nvSpPr>
        <p:spPr>
          <a:xfrm>
            <a:off x="1280160" y="2203960"/>
            <a:ext cx="7315200" cy="54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1B2E"/>
              </a:buClr>
              <a:buSzPts val="1700"/>
              <a:buFont typeface="Calibri"/>
              <a:buNone/>
            </a:pPr>
            <a:r>
              <a:rPr b="1" i="0" lang="en-US" sz="1700" u="none" cap="none" strike="noStrike">
                <a:solidFill>
                  <a:srgbClr val="1F1B2E"/>
                </a:solidFill>
                <a:latin typeface="Calibri"/>
                <a:ea typeface="Calibri"/>
                <a:cs typeface="Calibri"/>
                <a:sym typeface="Calibri"/>
              </a:rPr>
              <a:t>Every day / week / project, it costs them  </a:t>
            </a:r>
            <a:r>
              <a:rPr b="1" i="0" lang="en-US" sz="1700" u="none" cap="none" strike="noStrike">
                <a:solidFill>
                  <a:srgbClr val="C77F1A"/>
                </a:solidFill>
                <a:latin typeface="Calibri"/>
                <a:ea typeface="Calibri"/>
                <a:cs typeface="Calibri"/>
                <a:sym typeface="Calibri"/>
              </a:rPr>
              <a:t>(Time, M</a:t>
            </a:r>
            <a:r>
              <a:rPr b="1" lang="en-US" sz="1700">
                <a:solidFill>
                  <a:srgbClr val="C77F1A"/>
                </a:solidFill>
                <a:latin typeface="Calibri"/>
                <a:ea typeface="Calibri"/>
                <a:cs typeface="Calibri"/>
                <a:sym typeface="Calibri"/>
              </a:rPr>
              <a:t>oney, Stress?)</a:t>
            </a:r>
            <a:endParaRPr b="0" i="0" sz="1700" u="none" cap="none" strike="noStrike">
              <a:solidFill>
                <a:schemeClr val="dk1"/>
              </a:solidFill>
              <a:latin typeface="Calibri"/>
              <a:ea typeface="Calibri"/>
              <a:cs typeface="Calibri"/>
              <a:sym typeface="Calibri"/>
            </a:endParaRPr>
          </a:p>
        </p:txBody>
      </p:sp>
      <p:sp>
        <p:nvSpPr>
          <p:cNvPr id="66" name="Google Shape;66;p8"/>
          <p:cNvSpPr/>
          <p:nvPr/>
        </p:nvSpPr>
        <p:spPr>
          <a:xfrm>
            <a:off x="648092" y="3130111"/>
            <a:ext cx="457200" cy="457200"/>
          </a:xfrm>
          <a:prstGeom prst="ellipse">
            <a:avLst/>
          </a:prstGeom>
          <a:solidFill>
            <a:srgbClr val="C77F1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8"/>
          <p:cNvSpPr/>
          <p:nvPr/>
        </p:nvSpPr>
        <p:spPr>
          <a:xfrm>
            <a:off x="648092" y="3130111"/>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mbria"/>
              <a:buNone/>
            </a:pPr>
            <a:r>
              <a:rPr b="1" i="0" lang="en-US" sz="1800" u="none" cap="none" strike="noStrike">
                <a:solidFill>
                  <a:srgbClr val="FFFFFF"/>
                </a:solidFill>
                <a:latin typeface="Cambria"/>
                <a:ea typeface="Cambria"/>
                <a:cs typeface="Cambria"/>
                <a:sym typeface="Cambria"/>
              </a:rPr>
              <a:t>3</a:t>
            </a:r>
            <a:endParaRPr b="0" i="0" sz="1800" u="none" cap="none" strike="noStrike">
              <a:solidFill>
                <a:schemeClr val="dk1"/>
              </a:solidFill>
              <a:latin typeface="Calibri"/>
              <a:ea typeface="Calibri"/>
              <a:cs typeface="Calibri"/>
              <a:sym typeface="Calibri"/>
            </a:endParaRPr>
          </a:p>
        </p:txBody>
      </p:sp>
      <p:sp>
        <p:nvSpPr>
          <p:cNvPr id="68" name="Google Shape;68;p8"/>
          <p:cNvSpPr/>
          <p:nvPr/>
        </p:nvSpPr>
        <p:spPr>
          <a:xfrm>
            <a:off x="1288172" y="3084391"/>
            <a:ext cx="7315200" cy="54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1B2E"/>
              </a:buClr>
              <a:buSzPts val="1700"/>
              <a:buFont typeface="Calibri"/>
              <a:buNone/>
            </a:pPr>
            <a:r>
              <a:rPr b="1" i="0" lang="en-US" sz="1700" u="none" cap="none" strike="noStrike">
                <a:solidFill>
                  <a:srgbClr val="1F1B2E"/>
                </a:solidFill>
                <a:latin typeface="Calibri"/>
                <a:ea typeface="Calibri"/>
                <a:cs typeface="Calibri"/>
                <a:sym typeface="Calibri"/>
              </a:rPr>
              <a:t>We help them  </a:t>
            </a:r>
            <a:r>
              <a:rPr b="1" i="0" lang="en-US" sz="1700" u="none" cap="none" strike="noStrike">
                <a:solidFill>
                  <a:srgbClr val="C77F1A"/>
                </a:solidFill>
                <a:latin typeface="Calibri"/>
                <a:ea typeface="Calibri"/>
                <a:cs typeface="Calibri"/>
                <a:sym typeface="Calibri"/>
              </a:rPr>
              <a:t>______________</a:t>
            </a:r>
            <a:r>
              <a:rPr b="1" i="0" lang="en-US" sz="1700" u="none" cap="none" strike="noStrike">
                <a:solidFill>
                  <a:srgbClr val="1F1B2E"/>
                </a:solidFill>
                <a:latin typeface="Calibri"/>
                <a:ea typeface="Calibri"/>
                <a:cs typeface="Calibri"/>
                <a:sym typeface="Calibri"/>
              </a:rPr>
              <a:t>,  so they can  </a:t>
            </a:r>
            <a:r>
              <a:rPr b="1" lang="en-US" sz="1700">
                <a:solidFill>
                  <a:srgbClr val="C77F1A"/>
                </a:solidFill>
                <a:latin typeface="Calibri"/>
                <a:ea typeface="Calibri"/>
                <a:cs typeface="Calibri"/>
                <a:sym typeface="Calibri"/>
              </a:rPr>
              <a:t>(Intention)</a:t>
            </a:r>
            <a:r>
              <a:rPr b="1" lang="en-US" sz="1700">
                <a:solidFill>
                  <a:srgbClr val="1F1B2E"/>
                </a:solidFill>
                <a:latin typeface="Calibri"/>
                <a:ea typeface="Calibri"/>
                <a:cs typeface="Calibri"/>
                <a:sym typeface="Calibri"/>
              </a:rPr>
              <a:t>.</a:t>
            </a:r>
            <a:endParaRPr b="0" i="0" sz="17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3" name="Shape 73"/>
        <p:cNvGrpSpPr/>
        <p:nvPr/>
      </p:nvGrpSpPr>
      <p:grpSpPr>
        <a:xfrm>
          <a:off x="0" y="0"/>
          <a:ext cx="0" cy="0"/>
          <a:chOff x="0" y="0"/>
          <a:chExt cx="0" cy="0"/>
        </a:xfrm>
      </p:grpSpPr>
      <p:sp>
        <p:nvSpPr>
          <p:cNvPr id="74" name="Google Shape;74;p9"/>
          <p:cNvSpPr/>
          <p:nvPr/>
        </p:nvSpPr>
        <p:spPr>
          <a:xfrm>
            <a:off x="640080" y="457200"/>
            <a:ext cx="80466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1B2E"/>
              </a:buClr>
              <a:buSzPts val="2700"/>
              <a:buFont typeface="Cambria"/>
              <a:buNone/>
            </a:pPr>
            <a:r>
              <a:rPr b="1" lang="en-US" sz="2700">
                <a:solidFill>
                  <a:srgbClr val="1F1B2E"/>
                </a:solidFill>
                <a:latin typeface="Cambria"/>
                <a:ea typeface="Cambria"/>
                <a:cs typeface="Cambria"/>
                <a:sym typeface="Cambria"/>
              </a:rPr>
              <a:t>Practice </a:t>
            </a:r>
            <a:r>
              <a:rPr b="1" i="0" lang="en-US" sz="2700" u="none" cap="none" strike="noStrike">
                <a:solidFill>
                  <a:srgbClr val="1F1B2E"/>
                </a:solidFill>
                <a:latin typeface="Cambria"/>
                <a:ea typeface="Cambria"/>
                <a:cs typeface="Cambria"/>
                <a:sym typeface="Cambria"/>
              </a:rPr>
              <a:t>Three sentences.</a:t>
            </a:r>
            <a:endParaRPr b="0" i="0" sz="2700" u="none" cap="none" strike="noStrike">
              <a:solidFill>
                <a:schemeClr val="dk1"/>
              </a:solidFill>
              <a:latin typeface="Calibri"/>
              <a:ea typeface="Calibri"/>
              <a:cs typeface="Calibri"/>
              <a:sym typeface="Calibri"/>
            </a:endParaRPr>
          </a:p>
        </p:txBody>
      </p:sp>
      <p:sp>
        <p:nvSpPr>
          <p:cNvPr id="75" name="Google Shape;75;p9"/>
          <p:cNvSpPr/>
          <p:nvPr/>
        </p:nvSpPr>
        <p:spPr>
          <a:xfrm>
            <a:off x="640080" y="1417320"/>
            <a:ext cx="457200" cy="457200"/>
          </a:xfrm>
          <a:prstGeom prst="ellipse">
            <a:avLst/>
          </a:prstGeom>
          <a:solidFill>
            <a:srgbClr val="C77F1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9"/>
          <p:cNvSpPr/>
          <p:nvPr/>
        </p:nvSpPr>
        <p:spPr>
          <a:xfrm>
            <a:off x="640080" y="141732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mbria"/>
              <a:buNone/>
            </a:pPr>
            <a:r>
              <a:rPr b="1" i="0" lang="en-US" sz="1800" u="none" cap="none" strike="noStrike">
                <a:solidFill>
                  <a:srgbClr val="FFFFFF"/>
                </a:solidFill>
                <a:latin typeface="Cambria"/>
                <a:ea typeface="Cambria"/>
                <a:cs typeface="Cambria"/>
                <a:sym typeface="Cambria"/>
              </a:rPr>
              <a:t>1</a:t>
            </a:r>
            <a:endParaRPr b="0" i="0" sz="1800" u="none" cap="none" strike="noStrike">
              <a:solidFill>
                <a:schemeClr val="dk1"/>
              </a:solidFill>
              <a:latin typeface="Calibri"/>
              <a:ea typeface="Calibri"/>
              <a:cs typeface="Calibri"/>
              <a:sym typeface="Calibri"/>
            </a:endParaRPr>
          </a:p>
        </p:txBody>
      </p:sp>
      <p:sp>
        <p:nvSpPr>
          <p:cNvPr id="77" name="Google Shape;77;p9"/>
          <p:cNvSpPr/>
          <p:nvPr/>
        </p:nvSpPr>
        <p:spPr>
          <a:xfrm>
            <a:off x="1280160" y="1371600"/>
            <a:ext cx="7315200" cy="548700"/>
          </a:xfrm>
          <a:prstGeom prst="rect">
            <a:avLst/>
          </a:prstGeom>
          <a:noFill/>
          <a:ln>
            <a:noFill/>
          </a:ln>
        </p:spPr>
        <p:txBody>
          <a:bodyPr anchorCtr="0" anchor="ctr" bIns="0" lIns="0" spcFirstLastPara="1" rIns="0" wrap="square" tIns="0">
            <a:noAutofit/>
          </a:bodyPr>
          <a:lstStyle/>
          <a:p>
            <a:pPr indent="0" lvl="0" marL="0" rtl="0" algn="l">
              <a:lnSpc>
                <a:spcPct val="98000"/>
              </a:lnSpc>
              <a:spcBef>
                <a:spcPts val="0"/>
              </a:spcBef>
              <a:spcAft>
                <a:spcPts val="0"/>
              </a:spcAft>
              <a:buClr>
                <a:srgbClr val="1F1B2E"/>
              </a:buClr>
              <a:buSzPts val="1250"/>
              <a:buFont typeface="Calibri"/>
              <a:buNone/>
            </a:pPr>
            <a:r>
              <a:rPr b="1" lang="en-US" sz="1550">
                <a:solidFill>
                  <a:srgbClr val="1F1B2E"/>
                </a:solidFill>
                <a:latin typeface="Calibri"/>
                <a:ea typeface="Calibri"/>
                <a:cs typeface="Calibri"/>
                <a:sym typeface="Calibri"/>
              </a:rPr>
              <a:t>A busy dental office struggles to fill last-minute cancellations. </a:t>
            </a:r>
            <a:endParaRPr b="1" sz="2000" u="none" cap="none" strike="noStrike">
              <a:solidFill>
                <a:schemeClr val="dk1"/>
              </a:solidFill>
              <a:latin typeface="Calibri"/>
              <a:ea typeface="Calibri"/>
              <a:cs typeface="Calibri"/>
              <a:sym typeface="Calibri"/>
            </a:endParaRPr>
          </a:p>
        </p:txBody>
      </p:sp>
      <p:sp>
        <p:nvSpPr>
          <p:cNvPr id="78" name="Google Shape;78;p9"/>
          <p:cNvSpPr/>
          <p:nvPr/>
        </p:nvSpPr>
        <p:spPr>
          <a:xfrm>
            <a:off x="640080" y="2131943"/>
            <a:ext cx="457200" cy="457200"/>
          </a:xfrm>
          <a:prstGeom prst="ellipse">
            <a:avLst/>
          </a:prstGeom>
          <a:solidFill>
            <a:srgbClr val="C77F1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9"/>
          <p:cNvSpPr/>
          <p:nvPr/>
        </p:nvSpPr>
        <p:spPr>
          <a:xfrm>
            <a:off x="640080" y="2131943"/>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mbria"/>
              <a:buNone/>
            </a:pPr>
            <a:r>
              <a:rPr b="1" i="0" lang="en-US" sz="1800" u="none" cap="none" strike="noStrike">
                <a:solidFill>
                  <a:srgbClr val="FFFFFF"/>
                </a:solidFill>
                <a:latin typeface="Cambria"/>
                <a:ea typeface="Cambria"/>
                <a:cs typeface="Cambria"/>
                <a:sym typeface="Cambria"/>
              </a:rPr>
              <a:t>2</a:t>
            </a:r>
            <a:endParaRPr b="0" i="0" sz="1800" u="none" cap="none" strike="noStrike">
              <a:solidFill>
                <a:schemeClr val="dk1"/>
              </a:solidFill>
              <a:latin typeface="Calibri"/>
              <a:ea typeface="Calibri"/>
              <a:cs typeface="Calibri"/>
              <a:sym typeface="Calibri"/>
            </a:endParaRPr>
          </a:p>
        </p:txBody>
      </p:sp>
      <p:sp>
        <p:nvSpPr>
          <p:cNvPr id="80" name="Google Shape;80;p9"/>
          <p:cNvSpPr/>
          <p:nvPr/>
        </p:nvSpPr>
        <p:spPr>
          <a:xfrm>
            <a:off x="1280160" y="2086223"/>
            <a:ext cx="7315200" cy="54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1B2E"/>
              </a:buClr>
              <a:buSzPts val="1700"/>
              <a:buFont typeface="Calibri"/>
              <a:buNone/>
            </a:pPr>
            <a:r>
              <a:rPr b="1" lang="en-US" sz="1550">
                <a:solidFill>
                  <a:srgbClr val="1F1B2E"/>
                </a:solidFill>
                <a:latin typeface="Calibri"/>
                <a:ea typeface="Calibri"/>
                <a:cs typeface="Calibri"/>
                <a:sym typeface="Calibri"/>
              </a:rPr>
              <a:t>Every empty chair costs them $500 and a patient who waited weeks.</a:t>
            </a:r>
            <a:endParaRPr b="1" sz="2000" u="none" cap="none" strike="noStrike">
              <a:solidFill>
                <a:schemeClr val="dk1"/>
              </a:solidFill>
              <a:latin typeface="Calibri"/>
              <a:ea typeface="Calibri"/>
              <a:cs typeface="Calibri"/>
              <a:sym typeface="Calibri"/>
            </a:endParaRPr>
          </a:p>
        </p:txBody>
      </p:sp>
      <p:sp>
        <p:nvSpPr>
          <p:cNvPr id="81" name="Google Shape;81;p9"/>
          <p:cNvSpPr/>
          <p:nvPr/>
        </p:nvSpPr>
        <p:spPr>
          <a:xfrm>
            <a:off x="640080" y="2854021"/>
            <a:ext cx="457200" cy="457200"/>
          </a:xfrm>
          <a:prstGeom prst="ellipse">
            <a:avLst/>
          </a:prstGeom>
          <a:solidFill>
            <a:srgbClr val="C77F1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9"/>
          <p:cNvSpPr/>
          <p:nvPr/>
        </p:nvSpPr>
        <p:spPr>
          <a:xfrm>
            <a:off x="640080" y="2854021"/>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mbria"/>
              <a:buNone/>
            </a:pPr>
            <a:r>
              <a:rPr b="1" i="0" lang="en-US" sz="1800" u="none" cap="none" strike="noStrike">
                <a:solidFill>
                  <a:srgbClr val="FFFFFF"/>
                </a:solidFill>
                <a:latin typeface="Cambria"/>
                <a:ea typeface="Cambria"/>
                <a:cs typeface="Cambria"/>
                <a:sym typeface="Cambria"/>
              </a:rPr>
              <a:t>3</a:t>
            </a:r>
            <a:endParaRPr b="0" i="0" sz="1800" u="none" cap="none" strike="noStrike">
              <a:solidFill>
                <a:schemeClr val="dk1"/>
              </a:solidFill>
              <a:latin typeface="Calibri"/>
              <a:ea typeface="Calibri"/>
              <a:cs typeface="Calibri"/>
              <a:sym typeface="Calibri"/>
            </a:endParaRPr>
          </a:p>
        </p:txBody>
      </p:sp>
      <p:sp>
        <p:nvSpPr>
          <p:cNvPr id="83" name="Google Shape;83;p9"/>
          <p:cNvSpPr/>
          <p:nvPr/>
        </p:nvSpPr>
        <p:spPr>
          <a:xfrm>
            <a:off x="1280160" y="2808301"/>
            <a:ext cx="7315200" cy="548700"/>
          </a:xfrm>
          <a:prstGeom prst="rect">
            <a:avLst/>
          </a:prstGeom>
          <a:noFill/>
          <a:ln>
            <a:noFill/>
          </a:ln>
        </p:spPr>
        <p:txBody>
          <a:bodyPr anchorCtr="0" anchor="ctr" bIns="0" lIns="0" spcFirstLastPara="1" rIns="0" wrap="square" tIns="0">
            <a:noAutofit/>
          </a:bodyPr>
          <a:lstStyle/>
          <a:p>
            <a:pPr indent="0" lvl="0" marL="0" rtl="0" algn="l">
              <a:lnSpc>
                <a:spcPct val="98000"/>
              </a:lnSpc>
              <a:spcBef>
                <a:spcPts val="0"/>
              </a:spcBef>
              <a:spcAft>
                <a:spcPts val="0"/>
              </a:spcAft>
              <a:buClr>
                <a:srgbClr val="1F1B2E"/>
              </a:buClr>
              <a:buSzPts val="1250"/>
              <a:buFont typeface="Calibri"/>
              <a:buNone/>
            </a:pPr>
            <a:r>
              <a:rPr b="1" lang="en-US" sz="1550">
                <a:solidFill>
                  <a:srgbClr val="1F1B2E"/>
                </a:solidFill>
                <a:latin typeface="Calibri"/>
                <a:ea typeface="Calibri"/>
                <a:cs typeface="Calibri"/>
                <a:sym typeface="Calibri"/>
              </a:rPr>
              <a:t>We text their waitlist the second a slot opens, so the schedule stays full.</a:t>
            </a:r>
            <a:endParaRPr b="1" sz="2000">
              <a:solidFill>
                <a:srgbClr val="1F1B2E"/>
              </a:solidFill>
              <a:latin typeface="Calibri"/>
              <a:ea typeface="Calibri"/>
              <a:cs typeface="Calibri"/>
              <a:sym typeface="Calibri"/>
            </a:endParaRPr>
          </a:p>
        </p:txBody>
      </p:sp>
      <p:sp>
        <p:nvSpPr>
          <p:cNvPr id="84" name="Google Shape;84;p9"/>
          <p:cNvSpPr/>
          <p:nvPr/>
        </p:nvSpPr>
        <p:spPr>
          <a:xfrm>
            <a:off x="640080" y="4398585"/>
            <a:ext cx="80466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E6880"/>
              </a:buClr>
              <a:buSzPts val="1400"/>
              <a:buFont typeface="Calibri"/>
              <a:buNone/>
            </a:pPr>
            <a:r>
              <a:rPr b="0" i="1" lang="en-US" sz="1400" u="none" cap="none" strike="noStrike">
                <a:solidFill>
                  <a:srgbClr val="6E6880"/>
                </a:solidFill>
                <a:latin typeface="Calibri"/>
                <a:ea typeface="Calibri"/>
                <a:cs typeface="Calibri"/>
                <a:sym typeface="Calibri"/>
              </a:rPr>
              <a:t>The test: </a:t>
            </a:r>
            <a:r>
              <a:rPr b="1" i="1" lang="en-US" sz="1400" u="none" cap="none" strike="noStrike">
                <a:solidFill>
                  <a:srgbClr val="C77F1A"/>
                </a:solidFill>
                <a:latin typeface="Calibri"/>
                <a:ea typeface="Calibri"/>
                <a:cs typeface="Calibri"/>
                <a:sym typeface="Calibri"/>
              </a:rPr>
              <a:t>can your partner repeat it back?</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9" name="Shape 89"/>
        <p:cNvGrpSpPr/>
        <p:nvPr/>
      </p:nvGrpSpPr>
      <p:grpSpPr>
        <a:xfrm>
          <a:off x="0" y="0"/>
          <a:ext cx="0" cy="0"/>
          <a:chOff x="0" y="0"/>
          <a:chExt cx="0" cy="0"/>
        </a:xfrm>
      </p:grpSpPr>
      <p:sp>
        <p:nvSpPr>
          <p:cNvPr id="90" name="Google Shape;90;p10"/>
          <p:cNvSpPr/>
          <p:nvPr/>
        </p:nvSpPr>
        <p:spPr>
          <a:xfrm>
            <a:off x="640080" y="502920"/>
            <a:ext cx="804672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1B2E"/>
              </a:buClr>
              <a:buSzPts val="2700"/>
              <a:buFont typeface="Cambria"/>
              <a:buNone/>
            </a:pPr>
            <a:r>
              <a:rPr b="1" i="0" lang="en-US" sz="2700" u="none" cap="none" strike="noStrike">
                <a:solidFill>
                  <a:srgbClr val="1F1B2E"/>
                </a:solidFill>
                <a:latin typeface="Cambria"/>
                <a:ea typeface="Cambria"/>
                <a:cs typeface="Cambria"/>
                <a:sym typeface="Cambria"/>
              </a:rPr>
              <a:t>Then say it shorter.</a:t>
            </a:r>
            <a:endParaRPr b="0" i="0" sz="2700" u="none" cap="none" strike="noStrike">
              <a:solidFill>
                <a:schemeClr val="dk1"/>
              </a:solidFill>
              <a:latin typeface="Calibri"/>
              <a:ea typeface="Calibri"/>
              <a:cs typeface="Calibri"/>
              <a:sym typeface="Calibri"/>
            </a:endParaRPr>
          </a:p>
        </p:txBody>
      </p:sp>
      <p:sp>
        <p:nvSpPr>
          <p:cNvPr id="91" name="Google Shape;91;p10"/>
          <p:cNvSpPr/>
          <p:nvPr/>
        </p:nvSpPr>
        <p:spPr>
          <a:xfrm>
            <a:off x="640080" y="1554480"/>
            <a:ext cx="73152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4502E"/>
              </a:buClr>
              <a:buSzPts val="1300"/>
              <a:buFont typeface="Calibri"/>
              <a:buNone/>
            </a:pPr>
            <a:r>
              <a:rPr b="1" i="0" lang="en-US" sz="1300" u="none" cap="none" strike="noStrike">
                <a:solidFill>
                  <a:srgbClr val="C4502E"/>
                </a:solidFill>
                <a:latin typeface="Calibri"/>
                <a:ea typeface="Calibri"/>
                <a:cs typeface="Calibri"/>
                <a:sym typeface="Calibri"/>
              </a:rPr>
              <a:t>TEN SECONDS</a:t>
            </a:r>
            <a:endParaRPr b="0" i="0" sz="1300" u="none" cap="none" strike="noStrike">
              <a:solidFill>
                <a:schemeClr val="dk1"/>
              </a:solidFill>
              <a:latin typeface="Calibri"/>
              <a:ea typeface="Calibri"/>
              <a:cs typeface="Calibri"/>
              <a:sym typeface="Calibri"/>
            </a:endParaRPr>
          </a:p>
        </p:txBody>
      </p:sp>
      <p:sp>
        <p:nvSpPr>
          <p:cNvPr id="92" name="Google Shape;92;p10"/>
          <p:cNvSpPr/>
          <p:nvPr/>
        </p:nvSpPr>
        <p:spPr>
          <a:xfrm>
            <a:off x="640080" y="1920240"/>
            <a:ext cx="786384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1B2E"/>
              </a:buClr>
              <a:buSzPts val="2200"/>
              <a:buFont typeface="Cambria"/>
              <a:buNone/>
            </a:pPr>
            <a:r>
              <a:rPr b="0" i="1" lang="en-US" sz="2200" u="none" cap="none" strike="noStrike">
                <a:solidFill>
                  <a:srgbClr val="1F1B2E"/>
                </a:solidFill>
                <a:latin typeface="Cambria"/>
                <a:ea typeface="Cambria"/>
                <a:cs typeface="Cambria"/>
                <a:sym typeface="Cambria"/>
              </a:rPr>
              <a:t>We help [who] do [what], so they can [outcome].</a:t>
            </a:r>
            <a:endParaRPr b="0" i="0" sz="2200" u="none" cap="none" strike="noStrike">
              <a:solidFill>
                <a:schemeClr val="dk1"/>
              </a:solidFill>
              <a:latin typeface="Calibri"/>
              <a:ea typeface="Calibri"/>
              <a:cs typeface="Calibri"/>
              <a:sym typeface="Calibri"/>
            </a:endParaRPr>
          </a:p>
        </p:txBody>
      </p:sp>
      <p:sp>
        <p:nvSpPr>
          <p:cNvPr id="93" name="Google Shape;93;p10"/>
          <p:cNvSpPr/>
          <p:nvPr/>
        </p:nvSpPr>
        <p:spPr>
          <a:xfrm>
            <a:off x="640080" y="2883675"/>
            <a:ext cx="73152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4502E"/>
              </a:buClr>
              <a:buSzPts val="1300"/>
              <a:buFont typeface="Calibri"/>
              <a:buNone/>
            </a:pPr>
            <a:r>
              <a:rPr b="1" i="0" lang="en-US" sz="1300" u="none" cap="none" strike="noStrike">
                <a:solidFill>
                  <a:srgbClr val="C4502E"/>
                </a:solidFill>
                <a:latin typeface="Calibri"/>
                <a:ea typeface="Calibri"/>
                <a:cs typeface="Calibri"/>
                <a:sym typeface="Calibri"/>
              </a:rPr>
              <a:t>THIRTY SECONDS</a:t>
            </a:r>
            <a:endParaRPr b="0" i="0" sz="1300" u="none" cap="none" strike="noStrike">
              <a:solidFill>
                <a:schemeClr val="dk1"/>
              </a:solidFill>
              <a:latin typeface="Calibri"/>
              <a:ea typeface="Calibri"/>
              <a:cs typeface="Calibri"/>
              <a:sym typeface="Calibri"/>
            </a:endParaRPr>
          </a:p>
        </p:txBody>
      </p:sp>
      <p:sp>
        <p:nvSpPr>
          <p:cNvPr id="94" name="Google Shape;94;p10"/>
          <p:cNvSpPr/>
          <p:nvPr/>
        </p:nvSpPr>
        <p:spPr>
          <a:xfrm>
            <a:off x="640055" y="4138735"/>
            <a:ext cx="78639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1B2E"/>
              </a:buClr>
              <a:buSzPts val="2200"/>
              <a:buFont typeface="Cambria"/>
              <a:buNone/>
            </a:pPr>
            <a:r>
              <a:rPr i="1" lang="en-US" sz="2200">
                <a:solidFill>
                  <a:srgbClr val="1F1B2E"/>
                </a:solidFill>
                <a:latin typeface="Cambria"/>
                <a:ea typeface="Cambria"/>
                <a:cs typeface="Cambria"/>
                <a:sym typeface="Cambria"/>
              </a:rPr>
              <a:t>Three-part value prop:</a:t>
            </a:r>
            <a:endParaRPr i="1" sz="2200">
              <a:solidFill>
                <a:srgbClr val="1F1B2E"/>
              </a:solidFill>
              <a:latin typeface="Cambria"/>
              <a:ea typeface="Cambria"/>
              <a:cs typeface="Cambria"/>
              <a:sym typeface="Cambria"/>
            </a:endParaRPr>
          </a:p>
          <a:p>
            <a:pPr indent="0" lvl="0" marL="0" marR="0" rtl="0" algn="l">
              <a:spcBef>
                <a:spcPts val="0"/>
              </a:spcBef>
              <a:spcAft>
                <a:spcPts val="0"/>
              </a:spcAft>
              <a:buClr>
                <a:srgbClr val="1F1B2E"/>
              </a:buClr>
              <a:buSzPts val="2200"/>
              <a:buFont typeface="Cambria"/>
              <a:buNone/>
            </a:pPr>
            <a:r>
              <a:t/>
            </a:r>
            <a:endParaRPr i="1" sz="400">
              <a:solidFill>
                <a:srgbClr val="1F1B2E"/>
              </a:solidFill>
              <a:latin typeface="Cambria"/>
              <a:ea typeface="Cambria"/>
              <a:cs typeface="Cambria"/>
              <a:sym typeface="Cambria"/>
            </a:endParaRPr>
          </a:p>
          <a:p>
            <a:pPr indent="0" lvl="0" marL="0" rtl="0" algn="l">
              <a:lnSpc>
                <a:spcPct val="200000"/>
              </a:lnSpc>
              <a:spcBef>
                <a:spcPts val="0"/>
              </a:spcBef>
              <a:spcAft>
                <a:spcPts val="0"/>
              </a:spcAft>
              <a:buClr>
                <a:schemeClr val="dk1"/>
              </a:buClr>
              <a:buSzPts val="1100"/>
              <a:buFont typeface="Arial"/>
              <a:buNone/>
            </a:pPr>
            <a:r>
              <a:rPr b="1" lang="en-US" sz="1100">
                <a:solidFill>
                  <a:schemeClr val="dk1"/>
                </a:solidFill>
              </a:rPr>
              <a:t>Faster</a:t>
            </a:r>
            <a:r>
              <a:rPr lang="en-US" sz="1100">
                <a:solidFill>
                  <a:schemeClr val="dk1"/>
                </a:solidFill>
              </a:rPr>
              <a:t>: The chair fills in minutes, not days.</a:t>
            </a:r>
            <a:endParaRPr sz="1100">
              <a:solidFill>
                <a:schemeClr val="dk1"/>
              </a:solidFill>
            </a:endParaRPr>
          </a:p>
          <a:p>
            <a:pPr indent="0" lvl="0" marL="0" rtl="0" algn="l">
              <a:lnSpc>
                <a:spcPct val="200000"/>
              </a:lnSpc>
              <a:spcBef>
                <a:spcPts val="0"/>
              </a:spcBef>
              <a:spcAft>
                <a:spcPts val="0"/>
              </a:spcAft>
              <a:buClr>
                <a:schemeClr val="dk1"/>
              </a:buClr>
              <a:buSzPts val="1100"/>
              <a:buFont typeface="Arial"/>
              <a:buNone/>
            </a:pPr>
            <a:r>
              <a:rPr b="1" lang="en-US" sz="1100">
                <a:solidFill>
                  <a:schemeClr val="dk1"/>
                </a:solidFill>
              </a:rPr>
              <a:t>Cheaper</a:t>
            </a:r>
            <a:r>
              <a:rPr lang="en-US" sz="1100">
                <a:solidFill>
                  <a:schemeClr val="dk1"/>
                </a:solidFill>
              </a:rPr>
              <a:t>: You stop eating $200 every no-show.</a:t>
            </a:r>
            <a:endParaRPr sz="1100">
              <a:solidFill>
                <a:schemeClr val="dk1"/>
              </a:solidFill>
            </a:endParaRPr>
          </a:p>
          <a:p>
            <a:pPr indent="0" lvl="0" marL="0" rtl="0" algn="l">
              <a:lnSpc>
                <a:spcPct val="200000"/>
              </a:lnSpc>
              <a:spcBef>
                <a:spcPts val="0"/>
              </a:spcBef>
              <a:spcAft>
                <a:spcPts val="0"/>
              </a:spcAft>
              <a:buClr>
                <a:schemeClr val="dk1"/>
              </a:buClr>
              <a:buSzPts val="1100"/>
              <a:buFont typeface="Arial"/>
              <a:buNone/>
            </a:pPr>
            <a:r>
              <a:rPr b="1" lang="en-US" sz="1100">
                <a:solidFill>
                  <a:schemeClr val="dk1"/>
                </a:solidFill>
              </a:rPr>
              <a:t>Only us</a:t>
            </a:r>
            <a:r>
              <a:rPr lang="en-US" sz="1100">
                <a:solidFill>
                  <a:schemeClr val="dk1"/>
                </a:solidFill>
              </a:rPr>
              <a:t>: We text the waitlist automatically; the front desk does nothing.</a:t>
            </a:r>
            <a:endParaRPr sz="1100">
              <a:solidFill>
                <a:schemeClr val="dk1"/>
              </a:solidFill>
            </a:endParaRPr>
          </a:p>
          <a:p>
            <a:pPr indent="0" lvl="0" marL="0" marR="0" rtl="0" algn="l">
              <a:spcBef>
                <a:spcPts val="0"/>
              </a:spcBef>
              <a:spcAft>
                <a:spcPts val="0"/>
              </a:spcAft>
              <a:buClr>
                <a:srgbClr val="1F1B2E"/>
              </a:buClr>
              <a:buSzPts val="2200"/>
              <a:buFont typeface="Cambria"/>
              <a:buNone/>
            </a:pPr>
            <a:r>
              <a:t/>
            </a:r>
            <a:endParaRPr i="1" sz="2200">
              <a:solidFill>
                <a:srgbClr val="1F1B2E"/>
              </a:solidFill>
              <a:latin typeface="Cambria"/>
              <a:ea typeface="Cambria"/>
              <a:cs typeface="Cambria"/>
              <a:sym typeface="Cambria"/>
            </a:endParaRPr>
          </a:p>
          <a:p>
            <a:pPr indent="0" lvl="0" marL="0" marR="0" rtl="0" algn="l">
              <a:spcBef>
                <a:spcPts val="0"/>
              </a:spcBef>
              <a:spcAft>
                <a:spcPts val="0"/>
              </a:spcAft>
              <a:buClr>
                <a:srgbClr val="1F1B2E"/>
              </a:buClr>
              <a:buSzPts val="2200"/>
              <a:buFont typeface="Cambria"/>
              <a:buNone/>
            </a:pPr>
            <a:r>
              <a:t/>
            </a:r>
            <a:endParaRPr i="1" sz="2200">
              <a:solidFill>
                <a:srgbClr val="1F1B2E"/>
              </a:solidFill>
              <a:latin typeface="Cambria"/>
              <a:ea typeface="Cambria"/>
              <a:cs typeface="Cambria"/>
              <a:sym typeface="Cambria"/>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9" name="Shape 99"/>
        <p:cNvGrpSpPr/>
        <p:nvPr/>
      </p:nvGrpSpPr>
      <p:grpSpPr>
        <a:xfrm>
          <a:off x="0" y="0"/>
          <a:ext cx="0" cy="0"/>
          <a:chOff x="0" y="0"/>
          <a:chExt cx="0" cy="0"/>
        </a:xfrm>
      </p:grpSpPr>
      <p:sp>
        <p:nvSpPr>
          <p:cNvPr id="100" name="Google Shape;100;p11"/>
          <p:cNvSpPr/>
          <p:nvPr/>
        </p:nvSpPr>
        <p:spPr>
          <a:xfrm>
            <a:off x="640080" y="502920"/>
            <a:ext cx="804672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1B2E"/>
              </a:buClr>
              <a:buSzPts val="2700"/>
              <a:buFont typeface="Cambria"/>
              <a:buNone/>
            </a:pPr>
            <a:r>
              <a:rPr b="1" lang="en-US" sz="2700">
                <a:solidFill>
                  <a:srgbClr val="1F1B2E"/>
                </a:solidFill>
                <a:latin typeface="Cambria"/>
                <a:ea typeface="Cambria"/>
                <a:cs typeface="Cambria"/>
                <a:sym typeface="Cambria"/>
              </a:rPr>
              <a:t>Three reasons a story breaks:</a:t>
            </a:r>
            <a:endParaRPr b="0" i="0" sz="2700" u="none" cap="none" strike="noStrike">
              <a:solidFill>
                <a:schemeClr val="dk1"/>
              </a:solidFill>
              <a:latin typeface="Calibri"/>
              <a:ea typeface="Calibri"/>
              <a:cs typeface="Calibri"/>
              <a:sym typeface="Calibri"/>
            </a:endParaRPr>
          </a:p>
        </p:txBody>
      </p:sp>
      <p:sp>
        <p:nvSpPr>
          <p:cNvPr id="101" name="Google Shape;101;p11"/>
          <p:cNvSpPr/>
          <p:nvPr/>
        </p:nvSpPr>
        <p:spPr>
          <a:xfrm>
            <a:off x="777240" y="1572768"/>
            <a:ext cx="640080" cy="640080"/>
          </a:xfrm>
          <a:prstGeom prst="ellipse">
            <a:avLst/>
          </a:prstGeom>
          <a:solidFill>
            <a:srgbClr val="C77F1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1"/>
          <p:cNvSpPr/>
          <p:nvPr/>
        </p:nvSpPr>
        <p:spPr>
          <a:xfrm>
            <a:off x="777240" y="1572768"/>
            <a:ext cx="640080"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mbria"/>
              <a:buNone/>
            </a:pPr>
            <a:r>
              <a:rPr b="1" i="0" lang="en-US" sz="1800" u="none" cap="none" strike="noStrike">
                <a:solidFill>
                  <a:srgbClr val="FFFFFF"/>
                </a:solidFill>
                <a:latin typeface="Cambria"/>
                <a:ea typeface="Cambria"/>
                <a:cs typeface="Cambria"/>
                <a:sym typeface="Cambria"/>
              </a:rPr>
              <a:t>1</a:t>
            </a:r>
            <a:endParaRPr b="0" i="0" sz="1800" u="none" cap="none" strike="noStrike">
              <a:solidFill>
                <a:schemeClr val="dk1"/>
              </a:solidFill>
              <a:latin typeface="Calibri"/>
              <a:ea typeface="Calibri"/>
              <a:cs typeface="Calibri"/>
              <a:sym typeface="Calibri"/>
            </a:endParaRPr>
          </a:p>
        </p:txBody>
      </p:sp>
      <p:sp>
        <p:nvSpPr>
          <p:cNvPr id="103" name="Google Shape;103;p11"/>
          <p:cNvSpPr/>
          <p:nvPr/>
        </p:nvSpPr>
        <p:spPr>
          <a:xfrm>
            <a:off x="1691640" y="1463040"/>
            <a:ext cx="676656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1B2E"/>
              </a:buClr>
              <a:buSzPts val="2800"/>
              <a:buFont typeface="Cambria"/>
              <a:buNone/>
            </a:pPr>
            <a:r>
              <a:rPr b="1" i="0" lang="en-US" sz="2800" u="none" cap="none" strike="noStrike">
                <a:solidFill>
                  <a:srgbClr val="1F1B2E"/>
                </a:solidFill>
                <a:latin typeface="Cambria"/>
                <a:ea typeface="Cambria"/>
                <a:cs typeface="Cambria"/>
                <a:sym typeface="Cambria"/>
              </a:rPr>
              <a:t>No Act One</a:t>
            </a:r>
            <a:endParaRPr b="0" i="0" sz="2800" u="none" cap="none" strike="noStrike">
              <a:solidFill>
                <a:schemeClr val="dk1"/>
              </a:solidFill>
              <a:latin typeface="Calibri"/>
              <a:ea typeface="Calibri"/>
              <a:cs typeface="Calibri"/>
              <a:sym typeface="Calibri"/>
            </a:endParaRPr>
          </a:p>
        </p:txBody>
      </p:sp>
      <p:sp>
        <p:nvSpPr>
          <p:cNvPr id="104" name="Google Shape;104;p11"/>
          <p:cNvSpPr/>
          <p:nvPr/>
        </p:nvSpPr>
        <p:spPr>
          <a:xfrm>
            <a:off x="1709928" y="2011680"/>
            <a:ext cx="67665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E6880"/>
              </a:buClr>
              <a:buSzPts val="1400"/>
              <a:buFont typeface="Calibri"/>
              <a:buNone/>
            </a:pPr>
            <a:r>
              <a:rPr b="0" i="1" lang="en-US" sz="1400" u="none" cap="none" strike="noStrike">
                <a:solidFill>
                  <a:srgbClr val="6E6880"/>
                </a:solidFill>
                <a:latin typeface="Calibri"/>
                <a:ea typeface="Calibri"/>
                <a:cs typeface="Calibri"/>
                <a:sym typeface="Calibri"/>
              </a:rPr>
              <a:t>you opened on yourself</a:t>
            </a:r>
            <a:r>
              <a:rPr i="1" lang="en-US">
                <a:solidFill>
                  <a:srgbClr val="6E6880"/>
                </a:solidFill>
                <a:latin typeface="Calibri"/>
                <a:ea typeface="Calibri"/>
                <a:cs typeface="Calibri"/>
                <a:sym typeface="Calibri"/>
              </a:rPr>
              <a:t> or </a:t>
            </a:r>
            <a:r>
              <a:rPr i="1" lang="en-US">
                <a:solidFill>
                  <a:srgbClr val="6E6880"/>
                </a:solidFill>
                <a:latin typeface="Calibri"/>
                <a:ea typeface="Calibri"/>
                <a:cs typeface="Calibri"/>
                <a:sym typeface="Calibri"/>
              </a:rPr>
              <a:t>your</a:t>
            </a:r>
            <a:r>
              <a:rPr i="1" lang="en-US">
                <a:solidFill>
                  <a:srgbClr val="6E6880"/>
                </a:solidFill>
                <a:latin typeface="Calibri"/>
                <a:ea typeface="Calibri"/>
                <a:cs typeface="Calibri"/>
                <a:sym typeface="Calibri"/>
              </a:rPr>
              <a:t> product, </a:t>
            </a:r>
            <a:r>
              <a:rPr b="0" i="1" lang="en-US" sz="1400" u="none" cap="none" strike="noStrike">
                <a:solidFill>
                  <a:srgbClr val="6E6880"/>
                </a:solidFill>
                <a:latin typeface="Calibri"/>
                <a:ea typeface="Calibri"/>
                <a:cs typeface="Calibri"/>
                <a:sym typeface="Calibri"/>
              </a:rPr>
              <a:t>not </a:t>
            </a:r>
            <a:r>
              <a:rPr i="1" lang="en-US">
                <a:solidFill>
                  <a:srgbClr val="6E6880"/>
                </a:solidFill>
                <a:latin typeface="Calibri"/>
                <a:ea typeface="Calibri"/>
                <a:cs typeface="Calibri"/>
                <a:sym typeface="Calibri"/>
              </a:rPr>
              <a:t>on the hero of your story</a:t>
            </a:r>
            <a:endParaRPr b="0" i="0" sz="1400" u="none" cap="none" strike="noStrike">
              <a:solidFill>
                <a:schemeClr val="dk1"/>
              </a:solidFill>
              <a:latin typeface="Calibri"/>
              <a:ea typeface="Calibri"/>
              <a:cs typeface="Calibri"/>
              <a:sym typeface="Calibri"/>
            </a:endParaRPr>
          </a:p>
        </p:txBody>
      </p:sp>
      <p:sp>
        <p:nvSpPr>
          <p:cNvPr id="105" name="Google Shape;105;p11"/>
          <p:cNvSpPr/>
          <p:nvPr/>
        </p:nvSpPr>
        <p:spPr>
          <a:xfrm>
            <a:off x="777240" y="2715768"/>
            <a:ext cx="640080" cy="640080"/>
          </a:xfrm>
          <a:prstGeom prst="ellipse">
            <a:avLst/>
          </a:prstGeom>
          <a:solidFill>
            <a:srgbClr val="C77F1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11"/>
          <p:cNvSpPr/>
          <p:nvPr/>
        </p:nvSpPr>
        <p:spPr>
          <a:xfrm>
            <a:off x="777240" y="2715768"/>
            <a:ext cx="640080"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mbria"/>
              <a:buNone/>
            </a:pPr>
            <a:r>
              <a:rPr b="1" i="0" lang="en-US" sz="1800" u="none" cap="none" strike="noStrike">
                <a:solidFill>
                  <a:srgbClr val="FFFFFF"/>
                </a:solidFill>
                <a:latin typeface="Cambria"/>
                <a:ea typeface="Cambria"/>
                <a:cs typeface="Cambria"/>
                <a:sym typeface="Cambria"/>
              </a:rPr>
              <a:t>2</a:t>
            </a:r>
            <a:endParaRPr b="0" i="0" sz="1800" u="none" cap="none" strike="noStrike">
              <a:solidFill>
                <a:schemeClr val="dk1"/>
              </a:solidFill>
              <a:latin typeface="Calibri"/>
              <a:ea typeface="Calibri"/>
              <a:cs typeface="Calibri"/>
              <a:sym typeface="Calibri"/>
            </a:endParaRPr>
          </a:p>
        </p:txBody>
      </p:sp>
      <p:sp>
        <p:nvSpPr>
          <p:cNvPr id="107" name="Google Shape;107;p11"/>
          <p:cNvSpPr/>
          <p:nvPr/>
        </p:nvSpPr>
        <p:spPr>
          <a:xfrm>
            <a:off x="1691640" y="2606040"/>
            <a:ext cx="676656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1B2E"/>
              </a:buClr>
              <a:buSzPts val="2800"/>
              <a:buFont typeface="Cambria"/>
              <a:buNone/>
            </a:pPr>
            <a:r>
              <a:rPr b="1" i="0" lang="en-US" sz="2800" u="none" cap="none" strike="noStrike">
                <a:solidFill>
                  <a:srgbClr val="1F1B2E"/>
                </a:solidFill>
                <a:latin typeface="Cambria"/>
                <a:ea typeface="Cambria"/>
                <a:cs typeface="Cambria"/>
                <a:sym typeface="Cambria"/>
              </a:rPr>
              <a:t>Two heroes</a:t>
            </a:r>
            <a:endParaRPr b="0" i="0" sz="2800" u="none" cap="none" strike="noStrike">
              <a:solidFill>
                <a:schemeClr val="dk1"/>
              </a:solidFill>
              <a:latin typeface="Calibri"/>
              <a:ea typeface="Calibri"/>
              <a:cs typeface="Calibri"/>
              <a:sym typeface="Calibri"/>
            </a:endParaRPr>
          </a:p>
        </p:txBody>
      </p:sp>
      <p:sp>
        <p:nvSpPr>
          <p:cNvPr id="108" name="Google Shape;108;p11"/>
          <p:cNvSpPr/>
          <p:nvPr/>
        </p:nvSpPr>
        <p:spPr>
          <a:xfrm>
            <a:off x="1709928" y="3154680"/>
            <a:ext cx="67665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E6880"/>
              </a:buClr>
              <a:buSzPts val="1400"/>
              <a:buFont typeface="Calibri"/>
              <a:buNone/>
            </a:pPr>
            <a:r>
              <a:rPr i="1" lang="en-US">
                <a:solidFill>
                  <a:srgbClr val="6E6880"/>
                </a:solidFill>
                <a:latin typeface="Calibri"/>
                <a:ea typeface="Calibri"/>
                <a:cs typeface="Calibri"/>
                <a:sym typeface="Calibri"/>
              </a:rPr>
              <a:t>all things to all people, a </a:t>
            </a:r>
            <a:r>
              <a:rPr b="0" i="1" lang="en-US" sz="1400" u="none" cap="none" strike="noStrike">
                <a:solidFill>
                  <a:srgbClr val="6E6880"/>
                </a:solidFill>
                <a:latin typeface="Calibri"/>
                <a:ea typeface="Calibri"/>
                <a:cs typeface="Calibri"/>
                <a:sym typeface="Calibri"/>
              </a:rPr>
              <a:t>pivot or two sides</a:t>
            </a:r>
            <a:r>
              <a:rPr i="1" lang="en-US">
                <a:solidFill>
                  <a:srgbClr val="6E6880"/>
                </a:solidFill>
                <a:latin typeface="Calibri"/>
                <a:ea typeface="Calibri"/>
                <a:cs typeface="Calibri"/>
                <a:sym typeface="Calibri"/>
              </a:rPr>
              <a:t> - P</a:t>
            </a:r>
            <a:r>
              <a:rPr b="0" i="1" lang="en-US" sz="1400" u="none" cap="none" strike="noStrike">
                <a:solidFill>
                  <a:srgbClr val="6E6880"/>
                </a:solidFill>
                <a:latin typeface="Calibri"/>
                <a:ea typeface="Calibri"/>
                <a:cs typeface="Calibri"/>
                <a:sym typeface="Calibri"/>
              </a:rPr>
              <a:t>ick one</a:t>
            </a:r>
            <a:r>
              <a:rPr i="1" lang="en-US">
                <a:solidFill>
                  <a:srgbClr val="6E6880"/>
                </a:solidFill>
                <a:latin typeface="Calibri"/>
                <a:ea typeface="Calibri"/>
                <a:cs typeface="Calibri"/>
                <a:sym typeface="Calibri"/>
              </a:rPr>
              <a:t> and stick with it</a:t>
            </a:r>
            <a:endParaRPr b="0" i="0" sz="1400" u="none" cap="none" strike="noStrike">
              <a:solidFill>
                <a:schemeClr val="dk1"/>
              </a:solidFill>
              <a:latin typeface="Calibri"/>
              <a:ea typeface="Calibri"/>
              <a:cs typeface="Calibri"/>
              <a:sym typeface="Calibri"/>
            </a:endParaRPr>
          </a:p>
        </p:txBody>
      </p:sp>
      <p:sp>
        <p:nvSpPr>
          <p:cNvPr id="109" name="Google Shape;109;p11"/>
          <p:cNvSpPr/>
          <p:nvPr/>
        </p:nvSpPr>
        <p:spPr>
          <a:xfrm>
            <a:off x="777240" y="3858768"/>
            <a:ext cx="640080" cy="640080"/>
          </a:xfrm>
          <a:prstGeom prst="ellipse">
            <a:avLst/>
          </a:prstGeom>
          <a:solidFill>
            <a:srgbClr val="C77F1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1"/>
          <p:cNvSpPr/>
          <p:nvPr/>
        </p:nvSpPr>
        <p:spPr>
          <a:xfrm>
            <a:off x="777240" y="3858768"/>
            <a:ext cx="640080"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mbria"/>
              <a:buNone/>
            </a:pPr>
            <a:r>
              <a:rPr b="1" i="0" lang="en-US" sz="1800" u="none" cap="none" strike="noStrike">
                <a:solidFill>
                  <a:srgbClr val="FFFFFF"/>
                </a:solidFill>
                <a:latin typeface="Cambria"/>
                <a:ea typeface="Cambria"/>
                <a:cs typeface="Cambria"/>
                <a:sym typeface="Cambria"/>
              </a:rPr>
              <a:t>3</a:t>
            </a:r>
            <a:endParaRPr b="0" i="0" sz="1800" u="none" cap="none" strike="noStrike">
              <a:solidFill>
                <a:schemeClr val="dk1"/>
              </a:solidFill>
              <a:latin typeface="Calibri"/>
              <a:ea typeface="Calibri"/>
              <a:cs typeface="Calibri"/>
              <a:sym typeface="Calibri"/>
            </a:endParaRPr>
          </a:p>
        </p:txBody>
      </p:sp>
      <p:sp>
        <p:nvSpPr>
          <p:cNvPr id="111" name="Google Shape;111;p11"/>
          <p:cNvSpPr/>
          <p:nvPr/>
        </p:nvSpPr>
        <p:spPr>
          <a:xfrm>
            <a:off x="1691640" y="3749040"/>
            <a:ext cx="676656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1B2E"/>
              </a:buClr>
              <a:buSzPts val="2800"/>
              <a:buFont typeface="Cambria"/>
              <a:buNone/>
            </a:pPr>
            <a:r>
              <a:rPr b="1" i="0" lang="en-US" sz="2800" u="none" cap="none" strike="noStrike">
                <a:solidFill>
                  <a:srgbClr val="1F1B2E"/>
                </a:solidFill>
                <a:latin typeface="Cambria"/>
                <a:ea typeface="Cambria"/>
                <a:cs typeface="Cambria"/>
                <a:sym typeface="Cambria"/>
              </a:rPr>
              <a:t>Fog over the hook</a:t>
            </a:r>
            <a:endParaRPr b="0" i="0" sz="2800" u="none" cap="none" strike="noStrike">
              <a:solidFill>
                <a:schemeClr val="dk1"/>
              </a:solidFill>
              <a:latin typeface="Calibri"/>
              <a:ea typeface="Calibri"/>
              <a:cs typeface="Calibri"/>
              <a:sym typeface="Calibri"/>
            </a:endParaRPr>
          </a:p>
        </p:txBody>
      </p:sp>
      <p:sp>
        <p:nvSpPr>
          <p:cNvPr id="112" name="Google Shape;112;p11"/>
          <p:cNvSpPr/>
          <p:nvPr/>
        </p:nvSpPr>
        <p:spPr>
          <a:xfrm>
            <a:off x="1709928" y="4297680"/>
            <a:ext cx="67665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E6880"/>
              </a:buClr>
              <a:buSzPts val="1400"/>
              <a:buFont typeface="Calibri"/>
              <a:buNone/>
            </a:pPr>
            <a:r>
              <a:rPr b="0" i="1" lang="en-US" sz="1400" u="none" cap="none" strike="noStrike">
                <a:solidFill>
                  <a:srgbClr val="6E6880"/>
                </a:solidFill>
                <a:latin typeface="Calibri"/>
                <a:ea typeface="Calibri"/>
                <a:cs typeface="Calibri"/>
                <a:sym typeface="Calibri"/>
              </a:rPr>
              <a:t>plain words first; </a:t>
            </a:r>
            <a:r>
              <a:rPr i="1" lang="en-US">
                <a:solidFill>
                  <a:srgbClr val="6E6880"/>
                </a:solidFill>
                <a:latin typeface="Calibri"/>
                <a:ea typeface="Calibri"/>
                <a:cs typeface="Calibri"/>
                <a:sym typeface="Calibri"/>
              </a:rPr>
              <a:t>great stories don’t use </a:t>
            </a:r>
            <a:r>
              <a:rPr b="0" i="1" lang="en-US" sz="1400" u="none" cap="none" strike="noStrike">
                <a:solidFill>
                  <a:srgbClr val="6E6880"/>
                </a:solidFill>
                <a:latin typeface="Calibri"/>
                <a:ea typeface="Calibri"/>
                <a:cs typeface="Calibri"/>
                <a:sym typeface="Calibri"/>
              </a:rPr>
              <a:t>jargon </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7" name="Shape 117"/>
        <p:cNvGrpSpPr/>
        <p:nvPr/>
      </p:nvGrpSpPr>
      <p:grpSpPr>
        <a:xfrm>
          <a:off x="0" y="0"/>
          <a:ext cx="0" cy="0"/>
          <a:chOff x="0" y="0"/>
          <a:chExt cx="0" cy="0"/>
        </a:xfrm>
      </p:grpSpPr>
      <p:sp>
        <p:nvSpPr>
          <p:cNvPr id="118" name="Google Shape;118;p12"/>
          <p:cNvSpPr/>
          <p:nvPr/>
        </p:nvSpPr>
        <p:spPr>
          <a:xfrm>
            <a:off x="640080" y="502920"/>
            <a:ext cx="8046600" cy="54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1B2E"/>
              </a:buClr>
              <a:buSzPts val="2700"/>
              <a:buFont typeface="Cambria"/>
              <a:buNone/>
            </a:pPr>
            <a:r>
              <a:rPr b="1" lang="en-US" sz="2700">
                <a:solidFill>
                  <a:srgbClr val="1F1B2E"/>
                </a:solidFill>
                <a:latin typeface="Cambria"/>
                <a:ea typeface="Cambria"/>
                <a:cs typeface="Cambria"/>
                <a:sym typeface="Cambria"/>
              </a:rPr>
              <a:t>What are the three keys?</a:t>
            </a:r>
            <a:endParaRPr b="0" i="0" sz="2700" u="none" cap="none" strike="noStrike">
              <a:solidFill>
                <a:schemeClr val="dk1"/>
              </a:solidFill>
              <a:latin typeface="Calibri"/>
              <a:ea typeface="Calibri"/>
              <a:cs typeface="Calibri"/>
              <a:sym typeface="Calibri"/>
            </a:endParaRPr>
          </a:p>
        </p:txBody>
      </p:sp>
      <p:sp>
        <p:nvSpPr>
          <p:cNvPr id="119" name="Google Shape;119;p12"/>
          <p:cNvSpPr/>
          <p:nvPr/>
        </p:nvSpPr>
        <p:spPr>
          <a:xfrm>
            <a:off x="777240" y="1572768"/>
            <a:ext cx="640200" cy="640200"/>
          </a:xfrm>
          <a:prstGeom prst="ellipse">
            <a:avLst/>
          </a:prstGeom>
          <a:solidFill>
            <a:srgbClr val="C77F1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2"/>
          <p:cNvSpPr/>
          <p:nvPr/>
        </p:nvSpPr>
        <p:spPr>
          <a:xfrm>
            <a:off x="777240" y="1572768"/>
            <a:ext cx="640200" cy="640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mbria"/>
              <a:buNone/>
            </a:pPr>
            <a:r>
              <a:rPr b="1" i="0" lang="en-US" sz="1800" u="none" cap="none" strike="noStrike">
                <a:solidFill>
                  <a:srgbClr val="FFFFFF"/>
                </a:solidFill>
                <a:latin typeface="Cambria"/>
                <a:ea typeface="Cambria"/>
                <a:cs typeface="Cambria"/>
                <a:sym typeface="Cambria"/>
              </a:rPr>
              <a:t>1</a:t>
            </a:r>
            <a:endParaRPr b="0" i="0" sz="1800" u="none" cap="none" strike="noStrike">
              <a:solidFill>
                <a:schemeClr val="dk1"/>
              </a:solidFill>
              <a:latin typeface="Calibri"/>
              <a:ea typeface="Calibri"/>
              <a:cs typeface="Calibri"/>
              <a:sym typeface="Calibri"/>
            </a:endParaRPr>
          </a:p>
        </p:txBody>
      </p:sp>
      <p:sp>
        <p:nvSpPr>
          <p:cNvPr id="121" name="Google Shape;121;p12"/>
          <p:cNvSpPr/>
          <p:nvPr/>
        </p:nvSpPr>
        <p:spPr>
          <a:xfrm>
            <a:off x="1691640" y="1463040"/>
            <a:ext cx="67665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1B2E"/>
              </a:buClr>
              <a:buSzPts val="2800"/>
              <a:buFont typeface="Cambria"/>
              <a:buNone/>
            </a:pPr>
            <a:r>
              <a:rPr b="1" lang="en-US" sz="2800">
                <a:solidFill>
                  <a:srgbClr val="1F1B2E"/>
                </a:solidFill>
                <a:latin typeface="Cambria"/>
                <a:ea typeface="Cambria"/>
                <a:cs typeface="Cambria"/>
                <a:sym typeface="Cambria"/>
              </a:rPr>
              <a:t>A hero</a:t>
            </a:r>
            <a:endParaRPr b="0" i="0" sz="2800" u="none" cap="none" strike="noStrike">
              <a:solidFill>
                <a:schemeClr val="dk1"/>
              </a:solidFill>
              <a:latin typeface="Calibri"/>
              <a:ea typeface="Calibri"/>
              <a:cs typeface="Calibri"/>
              <a:sym typeface="Calibri"/>
            </a:endParaRPr>
          </a:p>
        </p:txBody>
      </p:sp>
      <p:sp>
        <p:nvSpPr>
          <p:cNvPr id="122" name="Google Shape;122;p12"/>
          <p:cNvSpPr/>
          <p:nvPr/>
        </p:nvSpPr>
        <p:spPr>
          <a:xfrm>
            <a:off x="1709928" y="2011680"/>
            <a:ext cx="67665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E6880"/>
              </a:buClr>
              <a:buSzPts val="1400"/>
              <a:buFont typeface="Calibri"/>
              <a:buNone/>
            </a:pPr>
            <a:r>
              <a:rPr i="1" lang="en-US">
                <a:solidFill>
                  <a:srgbClr val="6E6880"/>
                </a:solidFill>
                <a:latin typeface="Calibri"/>
                <a:ea typeface="Calibri"/>
                <a:cs typeface="Calibri"/>
                <a:sym typeface="Calibri"/>
              </a:rPr>
              <a:t>If the hero (your customer) is not recognizable, no one will care</a:t>
            </a:r>
            <a:endParaRPr b="0" i="0" sz="1400" u="none" cap="none" strike="noStrike">
              <a:solidFill>
                <a:schemeClr val="dk1"/>
              </a:solidFill>
              <a:latin typeface="Calibri"/>
              <a:ea typeface="Calibri"/>
              <a:cs typeface="Calibri"/>
              <a:sym typeface="Calibri"/>
            </a:endParaRPr>
          </a:p>
        </p:txBody>
      </p:sp>
      <p:sp>
        <p:nvSpPr>
          <p:cNvPr id="123" name="Google Shape;123;p12"/>
          <p:cNvSpPr/>
          <p:nvPr/>
        </p:nvSpPr>
        <p:spPr>
          <a:xfrm>
            <a:off x="777240" y="2715768"/>
            <a:ext cx="640200" cy="640200"/>
          </a:xfrm>
          <a:prstGeom prst="ellipse">
            <a:avLst/>
          </a:prstGeom>
          <a:solidFill>
            <a:srgbClr val="C77F1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2"/>
          <p:cNvSpPr/>
          <p:nvPr/>
        </p:nvSpPr>
        <p:spPr>
          <a:xfrm>
            <a:off x="777240" y="2715768"/>
            <a:ext cx="640200" cy="640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mbria"/>
              <a:buNone/>
            </a:pPr>
            <a:r>
              <a:rPr b="1" i="0" lang="en-US" sz="1800" u="none" cap="none" strike="noStrike">
                <a:solidFill>
                  <a:srgbClr val="FFFFFF"/>
                </a:solidFill>
                <a:latin typeface="Cambria"/>
                <a:ea typeface="Cambria"/>
                <a:cs typeface="Cambria"/>
                <a:sym typeface="Cambria"/>
              </a:rPr>
              <a:t>2</a:t>
            </a:r>
            <a:endParaRPr b="0" i="0" sz="1800" u="none" cap="none" strike="noStrike">
              <a:solidFill>
                <a:schemeClr val="dk1"/>
              </a:solidFill>
              <a:latin typeface="Calibri"/>
              <a:ea typeface="Calibri"/>
              <a:cs typeface="Calibri"/>
              <a:sym typeface="Calibri"/>
            </a:endParaRPr>
          </a:p>
        </p:txBody>
      </p:sp>
      <p:sp>
        <p:nvSpPr>
          <p:cNvPr id="125" name="Google Shape;125;p12"/>
          <p:cNvSpPr/>
          <p:nvPr/>
        </p:nvSpPr>
        <p:spPr>
          <a:xfrm>
            <a:off x="1691640" y="2606040"/>
            <a:ext cx="67665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1B2E"/>
              </a:buClr>
              <a:buSzPts val="2800"/>
              <a:buFont typeface="Cambria"/>
              <a:buNone/>
            </a:pPr>
            <a:r>
              <a:rPr b="1" lang="en-US" sz="2800">
                <a:solidFill>
                  <a:srgbClr val="1F1B2E"/>
                </a:solidFill>
                <a:latin typeface="Cambria"/>
                <a:ea typeface="Cambria"/>
                <a:cs typeface="Cambria"/>
                <a:sym typeface="Cambria"/>
              </a:rPr>
              <a:t>An obstacle + Solution</a:t>
            </a:r>
            <a:endParaRPr b="0" i="0" sz="2800" u="none" cap="none" strike="noStrike">
              <a:solidFill>
                <a:schemeClr val="dk1"/>
              </a:solidFill>
              <a:latin typeface="Calibri"/>
              <a:ea typeface="Calibri"/>
              <a:cs typeface="Calibri"/>
              <a:sym typeface="Calibri"/>
            </a:endParaRPr>
          </a:p>
        </p:txBody>
      </p:sp>
      <p:sp>
        <p:nvSpPr>
          <p:cNvPr id="126" name="Google Shape;126;p12"/>
          <p:cNvSpPr/>
          <p:nvPr/>
        </p:nvSpPr>
        <p:spPr>
          <a:xfrm>
            <a:off x="1709928" y="3154680"/>
            <a:ext cx="67665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E6880"/>
              </a:buClr>
              <a:buSzPts val="1400"/>
              <a:buFont typeface="Calibri"/>
              <a:buNone/>
            </a:pPr>
            <a:r>
              <a:rPr i="1" lang="en-US">
                <a:solidFill>
                  <a:srgbClr val="6E6880"/>
                </a:solidFill>
                <a:latin typeface="Calibri"/>
                <a:ea typeface="Calibri"/>
                <a:cs typeface="Calibri"/>
                <a:sym typeface="Calibri"/>
              </a:rPr>
              <a:t>What is getting in the way of the customer achieving their goals? It better be big enough to be worth solving. Your hero is only as great as the villain is bad. </a:t>
            </a:r>
            <a:endParaRPr i="1">
              <a:solidFill>
                <a:srgbClr val="6E6880"/>
              </a:solidFill>
              <a:latin typeface="Calibri"/>
              <a:ea typeface="Calibri"/>
              <a:cs typeface="Calibri"/>
              <a:sym typeface="Calibri"/>
            </a:endParaRPr>
          </a:p>
        </p:txBody>
      </p:sp>
      <p:sp>
        <p:nvSpPr>
          <p:cNvPr id="127" name="Google Shape;127;p12"/>
          <p:cNvSpPr/>
          <p:nvPr/>
        </p:nvSpPr>
        <p:spPr>
          <a:xfrm>
            <a:off x="777240" y="3858768"/>
            <a:ext cx="640200" cy="640200"/>
          </a:xfrm>
          <a:prstGeom prst="ellipse">
            <a:avLst/>
          </a:prstGeom>
          <a:solidFill>
            <a:srgbClr val="C77F1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12"/>
          <p:cNvSpPr/>
          <p:nvPr/>
        </p:nvSpPr>
        <p:spPr>
          <a:xfrm>
            <a:off x="777240" y="3858768"/>
            <a:ext cx="640200" cy="640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mbria"/>
              <a:buNone/>
            </a:pPr>
            <a:r>
              <a:rPr b="1" i="0" lang="en-US" sz="1800" u="none" cap="none" strike="noStrike">
                <a:solidFill>
                  <a:srgbClr val="FFFFFF"/>
                </a:solidFill>
                <a:latin typeface="Cambria"/>
                <a:ea typeface="Cambria"/>
                <a:cs typeface="Cambria"/>
                <a:sym typeface="Cambria"/>
              </a:rPr>
              <a:t>3</a:t>
            </a:r>
            <a:endParaRPr b="0" i="0" sz="1800" u="none" cap="none" strike="noStrike">
              <a:solidFill>
                <a:schemeClr val="dk1"/>
              </a:solidFill>
              <a:latin typeface="Calibri"/>
              <a:ea typeface="Calibri"/>
              <a:cs typeface="Calibri"/>
              <a:sym typeface="Calibri"/>
            </a:endParaRPr>
          </a:p>
        </p:txBody>
      </p:sp>
      <p:sp>
        <p:nvSpPr>
          <p:cNvPr id="129" name="Google Shape;129;p12"/>
          <p:cNvSpPr/>
          <p:nvPr/>
        </p:nvSpPr>
        <p:spPr>
          <a:xfrm>
            <a:off x="1691640" y="3749040"/>
            <a:ext cx="67665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1B2E"/>
              </a:buClr>
              <a:buSzPts val="2800"/>
              <a:buFont typeface="Cambria"/>
              <a:buNone/>
            </a:pPr>
            <a:r>
              <a:rPr b="1" lang="en-US" sz="2800">
                <a:solidFill>
                  <a:srgbClr val="1F1B2E"/>
                </a:solidFill>
                <a:latin typeface="Cambria"/>
                <a:ea typeface="Cambria"/>
                <a:cs typeface="Cambria"/>
                <a:sym typeface="Cambria"/>
              </a:rPr>
              <a:t>A memorable/repeatable framework</a:t>
            </a:r>
            <a:endParaRPr b="0" i="0" sz="2800" u="none" cap="none" strike="noStrike">
              <a:solidFill>
                <a:schemeClr val="dk1"/>
              </a:solidFill>
              <a:latin typeface="Calibri"/>
              <a:ea typeface="Calibri"/>
              <a:cs typeface="Calibri"/>
              <a:sym typeface="Calibri"/>
            </a:endParaRPr>
          </a:p>
        </p:txBody>
      </p:sp>
      <p:sp>
        <p:nvSpPr>
          <p:cNvPr id="130" name="Google Shape;130;p12"/>
          <p:cNvSpPr/>
          <p:nvPr/>
        </p:nvSpPr>
        <p:spPr>
          <a:xfrm>
            <a:off x="1709928" y="4297680"/>
            <a:ext cx="67665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E6880"/>
              </a:buClr>
              <a:buSzPts val="1400"/>
              <a:buFont typeface="Calibri"/>
              <a:buNone/>
            </a:pPr>
            <a:r>
              <a:rPr i="1" lang="en-US">
                <a:solidFill>
                  <a:srgbClr val="6E6880"/>
                </a:solidFill>
                <a:latin typeface="Calibri"/>
                <a:ea typeface="Calibri"/>
                <a:cs typeface="Calibri"/>
                <a:sym typeface="Calibri"/>
              </a:rPr>
              <a:t>Can anyone tell your story for you?</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