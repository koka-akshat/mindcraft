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754880" cy="6858000"/>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54864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7280" y="54864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37360" y="54864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377439" y="54864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017520" y="54864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57600" y="54864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7200" y="15544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97280" y="15544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37360" y="15544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377439" y="15544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17520" y="15544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7600" y="15544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7200" y="2560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97280" y="2560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737360" y="2560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377439" y="2560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17520" y="2560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657600" y="2560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7200" y="356616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97280" y="356616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737360" y="356616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377439" y="356616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017520" y="356616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657600" y="356616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7200" y="457200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97280" y="457200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737360" y="457200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377439" y="457200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017520" y="457200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57600" y="457200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713232" y="585216"/>
            <a:ext cx="640080" cy="100584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353312" y="585216"/>
            <a:ext cx="640080" cy="100584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993392" y="585216"/>
            <a:ext cx="640080" cy="100584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13232" y="1591056"/>
            <a:ext cx="640080" cy="100584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993392" y="1591056"/>
            <a:ext cx="640080" cy="100584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29200" y="1645920"/>
            <a:ext cx="6858000" cy="1097280"/>
          </a:xfrm>
          <a:prstGeom prst="rect">
            <a:avLst/>
          </a:prstGeom>
          <a:noFill/>
        </p:spPr>
        <p:txBody>
          <a:bodyPr wrap="square">
            <a:spAutoFit/>
          </a:bodyPr>
          <a:lstStyle/>
          <a:p>
            <a:pPr algn="l"/>
            <a:r>
              <a:rPr sz="6000" b="1" i="0">
                <a:solidFill>
                  <a:srgbClr val="FFFFFF"/>
                </a:solidFill>
              </a:rPr>
              <a:t>MindCraft</a:t>
            </a:r>
          </a:p>
        </p:txBody>
      </p:sp>
      <p:sp>
        <p:nvSpPr>
          <p:cNvPr id="40" name="TextBox 39"/>
          <p:cNvSpPr txBox="1"/>
          <p:nvPr/>
        </p:nvSpPr>
        <p:spPr>
          <a:xfrm>
            <a:off x="5029200" y="2651760"/>
            <a:ext cx="6583680" cy="548640"/>
          </a:xfrm>
          <a:prstGeom prst="rect">
            <a:avLst/>
          </a:prstGeom>
          <a:noFill/>
        </p:spPr>
        <p:txBody>
          <a:bodyPr wrap="square">
            <a:spAutoFit/>
          </a:bodyPr>
          <a:lstStyle/>
          <a:p>
            <a:pPr algn="l"/>
            <a:r>
              <a:rPr sz="2200" b="0" i="0">
                <a:solidFill>
                  <a:srgbClr val="E8C46A"/>
                </a:solidFill>
              </a:rPr>
              <a:t>Redefining Student Success</a:t>
            </a:r>
          </a:p>
        </p:txBody>
      </p:sp>
      <p:sp>
        <p:nvSpPr>
          <p:cNvPr id="41" name="Rectangle 40"/>
          <p:cNvSpPr/>
          <p:nvPr/>
        </p:nvSpPr>
        <p:spPr>
          <a:xfrm>
            <a:off x="5029200" y="3291840"/>
            <a:ext cx="4114800" cy="36576"/>
          </a:xfrm>
          <a:prstGeom prst="rect">
            <a:avLst/>
          </a:prstGeom>
          <a:solidFill>
            <a:srgbClr val="D0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0" y="3474720"/>
            <a:ext cx="6583680" cy="457200"/>
          </a:xfrm>
          <a:prstGeom prst="rect">
            <a:avLst/>
          </a:prstGeom>
          <a:noFill/>
        </p:spPr>
        <p:txBody>
          <a:bodyPr wrap="square">
            <a:spAutoFit/>
          </a:bodyPr>
          <a:lstStyle/>
          <a:p>
            <a:pPr algn="l"/>
            <a:r>
              <a:rPr sz="1400" b="0" i="1">
                <a:solidFill>
                  <a:srgbClr val="D0D8E8"/>
                </a:solidFill>
              </a:rPr>
              <a:t>BETA Accelerator — Company Introduction</a:t>
            </a:r>
          </a:p>
        </p:txBody>
      </p:sp>
      <p:sp>
        <p:nvSpPr>
          <p:cNvPr id="43" name="TextBox 42"/>
          <p:cNvSpPr txBox="1"/>
          <p:nvPr/>
        </p:nvSpPr>
        <p:spPr>
          <a:xfrm>
            <a:off x="5029200" y="5943600"/>
            <a:ext cx="6583680" cy="457200"/>
          </a:xfrm>
          <a:prstGeom prst="rect">
            <a:avLst/>
          </a:prstGeom>
          <a:noFill/>
        </p:spPr>
        <p:txBody>
          <a:bodyPr wrap="square">
            <a:spAutoFit/>
          </a:bodyPr>
          <a:lstStyle/>
          <a:p>
            <a:pPr algn="l"/>
            <a:r>
              <a:rPr sz="1300" b="0" i="0">
                <a:solidFill>
                  <a:srgbClr val="D0D8E8"/>
                </a:solidFill>
              </a:rPr>
              <a:t>Akshat Koirala &amp; Kaif  |  2026</a:t>
            </a:r>
          </a:p>
        </p:txBody>
      </p:sp>
      <p:sp>
        <p:nvSpPr>
          <p:cNvPr id="44" name="Rectangle 43"/>
          <p:cNvSpPr/>
          <p:nvPr/>
        </p:nvSpPr>
        <p:spPr>
          <a:xfrm>
            <a:off x="0" y="6309360"/>
            <a:ext cx="12188952" cy="73152"/>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2 / 10</a:t>
            </a:r>
          </a:p>
        </p:txBody>
      </p:sp>
      <p:sp>
        <p:nvSpPr>
          <p:cNvPr id="5" name="TextBox 4"/>
          <p:cNvSpPr txBox="1"/>
          <p:nvPr/>
        </p:nvSpPr>
        <p:spPr>
          <a:xfrm>
            <a:off x="640080" y="365760"/>
            <a:ext cx="4572000" cy="457200"/>
          </a:xfrm>
          <a:prstGeom prst="rect">
            <a:avLst/>
          </a:prstGeom>
          <a:noFill/>
        </p:spPr>
        <p:txBody>
          <a:bodyPr wrap="square">
            <a:spAutoFit/>
          </a:bodyPr>
          <a:lstStyle/>
          <a:p>
            <a:pPr algn="l"/>
            <a:r>
              <a:rPr sz="1200" b="1" i="0">
                <a:solidFill>
                  <a:srgbClr val="E8C46A"/>
                </a:solidFill>
              </a:rPr>
              <a:t>THE PROBLEM</a:t>
            </a:r>
          </a:p>
        </p:txBody>
      </p:sp>
      <p:sp>
        <p:nvSpPr>
          <p:cNvPr id="6" name="TextBox 5"/>
          <p:cNvSpPr txBox="1"/>
          <p:nvPr/>
        </p:nvSpPr>
        <p:spPr>
          <a:xfrm>
            <a:off x="640080" y="822960"/>
            <a:ext cx="6858000" cy="1280160"/>
          </a:xfrm>
          <a:prstGeom prst="rect">
            <a:avLst/>
          </a:prstGeom>
          <a:noFill/>
        </p:spPr>
        <p:txBody>
          <a:bodyPr wrap="square">
            <a:spAutoFit/>
          </a:bodyPr>
          <a:lstStyle/>
          <a:p>
            <a:pPr algn="l"/>
            <a:r>
              <a:rPr sz="3200" b="1" i="0">
                <a:solidFill>
                  <a:srgbClr val="FFFFFF"/>
                </a:solidFill>
              </a:rPr>
              <a:t>Schools teach in straight lines.
Learning doesn't work that way.</a:t>
            </a:r>
          </a:p>
        </p:txBody>
      </p:sp>
      <p:sp>
        <p:nvSpPr>
          <p:cNvPr id="7" name="Rectangle 6"/>
          <p:cNvSpPr/>
          <p:nvPr/>
        </p:nvSpPr>
        <p:spPr>
          <a:xfrm>
            <a:off x="640080" y="2286000"/>
            <a:ext cx="6949440" cy="3200400"/>
          </a:xfrm>
          <a:prstGeom prst="rect">
            <a:avLst/>
          </a:prstGeom>
          <a:solidFill>
            <a:srgbClr val="14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68880"/>
            <a:ext cx="6400800" cy="457200"/>
          </a:xfrm>
          <a:prstGeom prst="rect">
            <a:avLst/>
          </a:prstGeom>
          <a:noFill/>
        </p:spPr>
        <p:txBody>
          <a:bodyPr wrap="square">
            <a:spAutoFit/>
          </a:bodyPr>
          <a:lstStyle/>
          <a:p>
            <a:pPr algn="l"/>
            <a:r>
              <a:rPr sz="1600" b="1" i="0">
                <a:solidFill>
                  <a:srgbClr val="E8C46A"/>
                </a:solidFill>
              </a:rPr>
              <a:t>Meet Seb.</a:t>
            </a:r>
          </a:p>
        </p:txBody>
      </p:sp>
      <p:sp>
        <p:nvSpPr>
          <p:cNvPr id="9" name="TextBox 8"/>
          <p:cNvSpPr txBox="1"/>
          <p:nvPr/>
        </p:nvSpPr>
        <p:spPr>
          <a:xfrm>
            <a:off x="914400" y="2926080"/>
            <a:ext cx="6583680" cy="2286000"/>
          </a:xfrm>
          <a:prstGeom prst="rect">
            <a:avLst/>
          </a:prstGeom>
          <a:noFill/>
        </p:spPr>
        <p:txBody>
          <a:bodyPr wrap="square">
            <a:spAutoFit/>
          </a:bodyPr>
          <a:lstStyle/>
          <a:p>
            <a:pPr algn="l"/>
            <a:r>
              <a:rPr sz="1500" b="0" i="0">
                <a:solidFill>
                  <a:srgbClr val="D0D8E8"/>
                </a:solidFill>
              </a:rPr>
              <a:t>Seb understands derivatives in calculus — but still gets stuck
on the algebra underneath it. On paper, he looked fine.
Teachers said he was doing well.
But his parents saw his confidence quietly fading as the gaps
beneath the surface started to show.</a:t>
            </a:r>
          </a:p>
        </p:txBody>
      </p:sp>
      <p:sp>
        <p:nvSpPr>
          <p:cNvPr id="10" name="Rectangle 9"/>
          <p:cNvSpPr/>
          <p:nvPr/>
        </p:nvSpPr>
        <p:spPr>
          <a:xfrm>
            <a:off x="8412480" y="914400"/>
            <a:ext cx="3383280" cy="502920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097280"/>
            <a:ext cx="3017520" cy="457200"/>
          </a:xfrm>
          <a:prstGeom prst="rect">
            <a:avLst/>
          </a:prstGeom>
          <a:noFill/>
        </p:spPr>
        <p:txBody>
          <a:bodyPr wrap="square">
            <a:spAutoFit/>
          </a:bodyPr>
          <a:lstStyle/>
          <a:p>
            <a:pPr algn="l"/>
            <a:r>
              <a:rPr sz="1400" b="1" i="0">
                <a:solidFill>
                  <a:srgbClr val="E8C46A"/>
                </a:solidFill>
              </a:rPr>
              <a:t>The Gap Is Real</a:t>
            </a:r>
          </a:p>
        </p:txBody>
      </p:sp>
      <p:sp>
        <p:nvSpPr>
          <p:cNvPr id="12" name="TextBox 11"/>
          <p:cNvSpPr txBox="1"/>
          <p:nvPr/>
        </p:nvSpPr>
        <p:spPr>
          <a:xfrm>
            <a:off x="8595360" y="1691640"/>
            <a:ext cx="1188720" cy="548640"/>
          </a:xfrm>
          <a:prstGeom prst="rect">
            <a:avLst/>
          </a:prstGeom>
          <a:noFill/>
        </p:spPr>
        <p:txBody>
          <a:bodyPr wrap="square">
            <a:spAutoFit/>
          </a:bodyPr>
          <a:lstStyle/>
          <a:p>
            <a:pPr algn="l"/>
            <a:r>
              <a:rPr sz="2800" b="1" i="0">
                <a:solidFill>
                  <a:srgbClr val="2D9C9C"/>
                </a:solidFill>
              </a:rPr>
              <a:t>70 %</a:t>
            </a:r>
          </a:p>
        </p:txBody>
      </p:sp>
      <p:sp>
        <p:nvSpPr>
          <p:cNvPr id="13" name="TextBox 12"/>
          <p:cNvSpPr txBox="1"/>
          <p:nvPr/>
        </p:nvSpPr>
        <p:spPr>
          <a:xfrm>
            <a:off x="9829800" y="1691640"/>
            <a:ext cx="1828800" cy="640080"/>
          </a:xfrm>
          <a:prstGeom prst="rect">
            <a:avLst/>
          </a:prstGeom>
          <a:noFill/>
        </p:spPr>
        <p:txBody>
          <a:bodyPr wrap="square">
            <a:spAutoFit/>
          </a:bodyPr>
          <a:lstStyle/>
          <a:p>
            <a:pPr algn="l"/>
            <a:r>
              <a:rPr sz="1100" b="0" i="0">
                <a:solidFill>
                  <a:srgbClr val="D0D8E8"/>
                </a:solidFill>
              </a:rPr>
              <a:t>of students have
unaddressed gaps
from COVID-era
learning loss</a:t>
            </a:r>
          </a:p>
        </p:txBody>
      </p:sp>
      <p:sp>
        <p:nvSpPr>
          <p:cNvPr id="14" name="TextBox 13"/>
          <p:cNvSpPr txBox="1"/>
          <p:nvPr/>
        </p:nvSpPr>
        <p:spPr>
          <a:xfrm>
            <a:off x="8595360" y="3108960"/>
            <a:ext cx="1188720" cy="548640"/>
          </a:xfrm>
          <a:prstGeom prst="rect">
            <a:avLst/>
          </a:prstGeom>
          <a:noFill/>
        </p:spPr>
        <p:txBody>
          <a:bodyPr wrap="square">
            <a:spAutoFit/>
          </a:bodyPr>
          <a:lstStyle/>
          <a:p>
            <a:pPr algn="l"/>
            <a:r>
              <a:rPr sz="2800" b="1" i="0">
                <a:solidFill>
                  <a:srgbClr val="2D9C9C"/>
                </a:solidFill>
              </a:rPr>
              <a:t>1 in 3</a:t>
            </a:r>
          </a:p>
        </p:txBody>
      </p:sp>
      <p:sp>
        <p:nvSpPr>
          <p:cNvPr id="15" name="TextBox 14"/>
          <p:cNvSpPr txBox="1"/>
          <p:nvPr/>
        </p:nvSpPr>
        <p:spPr>
          <a:xfrm>
            <a:off x="9829800" y="3108960"/>
            <a:ext cx="1828800" cy="640080"/>
          </a:xfrm>
          <a:prstGeom prst="rect">
            <a:avLst/>
          </a:prstGeom>
          <a:noFill/>
        </p:spPr>
        <p:txBody>
          <a:bodyPr wrap="square">
            <a:spAutoFit/>
          </a:bodyPr>
          <a:lstStyle/>
          <a:p>
            <a:pPr algn="l"/>
            <a:r>
              <a:rPr sz="1100" b="0" i="0">
                <a:solidFill>
                  <a:srgbClr val="D0D8E8"/>
                </a:solidFill>
              </a:rPr>
              <a:t>students can't
afford premium
tutoring support</a:t>
            </a:r>
          </a:p>
        </p:txBody>
      </p:sp>
      <p:sp>
        <p:nvSpPr>
          <p:cNvPr id="16" name="TextBox 15"/>
          <p:cNvSpPr txBox="1"/>
          <p:nvPr/>
        </p:nvSpPr>
        <p:spPr>
          <a:xfrm>
            <a:off x="8595360" y="4526280"/>
            <a:ext cx="1188720" cy="548640"/>
          </a:xfrm>
          <a:prstGeom prst="rect">
            <a:avLst/>
          </a:prstGeom>
          <a:noFill/>
        </p:spPr>
        <p:txBody>
          <a:bodyPr wrap="square">
            <a:spAutoFit/>
          </a:bodyPr>
          <a:lstStyle/>
          <a:p>
            <a:pPr algn="l"/>
            <a:r>
              <a:rPr sz="2800" b="1" i="0">
                <a:solidFill>
                  <a:srgbClr val="2D9C9C"/>
                </a:solidFill>
              </a:rPr>
              <a:t>&lt; 10 %</a:t>
            </a:r>
          </a:p>
        </p:txBody>
      </p:sp>
      <p:sp>
        <p:nvSpPr>
          <p:cNvPr id="17" name="TextBox 16"/>
          <p:cNvSpPr txBox="1"/>
          <p:nvPr/>
        </p:nvSpPr>
        <p:spPr>
          <a:xfrm>
            <a:off x="9829800" y="4526280"/>
            <a:ext cx="1828800" cy="640080"/>
          </a:xfrm>
          <a:prstGeom prst="rect">
            <a:avLst/>
          </a:prstGeom>
          <a:noFill/>
        </p:spPr>
        <p:txBody>
          <a:bodyPr wrap="square">
            <a:spAutoFit/>
          </a:bodyPr>
          <a:lstStyle/>
          <a:p>
            <a:pPr algn="l"/>
            <a:r>
              <a:rPr sz="1100" b="0" i="0">
                <a:solidFill>
                  <a:srgbClr val="D0D8E8"/>
                </a:solidFill>
              </a:rPr>
              <a:t>of tutoring is
structured around
how understanding
actually builds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3 / 10</a:t>
            </a:r>
          </a:p>
        </p:txBody>
      </p:sp>
      <p:sp>
        <p:nvSpPr>
          <p:cNvPr id="5" name="TextBox 4"/>
          <p:cNvSpPr txBox="1"/>
          <p:nvPr/>
        </p:nvSpPr>
        <p:spPr>
          <a:xfrm>
            <a:off x="640080" y="365760"/>
            <a:ext cx="4572000" cy="457200"/>
          </a:xfrm>
          <a:prstGeom prst="rect">
            <a:avLst/>
          </a:prstGeom>
          <a:noFill/>
        </p:spPr>
        <p:txBody>
          <a:bodyPr wrap="square">
            <a:spAutoFit/>
          </a:bodyPr>
          <a:lstStyle/>
          <a:p>
            <a:pPr algn="l"/>
            <a:r>
              <a:rPr sz="1200" b="1" i="0">
                <a:solidFill>
                  <a:srgbClr val="2D9C9C"/>
                </a:solidFill>
              </a:rPr>
              <a:t>OUR SOLUTION</a:t>
            </a:r>
          </a:p>
        </p:txBody>
      </p:sp>
      <p:sp>
        <p:nvSpPr>
          <p:cNvPr id="6" name="TextBox 5"/>
          <p:cNvSpPr txBox="1"/>
          <p:nvPr/>
        </p:nvSpPr>
        <p:spPr>
          <a:xfrm>
            <a:off x="640080" y="777240"/>
            <a:ext cx="10058400" cy="731520"/>
          </a:xfrm>
          <a:prstGeom prst="rect">
            <a:avLst/>
          </a:prstGeom>
          <a:noFill/>
        </p:spPr>
        <p:txBody>
          <a:bodyPr wrap="square">
            <a:spAutoFit/>
          </a:bodyPr>
          <a:lstStyle/>
          <a:p>
            <a:pPr algn="l"/>
            <a:r>
              <a:rPr sz="3000" b="1" i="0">
                <a:solidFill>
                  <a:srgbClr val="FFFFFF"/>
                </a:solidFill>
              </a:rPr>
              <a:t>Three pillars. One coherent learning experience.</a:t>
            </a:r>
          </a:p>
        </p:txBody>
      </p:sp>
      <p:sp>
        <p:nvSpPr>
          <p:cNvPr id="7" name="Rectangle 6"/>
          <p:cNvSpPr/>
          <p:nvPr/>
        </p:nvSpPr>
        <p:spPr>
          <a:xfrm>
            <a:off x="548640" y="1828800"/>
            <a:ext cx="3520440" cy="438912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457200" cy="109728"/>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11680"/>
            <a:ext cx="914400" cy="457200"/>
          </a:xfrm>
          <a:prstGeom prst="rect">
            <a:avLst/>
          </a:prstGeom>
          <a:noFill/>
        </p:spPr>
        <p:txBody>
          <a:bodyPr wrap="square">
            <a:spAutoFit/>
          </a:bodyPr>
          <a:lstStyle/>
          <a:p>
            <a:pPr algn="l"/>
            <a:r>
              <a:rPr sz="2800" b="1" i="0">
                <a:solidFill>
                  <a:srgbClr val="2D9C9C"/>
                </a:solidFill>
              </a:rPr>
              <a:t>01</a:t>
            </a:r>
          </a:p>
        </p:txBody>
      </p:sp>
      <p:sp>
        <p:nvSpPr>
          <p:cNvPr id="10" name="TextBox 9"/>
          <p:cNvSpPr txBox="1"/>
          <p:nvPr/>
        </p:nvSpPr>
        <p:spPr>
          <a:xfrm>
            <a:off x="731520" y="2606040"/>
            <a:ext cx="3108960" cy="685800"/>
          </a:xfrm>
          <a:prstGeom prst="rect">
            <a:avLst/>
          </a:prstGeom>
          <a:noFill/>
        </p:spPr>
        <p:txBody>
          <a:bodyPr wrap="square">
            <a:spAutoFit/>
          </a:bodyPr>
          <a:lstStyle/>
          <a:p>
            <a:pPr algn="l"/>
            <a:r>
              <a:rPr sz="2000" b="1" i="0">
                <a:solidFill>
                  <a:srgbClr val="FFFFFF"/>
                </a:solidFill>
              </a:rPr>
              <a:t>Adaptive
Tutoring</a:t>
            </a:r>
          </a:p>
        </p:txBody>
      </p:sp>
      <p:sp>
        <p:nvSpPr>
          <p:cNvPr id="11" name="TextBox 10"/>
          <p:cNvSpPr txBox="1"/>
          <p:nvPr/>
        </p:nvSpPr>
        <p:spPr>
          <a:xfrm>
            <a:off x="731520" y="3337560"/>
            <a:ext cx="3108960" cy="2560320"/>
          </a:xfrm>
          <a:prstGeom prst="rect">
            <a:avLst/>
          </a:prstGeom>
          <a:noFill/>
        </p:spPr>
        <p:txBody>
          <a:bodyPr wrap="square">
            <a:spAutoFit/>
          </a:bodyPr>
          <a:lstStyle/>
          <a:p>
            <a:pPr algn="l"/>
            <a:r>
              <a:rPr sz="1300" b="0" i="0">
                <a:solidFill>
                  <a:srgbClr val="D0D8E8"/>
                </a:solidFill>
              </a:rPr>
              <a:t>One-on-one sessions that adapt in real time to where the student actually is — not where the curriculum says they should be.</a:t>
            </a:r>
          </a:p>
        </p:txBody>
      </p:sp>
      <p:sp>
        <p:nvSpPr>
          <p:cNvPr id="12" name="Rectangle 11"/>
          <p:cNvSpPr/>
          <p:nvPr/>
        </p:nvSpPr>
        <p:spPr>
          <a:xfrm>
            <a:off x="4389120" y="1828800"/>
            <a:ext cx="3520440" cy="438912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828800"/>
            <a:ext cx="457200" cy="109728"/>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011680"/>
            <a:ext cx="914400" cy="457200"/>
          </a:xfrm>
          <a:prstGeom prst="rect">
            <a:avLst/>
          </a:prstGeom>
          <a:noFill/>
        </p:spPr>
        <p:txBody>
          <a:bodyPr wrap="square">
            <a:spAutoFit/>
          </a:bodyPr>
          <a:lstStyle/>
          <a:p>
            <a:pPr algn="l"/>
            <a:r>
              <a:rPr sz="2800" b="1" i="0">
                <a:solidFill>
                  <a:srgbClr val="E8C46A"/>
                </a:solidFill>
              </a:rPr>
              <a:t>02</a:t>
            </a:r>
          </a:p>
        </p:txBody>
      </p:sp>
      <p:sp>
        <p:nvSpPr>
          <p:cNvPr id="15" name="TextBox 14"/>
          <p:cNvSpPr txBox="1"/>
          <p:nvPr/>
        </p:nvSpPr>
        <p:spPr>
          <a:xfrm>
            <a:off x="4572000" y="2606040"/>
            <a:ext cx="3108960" cy="685800"/>
          </a:xfrm>
          <a:prstGeom prst="rect">
            <a:avLst/>
          </a:prstGeom>
          <a:noFill/>
        </p:spPr>
        <p:txBody>
          <a:bodyPr wrap="square">
            <a:spAutoFit/>
          </a:bodyPr>
          <a:lstStyle/>
          <a:p>
            <a:pPr algn="l"/>
            <a:r>
              <a:rPr sz="2000" b="1" i="0">
                <a:solidFill>
                  <a:srgbClr val="FFFFFF"/>
                </a:solidFill>
              </a:rPr>
              <a:t>Targeted
Practice</a:t>
            </a:r>
          </a:p>
        </p:txBody>
      </p:sp>
      <p:sp>
        <p:nvSpPr>
          <p:cNvPr id="16" name="TextBox 15"/>
          <p:cNvSpPr txBox="1"/>
          <p:nvPr/>
        </p:nvSpPr>
        <p:spPr>
          <a:xfrm>
            <a:off x="4572000" y="3337560"/>
            <a:ext cx="3108960" cy="2560320"/>
          </a:xfrm>
          <a:prstGeom prst="rect">
            <a:avLst/>
          </a:prstGeom>
          <a:noFill/>
        </p:spPr>
        <p:txBody>
          <a:bodyPr wrap="square">
            <a:spAutoFit/>
          </a:bodyPr>
          <a:lstStyle/>
          <a:p>
            <a:pPr algn="l"/>
            <a:r>
              <a:rPr sz="1300" b="0" i="0">
                <a:solidFill>
                  <a:srgbClr val="D0D8E8"/>
                </a:solidFill>
              </a:rPr>
              <a:t>AI-generated problem sets that target the exact gap, not the whole topic. Practice meets the student, not the other way around.</a:t>
            </a:r>
          </a:p>
        </p:txBody>
      </p:sp>
      <p:sp>
        <p:nvSpPr>
          <p:cNvPr id="17" name="Rectangle 16"/>
          <p:cNvSpPr/>
          <p:nvPr/>
        </p:nvSpPr>
        <p:spPr>
          <a:xfrm>
            <a:off x="8229600" y="1828800"/>
            <a:ext cx="3520440" cy="438912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828800"/>
            <a:ext cx="457200" cy="109728"/>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011680"/>
            <a:ext cx="914400" cy="457200"/>
          </a:xfrm>
          <a:prstGeom prst="rect">
            <a:avLst/>
          </a:prstGeom>
          <a:noFill/>
        </p:spPr>
        <p:txBody>
          <a:bodyPr wrap="square">
            <a:spAutoFit/>
          </a:bodyPr>
          <a:lstStyle/>
          <a:p>
            <a:pPr algn="l"/>
            <a:r>
              <a:rPr sz="2800" b="1" i="0">
                <a:solidFill>
                  <a:srgbClr val="7B5EA7"/>
                </a:solidFill>
              </a:rPr>
              <a:t>03</a:t>
            </a:r>
          </a:p>
        </p:txBody>
      </p:sp>
      <p:sp>
        <p:nvSpPr>
          <p:cNvPr id="20" name="TextBox 19"/>
          <p:cNvSpPr txBox="1"/>
          <p:nvPr/>
        </p:nvSpPr>
        <p:spPr>
          <a:xfrm>
            <a:off x="8412480" y="2606040"/>
            <a:ext cx="3108960" cy="685800"/>
          </a:xfrm>
          <a:prstGeom prst="rect">
            <a:avLst/>
          </a:prstGeom>
          <a:noFill/>
        </p:spPr>
        <p:txBody>
          <a:bodyPr wrap="square">
            <a:spAutoFit/>
          </a:bodyPr>
          <a:lstStyle/>
          <a:p>
            <a:pPr algn="l"/>
            <a:r>
              <a:rPr sz="2000" b="1" i="0">
                <a:solidFill>
                  <a:srgbClr val="FFFFFF"/>
                </a:solidFill>
              </a:rPr>
              <a:t>Student
Constellations</a:t>
            </a:r>
          </a:p>
        </p:txBody>
      </p:sp>
      <p:sp>
        <p:nvSpPr>
          <p:cNvPr id="21" name="TextBox 20"/>
          <p:cNvSpPr txBox="1"/>
          <p:nvPr/>
        </p:nvSpPr>
        <p:spPr>
          <a:xfrm>
            <a:off x="8412480" y="3337560"/>
            <a:ext cx="3108960" cy="2560320"/>
          </a:xfrm>
          <a:prstGeom prst="rect">
            <a:avLst/>
          </a:prstGeom>
          <a:noFill/>
        </p:spPr>
        <p:txBody>
          <a:bodyPr wrap="square">
            <a:spAutoFit/>
          </a:bodyPr>
          <a:lstStyle/>
          <a:p>
            <a:pPr algn="l"/>
            <a:r>
              <a:rPr sz="1300" b="0" i="0">
                <a:solidFill>
                  <a:srgbClr val="D0D8E8"/>
                </a:solidFill>
              </a:rPr>
              <a:t>Visual maps of what a student understands, where they struggle, and what they're ready to learn next — updated after every session.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4 / 10</a:t>
            </a:r>
          </a:p>
        </p:txBody>
      </p:sp>
      <p:sp>
        <p:nvSpPr>
          <p:cNvPr id="5" name="TextBox 4"/>
          <p:cNvSpPr txBox="1"/>
          <p:nvPr/>
        </p:nvSpPr>
        <p:spPr>
          <a:xfrm>
            <a:off x="640080" y="365760"/>
            <a:ext cx="4572000" cy="457200"/>
          </a:xfrm>
          <a:prstGeom prst="rect">
            <a:avLst/>
          </a:prstGeom>
          <a:noFill/>
        </p:spPr>
        <p:txBody>
          <a:bodyPr wrap="square">
            <a:spAutoFit/>
          </a:bodyPr>
          <a:lstStyle/>
          <a:p>
            <a:pPr algn="l"/>
            <a:r>
              <a:rPr sz="1200" b="1" i="0">
                <a:solidFill>
                  <a:srgbClr val="E8C46A"/>
                </a:solidFill>
              </a:rPr>
              <a:t>WHO WE SERVE</a:t>
            </a:r>
          </a:p>
        </p:txBody>
      </p:sp>
      <p:sp>
        <p:nvSpPr>
          <p:cNvPr id="6" name="TextBox 5"/>
          <p:cNvSpPr txBox="1"/>
          <p:nvPr/>
        </p:nvSpPr>
        <p:spPr>
          <a:xfrm>
            <a:off x="640080" y="777240"/>
            <a:ext cx="10058400" cy="640080"/>
          </a:xfrm>
          <a:prstGeom prst="rect">
            <a:avLst/>
          </a:prstGeom>
          <a:noFill/>
        </p:spPr>
        <p:txBody>
          <a:bodyPr wrap="square">
            <a:spAutoFit/>
          </a:bodyPr>
          <a:lstStyle/>
          <a:p>
            <a:pPr algn="l"/>
            <a:r>
              <a:rPr sz="3000" b="1" i="0">
                <a:solidFill>
                  <a:srgbClr val="FFFFFF"/>
                </a:solidFill>
              </a:rPr>
              <a:t>We solve for the full learning ecosystem.</a:t>
            </a:r>
          </a:p>
        </p:txBody>
      </p:sp>
      <p:sp>
        <p:nvSpPr>
          <p:cNvPr id="7" name="Oval 6"/>
          <p:cNvSpPr/>
          <p:nvPr/>
        </p:nvSpPr>
        <p:spPr>
          <a:xfrm>
            <a:off x="1828800" y="1737360"/>
            <a:ext cx="914400" cy="914400"/>
          </a:xfrm>
          <a:prstGeom prst="ellipse">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34640"/>
            <a:ext cx="3520440" cy="502920"/>
          </a:xfrm>
          <a:prstGeom prst="rect">
            <a:avLst/>
          </a:prstGeom>
          <a:noFill/>
        </p:spPr>
        <p:txBody>
          <a:bodyPr wrap="square">
            <a:spAutoFit/>
          </a:bodyPr>
          <a:lstStyle/>
          <a:p>
            <a:pPr algn="ctr"/>
            <a:r>
              <a:rPr sz="2000" b="1" i="0">
                <a:solidFill>
                  <a:srgbClr val="E8C46A"/>
                </a:solidFill>
              </a:rPr>
              <a:t>Parents</a:t>
            </a:r>
          </a:p>
        </p:txBody>
      </p:sp>
      <p:sp>
        <p:nvSpPr>
          <p:cNvPr id="9" name="Rectangle 8"/>
          <p:cNvSpPr/>
          <p:nvPr/>
        </p:nvSpPr>
        <p:spPr>
          <a:xfrm>
            <a:off x="1920240" y="3383280"/>
            <a:ext cx="777240" cy="54864"/>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80"/>
            <a:ext cx="3337560" cy="2286000"/>
          </a:xfrm>
          <a:prstGeom prst="rect">
            <a:avLst/>
          </a:prstGeom>
          <a:noFill/>
        </p:spPr>
        <p:txBody>
          <a:bodyPr wrap="square">
            <a:spAutoFit/>
          </a:bodyPr>
          <a:lstStyle/>
          <a:p>
            <a:pPr algn="ctr"/>
            <a:r>
              <a:rPr sz="1300" b="0" i="0">
                <a:solidFill>
                  <a:srgbClr val="D0D8E8"/>
                </a:solidFill>
              </a:rPr>
              <a:t>Families who want high-quality academic support without paying $80–120/hr for traditional tutoring. They need transparency, results, and reassurance.</a:t>
            </a:r>
          </a:p>
        </p:txBody>
      </p:sp>
      <p:sp>
        <p:nvSpPr>
          <p:cNvPr id="11" name="Oval 10"/>
          <p:cNvSpPr/>
          <p:nvPr/>
        </p:nvSpPr>
        <p:spPr>
          <a:xfrm>
            <a:off x="5669280" y="1737360"/>
            <a:ext cx="914400" cy="914400"/>
          </a:xfrm>
          <a:prstGeom prst="ellipse">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834640"/>
            <a:ext cx="3520440" cy="502920"/>
          </a:xfrm>
          <a:prstGeom prst="rect">
            <a:avLst/>
          </a:prstGeom>
          <a:noFill/>
        </p:spPr>
        <p:txBody>
          <a:bodyPr wrap="square">
            <a:spAutoFit/>
          </a:bodyPr>
          <a:lstStyle/>
          <a:p>
            <a:pPr algn="ctr"/>
            <a:r>
              <a:rPr sz="2000" b="1" i="0">
                <a:solidFill>
                  <a:srgbClr val="2D9C9C"/>
                </a:solidFill>
              </a:rPr>
              <a:t>Students</a:t>
            </a:r>
          </a:p>
        </p:txBody>
      </p:sp>
      <p:sp>
        <p:nvSpPr>
          <p:cNvPr id="13" name="Rectangle 12"/>
          <p:cNvSpPr/>
          <p:nvPr/>
        </p:nvSpPr>
        <p:spPr>
          <a:xfrm>
            <a:off x="5760720" y="3383280"/>
            <a:ext cx="777240" cy="54864"/>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611880"/>
            <a:ext cx="3337560" cy="2286000"/>
          </a:xfrm>
          <a:prstGeom prst="rect">
            <a:avLst/>
          </a:prstGeom>
          <a:noFill/>
        </p:spPr>
        <p:txBody>
          <a:bodyPr wrap="square">
            <a:spAutoFit/>
          </a:bodyPr>
          <a:lstStyle/>
          <a:p>
            <a:pPr algn="ctr"/>
            <a:r>
              <a:rPr sz="1300" b="0" i="0">
                <a:solidFill>
                  <a:srgbClr val="D0D8E8"/>
                </a:solidFill>
              </a:rPr>
              <a:t>Learners who need more than a worksheet. They need structure, clarity, and a tutor who meets them where they actually are — not where the syllabus expects.</a:t>
            </a:r>
          </a:p>
        </p:txBody>
      </p:sp>
      <p:sp>
        <p:nvSpPr>
          <p:cNvPr id="15" name="Oval 14"/>
          <p:cNvSpPr/>
          <p:nvPr/>
        </p:nvSpPr>
        <p:spPr>
          <a:xfrm>
            <a:off x="9509760" y="1737360"/>
            <a:ext cx="914400" cy="914400"/>
          </a:xfrm>
          <a:prstGeom prst="ellipse">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834640"/>
            <a:ext cx="3520440" cy="502920"/>
          </a:xfrm>
          <a:prstGeom prst="rect">
            <a:avLst/>
          </a:prstGeom>
          <a:noFill/>
        </p:spPr>
        <p:txBody>
          <a:bodyPr wrap="square">
            <a:spAutoFit/>
          </a:bodyPr>
          <a:lstStyle/>
          <a:p>
            <a:pPr algn="ctr"/>
            <a:r>
              <a:rPr sz="2000" b="1" i="0">
                <a:solidFill>
                  <a:srgbClr val="7B5EA7"/>
                </a:solidFill>
              </a:rPr>
              <a:t>Tutors</a:t>
            </a:r>
          </a:p>
        </p:txBody>
      </p:sp>
      <p:sp>
        <p:nvSpPr>
          <p:cNvPr id="17" name="Rectangle 16"/>
          <p:cNvSpPr/>
          <p:nvPr/>
        </p:nvSpPr>
        <p:spPr>
          <a:xfrm>
            <a:off x="9601200" y="3383280"/>
            <a:ext cx="777240" cy="54864"/>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611880"/>
            <a:ext cx="3337560" cy="2286000"/>
          </a:xfrm>
          <a:prstGeom prst="rect">
            <a:avLst/>
          </a:prstGeom>
          <a:noFill/>
        </p:spPr>
        <p:txBody>
          <a:bodyPr wrap="square">
            <a:spAutoFit/>
          </a:bodyPr>
          <a:lstStyle/>
          <a:p>
            <a:pPr algn="ctr"/>
            <a:r>
              <a:rPr sz="1300" b="0" i="0">
                <a:solidFill>
                  <a:srgbClr val="D0D8E8"/>
                </a:solidFill>
              </a:rPr>
              <a:t>Educators who want to build credibility, grow a client base, and develop their careers within a structured, supportive platform.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5 / 10</a:t>
            </a:r>
          </a:p>
        </p:txBody>
      </p:sp>
      <p:sp>
        <p:nvSpPr>
          <p:cNvPr id="5" name="TextBox 4"/>
          <p:cNvSpPr txBox="1"/>
          <p:nvPr/>
        </p:nvSpPr>
        <p:spPr>
          <a:xfrm>
            <a:off x="640080" y="365760"/>
            <a:ext cx="7315200" cy="457200"/>
          </a:xfrm>
          <a:prstGeom prst="rect">
            <a:avLst/>
          </a:prstGeom>
          <a:noFill/>
        </p:spPr>
        <p:txBody>
          <a:bodyPr wrap="square">
            <a:spAutoFit/>
          </a:bodyPr>
          <a:lstStyle/>
          <a:p>
            <a:pPr algn="l"/>
            <a:r>
              <a:rPr sz="1200" b="1" i="0">
                <a:solidFill>
                  <a:srgbClr val="2D9C9C"/>
                </a:solidFill>
              </a:rPr>
              <a:t>COMPETITION &amp; DIFFERENTIATION</a:t>
            </a:r>
          </a:p>
        </p:txBody>
      </p:sp>
      <p:sp>
        <p:nvSpPr>
          <p:cNvPr id="6" name="TextBox 5"/>
          <p:cNvSpPr txBox="1"/>
          <p:nvPr/>
        </p:nvSpPr>
        <p:spPr>
          <a:xfrm>
            <a:off x="640080" y="777240"/>
            <a:ext cx="8229600" cy="640080"/>
          </a:xfrm>
          <a:prstGeom prst="rect">
            <a:avLst/>
          </a:prstGeom>
          <a:noFill/>
        </p:spPr>
        <p:txBody>
          <a:bodyPr wrap="square">
            <a:spAutoFit/>
          </a:bodyPr>
          <a:lstStyle/>
          <a:p>
            <a:pPr algn="l"/>
            <a:r>
              <a:rPr sz="3000" b="1" i="0">
                <a:solidFill>
                  <a:srgbClr val="FFFFFF"/>
                </a:solidFill>
              </a:rPr>
              <a:t>Crowded market. Different model.</a:t>
            </a:r>
          </a:p>
        </p:txBody>
      </p:sp>
      <p:sp>
        <p:nvSpPr>
          <p:cNvPr id="7" name="Rectangle 6"/>
          <p:cNvSpPr/>
          <p:nvPr/>
        </p:nvSpPr>
        <p:spPr>
          <a:xfrm>
            <a:off x="457200" y="1600200"/>
            <a:ext cx="2103120" cy="41148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645920"/>
            <a:ext cx="1965960" cy="347472"/>
          </a:xfrm>
          <a:prstGeom prst="rect">
            <a:avLst/>
          </a:prstGeom>
          <a:noFill/>
        </p:spPr>
        <p:txBody>
          <a:bodyPr wrap="square">
            <a:spAutoFit/>
          </a:bodyPr>
          <a:lstStyle/>
          <a:p>
            <a:pPr algn="ctr"/>
            <a:r>
              <a:rPr sz="1300" b="1" i="0">
                <a:solidFill>
                  <a:srgbClr val="E8C46A"/>
                </a:solidFill>
              </a:rPr>
              <a:t/>
            </a:r>
          </a:p>
        </p:txBody>
      </p:sp>
      <p:sp>
        <p:nvSpPr>
          <p:cNvPr id="9" name="Rectangle 8"/>
          <p:cNvSpPr/>
          <p:nvPr/>
        </p:nvSpPr>
        <p:spPr>
          <a:xfrm>
            <a:off x="2651760" y="1600200"/>
            <a:ext cx="1828800" cy="41148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24912" y="1645920"/>
            <a:ext cx="1691640" cy="347472"/>
          </a:xfrm>
          <a:prstGeom prst="rect">
            <a:avLst/>
          </a:prstGeom>
          <a:noFill/>
        </p:spPr>
        <p:txBody>
          <a:bodyPr wrap="square">
            <a:spAutoFit/>
          </a:bodyPr>
          <a:lstStyle/>
          <a:p>
            <a:pPr algn="ctr"/>
            <a:r>
              <a:rPr sz="1300" b="1" i="0">
                <a:solidFill>
                  <a:srgbClr val="E8C46A"/>
                </a:solidFill>
              </a:rPr>
              <a:t>Khan Academy</a:t>
            </a:r>
          </a:p>
        </p:txBody>
      </p:sp>
      <p:sp>
        <p:nvSpPr>
          <p:cNvPr id="11" name="Rectangle 10"/>
          <p:cNvSpPr/>
          <p:nvPr/>
        </p:nvSpPr>
        <p:spPr>
          <a:xfrm>
            <a:off x="4572000" y="1600200"/>
            <a:ext cx="1828800" cy="41148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645920"/>
            <a:ext cx="1691640" cy="347472"/>
          </a:xfrm>
          <a:prstGeom prst="rect">
            <a:avLst/>
          </a:prstGeom>
          <a:noFill/>
        </p:spPr>
        <p:txBody>
          <a:bodyPr wrap="square">
            <a:spAutoFit/>
          </a:bodyPr>
          <a:lstStyle/>
          <a:p>
            <a:pPr algn="ctr"/>
            <a:r>
              <a:rPr sz="1300" b="1" i="0">
                <a:solidFill>
                  <a:srgbClr val="E8C46A"/>
                </a:solidFill>
              </a:rPr>
              <a:t>Varsity Tutors</a:t>
            </a:r>
          </a:p>
        </p:txBody>
      </p:sp>
      <p:sp>
        <p:nvSpPr>
          <p:cNvPr id="13" name="Rectangle 12"/>
          <p:cNvSpPr/>
          <p:nvPr/>
        </p:nvSpPr>
        <p:spPr>
          <a:xfrm>
            <a:off x="6583680" y="1600200"/>
            <a:ext cx="1828800" cy="41148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56832" y="1645920"/>
            <a:ext cx="1691640" cy="347472"/>
          </a:xfrm>
          <a:prstGeom prst="rect">
            <a:avLst/>
          </a:prstGeom>
          <a:noFill/>
        </p:spPr>
        <p:txBody>
          <a:bodyPr wrap="square">
            <a:spAutoFit/>
          </a:bodyPr>
          <a:lstStyle/>
          <a:p>
            <a:pPr algn="ctr"/>
            <a:r>
              <a:rPr sz="1300" b="1" i="0">
                <a:solidFill>
                  <a:srgbClr val="E8C46A"/>
                </a:solidFill>
              </a:rPr>
              <a:t>Wyzant</a:t>
            </a:r>
          </a:p>
        </p:txBody>
      </p:sp>
      <p:sp>
        <p:nvSpPr>
          <p:cNvPr id="15" name="Rectangle 14"/>
          <p:cNvSpPr/>
          <p:nvPr/>
        </p:nvSpPr>
        <p:spPr>
          <a:xfrm>
            <a:off x="8595360" y="1600200"/>
            <a:ext cx="3200400" cy="411480"/>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8512" y="1645920"/>
            <a:ext cx="3063240" cy="347472"/>
          </a:xfrm>
          <a:prstGeom prst="rect">
            <a:avLst/>
          </a:prstGeom>
          <a:noFill/>
        </p:spPr>
        <p:txBody>
          <a:bodyPr wrap="square">
            <a:spAutoFit/>
          </a:bodyPr>
          <a:lstStyle/>
          <a:p>
            <a:pPr algn="ctr"/>
            <a:r>
              <a:rPr sz="1300" b="1" i="0">
                <a:solidFill>
                  <a:srgbClr val="0D1B2A"/>
                </a:solidFill>
              </a:rPr>
              <a:t>MindCraft</a:t>
            </a:r>
          </a:p>
        </p:txBody>
      </p:sp>
      <p:sp>
        <p:nvSpPr>
          <p:cNvPr id="17" name="Rectangle 16"/>
          <p:cNvSpPr/>
          <p:nvPr/>
        </p:nvSpPr>
        <p:spPr>
          <a:xfrm>
            <a:off x="457200" y="2057400"/>
            <a:ext cx="210312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2167128"/>
            <a:ext cx="1965960" cy="411480"/>
          </a:xfrm>
          <a:prstGeom prst="rect">
            <a:avLst/>
          </a:prstGeom>
          <a:noFill/>
        </p:spPr>
        <p:txBody>
          <a:bodyPr wrap="square">
            <a:spAutoFit/>
          </a:bodyPr>
          <a:lstStyle/>
          <a:p>
            <a:pPr algn="l"/>
            <a:r>
              <a:rPr sz="1300" b="0" i="0">
                <a:solidFill>
                  <a:srgbClr val="99AABB"/>
                </a:solidFill>
              </a:rPr>
              <a:t>Live tutoring</a:t>
            </a:r>
          </a:p>
        </p:txBody>
      </p:sp>
      <p:sp>
        <p:nvSpPr>
          <p:cNvPr id="19" name="Rectangle 18"/>
          <p:cNvSpPr/>
          <p:nvPr/>
        </p:nvSpPr>
        <p:spPr>
          <a:xfrm>
            <a:off x="2651760" y="2057400"/>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24912" y="2167128"/>
            <a:ext cx="1691640" cy="411480"/>
          </a:xfrm>
          <a:prstGeom prst="rect">
            <a:avLst/>
          </a:prstGeom>
          <a:noFill/>
        </p:spPr>
        <p:txBody>
          <a:bodyPr wrap="square">
            <a:spAutoFit/>
          </a:bodyPr>
          <a:lstStyle/>
          <a:p>
            <a:pPr algn="ctr"/>
            <a:r>
              <a:rPr sz="1400" b="0" i="0">
                <a:solidFill>
                  <a:srgbClr val="99AABB"/>
                </a:solidFill>
              </a:rPr>
              <a:t>✗</a:t>
            </a:r>
          </a:p>
        </p:txBody>
      </p:sp>
      <p:sp>
        <p:nvSpPr>
          <p:cNvPr id="21" name="Rectangle 20"/>
          <p:cNvSpPr/>
          <p:nvPr/>
        </p:nvSpPr>
        <p:spPr>
          <a:xfrm>
            <a:off x="4572000" y="2057400"/>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5152" y="2167128"/>
            <a:ext cx="1691640" cy="411480"/>
          </a:xfrm>
          <a:prstGeom prst="rect">
            <a:avLst/>
          </a:prstGeom>
          <a:noFill/>
        </p:spPr>
        <p:txBody>
          <a:bodyPr wrap="square">
            <a:spAutoFit/>
          </a:bodyPr>
          <a:lstStyle/>
          <a:p>
            <a:pPr algn="ctr"/>
            <a:r>
              <a:rPr sz="1400" b="0" i="0">
                <a:solidFill>
                  <a:srgbClr val="FFFFFF"/>
                </a:solidFill>
              </a:rPr>
              <a:t>✓</a:t>
            </a:r>
          </a:p>
        </p:txBody>
      </p:sp>
      <p:sp>
        <p:nvSpPr>
          <p:cNvPr id="23" name="Rectangle 22"/>
          <p:cNvSpPr/>
          <p:nvPr/>
        </p:nvSpPr>
        <p:spPr>
          <a:xfrm>
            <a:off x="6583680" y="2057400"/>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56832" y="2167128"/>
            <a:ext cx="1691640" cy="411480"/>
          </a:xfrm>
          <a:prstGeom prst="rect">
            <a:avLst/>
          </a:prstGeom>
          <a:noFill/>
        </p:spPr>
        <p:txBody>
          <a:bodyPr wrap="square">
            <a:spAutoFit/>
          </a:bodyPr>
          <a:lstStyle/>
          <a:p>
            <a:pPr algn="ctr"/>
            <a:r>
              <a:rPr sz="1400" b="0" i="0">
                <a:solidFill>
                  <a:srgbClr val="FFFFFF"/>
                </a:solidFill>
              </a:rPr>
              <a:t>✓</a:t>
            </a:r>
          </a:p>
        </p:txBody>
      </p:sp>
      <p:sp>
        <p:nvSpPr>
          <p:cNvPr id="25" name="Rectangle 24"/>
          <p:cNvSpPr/>
          <p:nvPr/>
        </p:nvSpPr>
        <p:spPr>
          <a:xfrm>
            <a:off x="8595360" y="2057400"/>
            <a:ext cx="3200400" cy="594360"/>
          </a:xfrm>
          <a:prstGeom prst="rect">
            <a:avLst/>
          </a:prstGeom>
          <a:solidFill>
            <a:srgbClr val="18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68512" y="2167128"/>
            <a:ext cx="3063240" cy="411480"/>
          </a:xfrm>
          <a:prstGeom prst="rect">
            <a:avLst/>
          </a:prstGeom>
          <a:noFill/>
        </p:spPr>
        <p:txBody>
          <a:bodyPr wrap="square">
            <a:spAutoFit/>
          </a:bodyPr>
          <a:lstStyle/>
          <a:p>
            <a:pPr algn="ctr"/>
            <a:r>
              <a:rPr sz="1400" b="1" i="0">
                <a:solidFill>
                  <a:srgbClr val="E8C46A"/>
                </a:solidFill>
              </a:rPr>
              <a:t>✓</a:t>
            </a:r>
          </a:p>
        </p:txBody>
      </p:sp>
      <p:sp>
        <p:nvSpPr>
          <p:cNvPr id="27" name="Rectangle 26"/>
          <p:cNvSpPr/>
          <p:nvPr/>
        </p:nvSpPr>
        <p:spPr>
          <a:xfrm>
            <a:off x="457200" y="2715768"/>
            <a:ext cx="210312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2825496"/>
            <a:ext cx="1965960" cy="411480"/>
          </a:xfrm>
          <a:prstGeom prst="rect">
            <a:avLst/>
          </a:prstGeom>
          <a:noFill/>
        </p:spPr>
        <p:txBody>
          <a:bodyPr wrap="square">
            <a:spAutoFit/>
          </a:bodyPr>
          <a:lstStyle/>
          <a:p>
            <a:pPr algn="l"/>
            <a:r>
              <a:rPr sz="1300" b="0" i="0">
                <a:solidFill>
                  <a:srgbClr val="99AABB"/>
                </a:solidFill>
              </a:rPr>
              <a:t>Structured practice</a:t>
            </a:r>
          </a:p>
        </p:txBody>
      </p:sp>
      <p:sp>
        <p:nvSpPr>
          <p:cNvPr id="29" name="Rectangle 28"/>
          <p:cNvSpPr/>
          <p:nvPr/>
        </p:nvSpPr>
        <p:spPr>
          <a:xfrm>
            <a:off x="2651760" y="2715768"/>
            <a:ext cx="182880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24912" y="2825496"/>
            <a:ext cx="1691640" cy="411480"/>
          </a:xfrm>
          <a:prstGeom prst="rect">
            <a:avLst/>
          </a:prstGeom>
          <a:noFill/>
        </p:spPr>
        <p:txBody>
          <a:bodyPr wrap="square">
            <a:spAutoFit/>
          </a:bodyPr>
          <a:lstStyle/>
          <a:p>
            <a:pPr algn="ctr"/>
            <a:r>
              <a:rPr sz="1400" b="0" i="0">
                <a:solidFill>
                  <a:srgbClr val="FFFFFF"/>
                </a:solidFill>
              </a:rPr>
              <a:t>✓</a:t>
            </a:r>
          </a:p>
        </p:txBody>
      </p:sp>
      <p:sp>
        <p:nvSpPr>
          <p:cNvPr id="31" name="Rectangle 30"/>
          <p:cNvSpPr/>
          <p:nvPr/>
        </p:nvSpPr>
        <p:spPr>
          <a:xfrm>
            <a:off x="4572000" y="2715768"/>
            <a:ext cx="182880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2825496"/>
            <a:ext cx="1691640" cy="411480"/>
          </a:xfrm>
          <a:prstGeom prst="rect">
            <a:avLst/>
          </a:prstGeom>
          <a:noFill/>
        </p:spPr>
        <p:txBody>
          <a:bodyPr wrap="square">
            <a:spAutoFit/>
          </a:bodyPr>
          <a:lstStyle/>
          <a:p>
            <a:pPr algn="ctr"/>
            <a:r>
              <a:rPr sz="1400" b="0" i="0">
                <a:solidFill>
                  <a:srgbClr val="99AABB"/>
                </a:solidFill>
              </a:rPr>
              <a:t>✗</a:t>
            </a:r>
          </a:p>
        </p:txBody>
      </p:sp>
      <p:sp>
        <p:nvSpPr>
          <p:cNvPr id="33" name="Rectangle 32"/>
          <p:cNvSpPr/>
          <p:nvPr/>
        </p:nvSpPr>
        <p:spPr>
          <a:xfrm>
            <a:off x="6583680" y="2715768"/>
            <a:ext cx="182880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56832" y="2825496"/>
            <a:ext cx="1691640" cy="411480"/>
          </a:xfrm>
          <a:prstGeom prst="rect">
            <a:avLst/>
          </a:prstGeom>
          <a:noFill/>
        </p:spPr>
        <p:txBody>
          <a:bodyPr wrap="square">
            <a:spAutoFit/>
          </a:bodyPr>
          <a:lstStyle/>
          <a:p>
            <a:pPr algn="ctr"/>
            <a:r>
              <a:rPr sz="1400" b="0" i="0">
                <a:solidFill>
                  <a:srgbClr val="99AABB"/>
                </a:solidFill>
              </a:rPr>
              <a:t>✗</a:t>
            </a:r>
          </a:p>
        </p:txBody>
      </p:sp>
      <p:sp>
        <p:nvSpPr>
          <p:cNvPr id="35" name="Rectangle 34"/>
          <p:cNvSpPr/>
          <p:nvPr/>
        </p:nvSpPr>
        <p:spPr>
          <a:xfrm>
            <a:off x="8595360" y="2715768"/>
            <a:ext cx="3200400" cy="594360"/>
          </a:xfrm>
          <a:prstGeom prst="rect">
            <a:avLst/>
          </a:prstGeom>
          <a:solidFill>
            <a:srgbClr val="18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68512" y="2825496"/>
            <a:ext cx="3063240" cy="411480"/>
          </a:xfrm>
          <a:prstGeom prst="rect">
            <a:avLst/>
          </a:prstGeom>
          <a:noFill/>
        </p:spPr>
        <p:txBody>
          <a:bodyPr wrap="square">
            <a:spAutoFit/>
          </a:bodyPr>
          <a:lstStyle/>
          <a:p>
            <a:pPr algn="ctr"/>
            <a:r>
              <a:rPr sz="1400" b="1" i="0">
                <a:solidFill>
                  <a:srgbClr val="E8C46A"/>
                </a:solidFill>
              </a:rPr>
              <a:t>✓</a:t>
            </a:r>
          </a:p>
        </p:txBody>
      </p:sp>
      <p:sp>
        <p:nvSpPr>
          <p:cNvPr id="37" name="Rectangle 36"/>
          <p:cNvSpPr/>
          <p:nvPr/>
        </p:nvSpPr>
        <p:spPr>
          <a:xfrm>
            <a:off x="457200" y="3374136"/>
            <a:ext cx="210312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 y="3483864"/>
            <a:ext cx="1965960" cy="411480"/>
          </a:xfrm>
          <a:prstGeom prst="rect">
            <a:avLst/>
          </a:prstGeom>
          <a:noFill/>
        </p:spPr>
        <p:txBody>
          <a:bodyPr wrap="square">
            <a:spAutoFit/>
          </a:bodyPr>
          <a:lstStyle/>
          <a:p>
            <a:pPr algn="l"/>
            <a:r>
              <a:rPr sz="1300" b="0" i="0">
                <a:solidFill>
                  <a:srgbClr val="99AABB"/>
                </a:solidFill>
              </a:rPr>
              <a:t>Knowledge mapping</a:t>
            </a:r>
          </a:p>
        </p:txBody>
      </p:sp>
      <p:sp>
        <p:nvSpPr>
          <p:cNvPr id="39" name="Rectangle 38"/>
          <p:cNvSpPr/>
          <p:nvPr/>
        </p:nvSpPr>
        <p:spPr>
          <a:xfrm>
            <a:off x="2651760" y="3374136"/>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24912" y="3483864"/>
            <a:ext cx="1691640" cy="411480"/>
          </a:xfrm>
          <a:prstGeom prst="rect">
            <a:avLst/>
          </a:prstGeom>
          <a:noFill/>
        </p:spPr>
        <p:txBody>
          <a:bodyPr wrap="square">
            <a:spAutoFit/>
          </a:bodyPr>
          <a:lstStyle/>
          <a:p>
            <a:pPr algn="ctr"/>
            <a:r>
              <a:rPr sz="1400" b="0" i="0">
                <a:solidFill>
                  <a:srgbClr val="99AABB"/>
                </a:solidFill>
              </a:rPr>
              <a:t>✗</a:t>
            </a:r>
          </a:p>
        </p:txBody>
      </p:sp>
      <p:sp>
        <p:nvSpPr>
          <p:cNvPr id="41" name="Rectangle 40"/>
          <p:cNvSpPr/>
          <p:nvPr/>
        </p:nvSpPr>
        <p:spPr>
          <a:xfrm>
            <a:off x="4572000" y="3374136"/>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45152" y="3483864"/>
            <a:ext cx="1691640" cy="411480"/>
          </a:xfrm>
          <a:prstGeom prst="rect">
            <a:avLst/>
          </a:prstGeom>
          <a:noFill/>
        </p:spPr>
        <p:txBody>
          <a:bodyPr wrap="square">
            <a:spAutoFit/>
          </a:bodyPr>
          <a:lstStyle/>
          <a:p>
            <a:pPr algn="ctr"/>
            <a:r>
              <a:rPr sz="1400" b="0" i="0">
                <a:solidFill>
                  <a:srgbClr val="99AABB"/>
                </a:solidFill>
              </a:rPr>
              <a:t>✗</a:t>
            </a:r>
          </a:p>
        </p:txBody>
      </p:sp>
      <p:sp>
        <p:nvSpPr>
          <p:cNvPr id="43" name="Rectangle 42"/>
          <p:cNvSpPr/>
          <p:nvPr/>
        </p:nvSpPr>
        <p:spPr>
          <a:xfrm>
            <a:off x="6583680" y="3374136"/>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56832" y="3483864"/>
            <a:ext cx="1691640" cy="411480"/>
          </a:xfrm>
          <a:prstGeom prst="rect">
            <a:avLst/>
          </a:prstGeom>
          <a:noFill/>
        </p:spPr>
        <p:txBody>
          <a:bodyPr wrap="square">
            <a:spAutoFit/>
          </a:bodyPr>
          <a:lstStyle/>
          <a:p>
            <a:pPr algn="ctr"/>
            <a:r>
              <a:rPr sz="1400" b="0" i="0">
                <a:solidFill>
                  <a:srgbClr val="99AABB"/>
                </a:solidFill>
              </a:rPr>
              <a:t>✗</a:t>
            </a:r>
          </a:p>
        </p:txBody>
      </p:sp>
      <p:sp>
        <p:nvSpPr>
          <p:cNvPr id="45" name="Rectangle 44"/>
          <p:cNvSpPr/>
          <p:nvPr/>
        </p:nvSpPr>
        <p:spPr>
          <a:xfrm>
            <a:off x="8595360" y="3374136"/>
            <a:ext cx="3200400" cy="594360"/>
          </a:xfrm>
          <a:prstGeom prst="rect">
            <a:avLst/>
          </a:prstGeom>
          <a:solidFill>
            <a:srgbClr val="18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68512" y="3483864"/>
            <a:ext cx="3063240" cy="411480"/>
          </a:xfrm>
          <a:prstGeom prst="rect">
            <a:avLst/>
          </a:prstGeom>
          <a:noFill/>
        </p:spPr>
        <p:txBody>
          <a:bodyPr wrap="square">
            <a:spAutoFit/>
          </a:bodyPr>
          <a:lstStyle/>
          <a:p>
            <a:pPr algn="ctr"/>
            <a:r>
              <a:rPr sz="1400" b="1" i="0">
                <a:solidFill>
                  <a:srgbClr val="E8C46A"/>
                </a:solidFill>
              </a:rPr>
              <a:t>✓</a:t>
            </a:r>
          </a:p>
        </p:txBody>
      </p:sp>
      <p:sp>
        <p:nvSpPr>
          <p:cNvPr id="47" name="Rectangle 46"/>
          <p:cNvSpPr/>
          <p:nvPr/>
        </p:nvSpPr>
        <p:spPr>
          <a:xfrm>
            <a:off x="457200" y="4032504"/>
            <a:ext cx="210312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 y="4142232"/>
            <a:ext cx="1965960" cy="411480"/>
          </a:xfrm>
          <a:prstGeom prst="rect">
            <a:avLst/>
          </a:prstGeom>
          <a:noFill/>
        </p:spPr>
        <p:txBody>
          <a:bodyPr wrap="square">
            <a:spAutoFit/>
          </a:bodyPr>
          <a:lstStyle/>
          <a:p>
            <a:pPr algn="l"/>
            <a:r>
              <a:rPr sz="1300" b="0" i="0">
                <a:solidFill>
                  <a:srgbClr val="99AABB"/>
                </a:solidFill>
              </a:rPr>
              <a:t>Affordable pricing</a:t>
            </a:r>
          </a:p>
        </p:txBody>
      </p:sp>
      <p:sp>
        <p:nvSpPr>
          <p:cNvPr id="49" name="Rectangle 48"/>
          <p:cNvSpPr/>
          <p:nvPr/>
        </p:nvSpPr>
        <p:spPr>
          <a:xfrm>
            <a:off x="2651760" y="4032504"/>
            <a:ext cx="182880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24912" y="4142232"/>
            <a:ext cx="1691640" cy="411480"/>
          </a:xfrm>
          <a:prstGeom prst="rect">
            <a:avLst/>
          </a:prstGeom>
          <a:noFill/>
        </p:spPr>
        <p:txBody>
          <a:bodyPr wrap="square">
            <a:spAutoFit/>
          </a:bodyPr>
          <a:lstStyle/>
          <a:p>
            <a:pPr algn="ctr"/>
            <a:r>
              <a:rPr sz="1400" b="0" i="0">
                <a:solidFill>
                  <a:srgbClr val="FFFFFF"/>
                </a:solidFill>
              </a:rPr>
              <a:t>✓</a:t>
            </a:r>
          </a:p>
        </p:txBody>
      </p:sp>
      <p:sp>
        <p:nvSpPr>
          <p:cNvPr id="51" name="Rectangle 50"/>
          <p:cNvSpPr/>
          <p:nvPr/>
        </p:nvSpPr>
        <p:spPr>
          <a:xfrm>
            <a:off x="4572000" y="4032504"/>
            <a:ext cx="182880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45152" y="4142232"/>
            <a:ext cx="1691640" cy="411480"/>
          </a:xfrm>
          <a:prstGeom prst="rect">
            <a:avLst/>
          </a:prstGeom>
          <a:noFill/>
        </p:spPr>
        <p:txBody>
          <a:bodyPr wrap="square">
            <a:spAutoFit/>
          </a:bodyPr>
          <a:lstStyle/>
          <a:p>
            <a:pPr algn="ctr"/>
            <a:r>
              <a:rPr sz="1400" b="0" i="0">
                <a:solidFill>
                  <a:srgbClr val="99AABB"/>
                </a:solidFill>
              </a:rPr>
              <a:t>✗</a:t>
            </a:r>
          </a:p>
        </p:txBody>
      </p:sp>
      <p:sp>
        <p:nvSpPr>
          <p:cNvPr id="53" name="Rectangle 52"/>
          <p:cNvSpPr/>
          <p:nvPr/>
        </p:nvSpPr>
        <p:spPr>
          <a:xfrm>
            <a:off x="6583680" y="4032504"/>
            <a:ext cx="1828800" cy="59436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56832" y="4142232"/>
            <a:ext cx="1691640" cy="411480"/>
          </a:xfrm>
          <a:prstGeom prst="rect">
            <a:avLst/>
          </a:prstGeom>
          <a:noFill/>
        </p:spPr>
        <p:txBody>
          <a:bodyPr wrap="square">
            <a:spAutoFit/>
          </a:bodyPr>
          <a:lstStyle/>
          <a:p>
            <a:pPr algn="ctr"/>
            <a:r>
              <a:rPr sz="1400" b="0" i="0">
                <a:solidFill>
                  <a:srgbClr val="99AABB"/>
                </a:solidFill>
              </a:rPr>
              <a:t>✗</a:t>
            </a:r>
          </a:p>
        </p:txBody>
      </p:sp>
      <p:sp>
        <p:nvSpPr>
          <p:cNvPr id="55" name="Rectangle 54"/>
          <p:cNvSpPr/>
          <p:nvPr/>
        </p:nvSpPr>
        <p:spPr>
          <a:xfrm>
            <a:off x="8595360" y="4032504"/>
            <a:ext cx="3200400" cy="594360"/>
          </a:xfrm>
          <a:prstGeom prst="rect">
            <a:avLst/>
          </a:prstGeom>
          <a:solidFill>
            <a:srgbClr val="18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68512" y="4142232"/>
            <a:ext cx="3063240" cy="411480"/>
          </a:xfrm>
          <a:prstGeom prst="rect">
            <a:avLst/>
          </a:prstGeom>
          <a:noFill/>
        </p:spPr>
        <p:txBody>
          <a:bodyPr wrap="square">
            <a:spAutoFit/>
          </a:bodyPr>
          <a:lstStyle/>
          <a:p>
            <a:pPr algn="ctr"/>
            <a:r>
              <a:rPr sz="1400" b="1" i="0">
                <a:solidFill>
                  <a:srgbClr val="E8C46A"/>
                </a:solidFill>
              </a:rPr>
              <a:t>✓</a:t>
            </a:r>
          </a:p>
        </p:txBody>
      </p:sp>
      <p:sp>
        <p:nvSpPr>
          <p:cNvPr id="57" name="Rectangle 56"/>
          <p:cNvSpPr/>
          <p:nvPr/>
        </p:nvSpPr>
        <p:spPr>
          <a:xfrm>
            <a:off x="457200" y="4690872"/>
            <a:ext cx="210312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0352" y="4800600"/>
            <a:ext cx="1965960" cy="411480"/>
          </a:xfrm>
          <a:prstGeom prst="rect">
            <a:avLst/>
          </a:prstGeom>
          <a:noFill/>
        </p:spPr>
        <p:txBody>
          <a:bodyPr wrap="square">
            <a:spAutoFit/>
          </a:bodyPr>
          <a:lstStyle/>
          <a:p>
            <a:pPr algn="l"/>
            <a:r>
              <a:rPr sz="1300" b="0" i="0">
                <a:solidFill>
                  <a:srgbClr val="99AABB"/>
                </a:solidFill>
              </a:rPr>
              <a:t>Tutor career tools</a:t>
            </a:r>
          </a:p>
        </p:txBody>
      </p:sp>
      <p:sp>
        <p:nvSpPr>
          <p:cNvPr id="59" name="Rectangle 58"/>
          <p:cNvSpPr/>
          <p:nvPr/>
        </p:nvSpPr>
        <p:spPr>
          <a:xfrm>
            <a:off x="2651760" y="4690872"/>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724912" y="4800600"/>
            <a:ext cx="1691640" cy="411480"/>
          </a:xfrm>
          <a:prstGeom prst="rect">
            <a:avLst/>
          </a:prstGeom>
          <a:noFill/>
        </p:spPr>
        <p:txBody>
          <a:bodyPr wrap="square">
            <a:spAutoFit/>
          </a:bodyPr>
          <a:lstStyle/>
          <a:p>
            <a:pPr algn="ctr"/>
            <a:r>
              <a:rPr sz="1400" b="0" i="0">
                <a:solidFill>
                  <a:srgbClr val="99AABB"/>
                </a:solidFill>
              </a:rPr>
              <a:t>✗</a:t>
            </a:r>
          </a:p>
        </p:txBody>
      </p:sp>
      <p:sp>
        <p:nvSpPr>
          <p:cNvPr id="61" name="Rectangle 60"/>
          <p:cNvSpPr/>
          <p:nvPr/>
        </p:nvSpPr>
        <p:spPr>
          <a:xfrm>
            <a:off x="4572000" y="4690872"/>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45152" y="4800600"/>
            <a:ext cx="1691640" cy="411480"/>
          </a:xfrm>
          <a:prstGeom prst="rect">
            <a:avLst/>
          </a:prstGeom>
          <a:noFill/>
        </p:spPr>
        <p:txBody>
          <a:bodyPr wrap="square">
            <a:spAutoFit/>
          </a:bodyPr>
          <a:lstStyle/>
          <a:p>
            <a:pPr algn="ctr"/>
            <a:r>
              <a:rPr sz="1400" b="0" i="0">
                <a:solidFill>
                  <a:srgbClr val="FFFFFF"/>
                </a:solidFill>
              </a:rPr>
              <a:t>✓</a:t>
            </a:r>
          </a:p>
        </p:txBody>
      </p:sp>
      <p:sp>
        <p:nvSpPr>
          <p:cNvPr id="63" name="Rectangle 62"/>
          <p:cNvSpPr/>
          <p:nvPr/>
        </p:nvSpPr>
        <p:spPr>
          <a:xfrm>
            <a:off x="6583680" y="4690872"/>
            <a:ext cx="1828800" cy="594360"/>
          </a:xfrm>
          <a:prstGeom prst="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56832" y="4800600"/>
            <a:ext cx="1691640" cy="411480"/>
          </a:xfrm>
          <a:prstGeom prst="rect">
            <a:avLst/>
          </a:prstGeom>
          <a:noFill/>
        </p:spPr>
        <p:txBody>
          <a:bodyPr wrap="square">
            <a:spAutoFit/>
          </a:bodyPr>
          <a:lstStyle/>
          <a:p>
            <a:pPr algn="ctr"/>
            <a:r>
              <a:rPr sz="1400" b="0" i="0">
                <a:solidFill>
                  <a:srgbClr val="99AABB"/>
                </a:solidFill>
              </a:rPr>
              <a:t>Limited</a:t>
            </a:r>
          </a:p>
        </p:txBody>
      </p:sp>
      <p:sp>
        <p:nvSpPr>
          <p:cNvPr id="65" name="Rectangle 64"/>
          <p:cNvSpPr/>
          <p:nvPr/>
        </p:nvSpPr>
        <p:spPr>
          <a:xfrm>
            <a:off x="8595360" y="4690872"/>
            <a:ext cx="3200400" cy="594360"/>
          </a:xfrm>
          <a:prstGeom prst="rect">
            <a:avLst/>
          </a:prstGeom>
          <a:solidFill>
            <a:srgbClr val="18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668512" y="4800600"/>
            <a:ext cx="3063240" cy="411480"/>
          </a:xfrm>
          <a:prstGeom prst="rect">
            <a:avLst/>
          </a:prstGeom>
          <a:noFill/>
        </p:spPr>
        <p:txBody>
          <a:bodyPr wrap="square">
            <a:spAutoFit/>
          </a:bodyPr>
          <a:lstStyle/>
          <a:p>
            <a:pPr algn="ctr"/>
            <a:r>
              <a:rPr sz="1400" b="1" i="0">
                <a:solidFill>
                  <a:srgbClr val="E8C46A"/>
                </a:solidFil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6 / 10</a:t>
            </a:r>
          </a:p>
        </p:txBody>
      </p:sp>
      <p:sp>
        <p:nvSpPr>
          <p:cNvPr id="5" name="TextBox 4"/>
          <p:cNvSpPr txBox="1"/>
          <p:nvPr/>
        </p:nvSpPr>
        <p:spPr>
          <a:xfrm>
            <a:off x="640080" y="365760"/>
            <a:ext cx="4572000" cy="457200"/>
          </a:xfrm>
          <a:prstGeom prst="rect">
            <a:avLst/>
          </a:prstGeom>
          <a:noFill/>
        </p:spPr>
        <p:txBody>
          <a:bodyPr wrap="square">
            <a:spAutoFit/>
          </a:bodyPr>
          <a:lstStyle/>
          <a:p>
            <a:pPr algn="l"/>
            <a:r>
              <a:rPr sz="1200" b="1" i="0">
                <a:solidFill>
                  <a:srgbClr val="E8C46A"/>
                </a:solidFill>
              </a:rPr>
              <a:t>BUSINESS MODEL</a:t>
            </a:r>
          </a:p>
        </p:txBody>
      </p:sp>
      <p:sp>
        <p:nvSpPr>
          <p:cNvPr id="6" name="TextBox 5"/>
          <p:cNvSpPr txBox="1"/>
          <p:nvPr/>
        </p:nvSpPr>
        <p:spPr>
          <a:xfrm>
            <a:off x="640080" y="777240"/>
            <a:ext cx="8229600" cy="640080"/>
          </a:xfrm>
          <a:prstGeom prst="rect">
            <a:avLst/>
          </a:prstGeom>
          <a:noFill/>
        </p:spPr>
        <p:txBody>
          <a:bodyPr wrap="square">
            <a:spAutoFit/>
          </a:bodyPr>
          <a:lstStyle/>
          <a:p>
            <a:pPr algn="l"/>
            <a:r>
              <a:rPr sz="3000" b="1" i="0">
                <a:solidFill>
                  <a:srgbClr val="FFFFFF"/>
                </a:solidFill>
              </a:rPr>
              <a:t>Premium support. Accessible price.</a:t>
            </a:r>
          </a:p>
        </p:txBody>
      </p:sp>
      <p:sp>
        <p:nvSpPr>
          <p:cNvPr id="7" name="Rectangle 6"/>
          <p:cNvSpPr/>
          <p:nvPr/>
        </p:nvSpPr>
        <p:spPr>
          <a:xfrm>
            <a:off x="548640" y="1737360"/>
            <a:ext cx="3520440" cy="411480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3520440" cy="109728"/>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65960"/>
            <a:ext cx="3108960" cy="731520"/>
          </a:xfrm>
          <a:prstGeom prst="rect">
            <a:avLst/>
          </a:prstGeom>
          <a:noFill/>
        </p:spPr>
        <p:txBody>
          <a:bodyPr wrap="square">
            <a:spAutoFit/>
          </a:bodyPr>
          <a:lstStyle/>
          <a:p>
            <a:pPr algn="l"/>
            <a:r>
              <a:rPr sz="1900" b="1" i="0">
                <a:solidFill>
                  <a:srgbClr val="2D9C9C"/>
                </a:solidFill>
              </a:rPr>
              <a:t>Subscription
Plans</a:t>
            </a:r>
          </a:p>
        </p:txBody>
      </p:sp>
      <p:sp>
        <p:nvSpPr>
          <p:cNvPr id="10" name="TextBox 9"/>
          <p:cNvSpPr txBox="1"/>
          <p:nvPr/>
        </p:nvSpPr>
        <p:spPr>
          <a:xfrm>
            <a:off x="731520" y="2834640"/>
            <a:ext cx="3108960" cy="2560320"/>
          </a:xfrm>
          <a:prstGeom prst="rect">
            <a:avLst/>
          </a:prstGeom>
          <a:noFill/>
        </p:spPr>
        <p:txBody>
          <a:bodyPr wrap="square">
            <a:spAutoFit/>
          </a:bodyPr>
          <a:lstStyle/>
          <a:p>
            <a:pPr algn="l"/>
            <a:r>
              <a:rPr sz="1300" b="0" i="0">
                <a:solidFill>
                  <a:srgbClr val="D0D8E8"/>
                </a:solidFill>
              </a:rPr>
              <a:t>Monthly bundles covering live sessions + practice + notes.
Priced at a fraction of traditional tutoring.</a:t>
            </a:r>
          </a:p>
        </p:txBody>
      </p:sp>
      <p:sp>
        <p:nvSpPr>
          <p:cNvPr id="11" name="Rectangle 10"/>
          <p:cNvSpPr/>
          <p:nvPr/>
        </p:nvSpPr>
        <p:spPr>
          <a:xfrm>
            <a:off x="4389120" y="1737360"/>
            <a:ext cx="3520440" cy="411480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737360"/>
            <a:ext cx="3520440" cy="109728"/>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965960"/>
            <a:ext cx="3108960" cy="731520"/>
          </a:xfrm>
          <a:prstGeom prst="rect">
            <a:avLst/>
          </a:prstGeom>
          <a:noFill/>
        </p:spPr>
        <p:txBody>
          <a:bodyPr wrap="square">
            <a:spAutoFit/>
          </a:bodyPr>
          <a:lstStyle/>
          <a:p>
            <a:pPr algn="l"/>
            <a:r>
              <a:rPr sz="1900" b="1" i="0">
                <a:solidFill>
                  <a:srgbClr val="E8C46A"/>
                </a:solidFill>
              </a:rPr>
              <a:t>Tutor Revenue
Share</a:t>
            </a:r>
          </a:p>
        </p:txBody>
      </p:sp>
      <p:sp>
        <p:nvSpPr>
          <p:cNvPr id="14" name="TextBox 13"/>
          <p:cNvSpPr txBox="1"/>
          <p:nvPr/>
        </p:nvSpPr>
        <p:spPr>
          <a:xfrm>
            <a:off x="4572000" y="2834640"/>
            <a:ext cx="3108960" cy="2560320"/>
          </a:xfrm>
          <a:prstGeom prst="rect">
            <a:avLst/>
          </a:prstGeom>
          <a:noFill/>
        </p:spPr>
        <p:txBody>
          <a:bodyPr wrap="square">
            <a:spAutoFit/>
          </a:bodyPr>
          <a:lstStyle/>
          <a:p>
            <a:pPr algn="l"/>
            <a:r>
              <a:rPr sz="1300" b="0" i="0">
                <a:solidFill>
                  <a:srgbClr val="D0D8E8"/>
                </a:solidFill>
              </a:rPr>
              <a:t>Tutors earn per session and grow their client base
through the platform — aligned incentives.</a:t>
            </a:r>
          </a:p>
        </p:txBody>
      </p:sp>
      <p:sp>
        <p:nvSpPr>
          <p:cNvPr id="15" name="Rectangle 14"/>
          <p:cNvSpPr/>
          <p:nvPr/>
        </p:nvSpPr>
        <p:spPr>
          <a:xfrm>
            <a:off x="8229600" y="1737360"/>
            <a:ext cx="3520440" cy="411480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737360"/>
            <a:ext cx="3520440" cy="109728"/>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1965960"/>
            <a:ext cx="3108960" cy="731520"/>
          </a:xfrm>
          <a:prstGeom prst="rect">
            <a:avLst/>
          </a:prstGeom>
          <a:noFill/>
        </p:spPr>
        <p:txBody>
          <a:bodyPr wrap="square">
            <a:spAutoFit/>
          </a:bodyPr>
          <a:lstStyle/>
          <a:p>
            <a:pPr algn="l"/>
            <a:r>
              <a:rPr sz="1900" b="1" i="0">
                <a:solidFill>
                  <a:srgbClr val="7B5EA7"/>
                </a:solidFill>
              </a:rPr>
              <a:t>Institution
Partnerships</a:t>
            </a:r>
          </a:p>
        </p:txBody>
      </p:sp>
      <p:sp>
        <p:nvSpPr>
          <p:cNvPr id="18" name="TextBox 17"/>
          <p:cNvSpPr txBox="1"/>
          <p:nvPr/>
        </p:nvSpPr>
        <p:spPr>
          <a:xfrm>
            <a:off x="8412480" y="2834640"/>
            <a:ext cx="3108960" cy="2560320"/>
          </a:xfrm>
          <a:prstGeom prst="rect">
            <a:avLst/>
          </a:prstGeom>
          <a:noFill/>
        </p:spPr>
        <p:txBody>
          <a:bodyPr wrap="square">
            <a:spAutoFit/>
          </a:bodyPr>
          <a:lstStyle/>
          <a:p>
            <a:pPr algn="l"/>
            <a:r>
              <a:rPr sz="1300" b="0" i="0">
                <a:solidFill>
                  <a:srgbClr val="D0D8E8"/>
                </a:solidFill>
              </a:rPr>
              <a:t>Schools &amp; districts license MindCraft to close
learning gaps at scale — B2B2C path.</a:t>
            </a:r>
          </a:p>
        </p:txBody>
      </p:sp>
      <p:sp>
        <p:nvSpPr>
          <p:cNvPr id="19" name="TextBox 18"/>
          <p:cNvSpPr txBox="1"/>
          <p:nvPr/>
        </p:nvSpPr>
        <p:spPr>
          <a:xfrm>
            <a:off x="640080" y="5852160"/>
            <a:ext cx="10972800" cy="685800"/>
          </a:xfrm>
          <a:prstGeom prst="rect">
            <a:avLst/>
          </a:prstGeom>
          <a:noFill/>
        </p:spPr>
        <p:txBody>
          <a:bodyPr wrap="square">
            <a:spAutoFit/>
          </a:bodyPr>
          <a:lstStyle/>
          <a:p>
            <a:pPr algn="l"/>
            <a:r>
              <a:rPr sz="1300" b="0" i="1">
                <a:solidFill>
                  <a:srgbClr val="E8C46A"/>
                </a:solidFill>
              </a:rPr>
              <a:t>Traditional premium tutoring: $80–$120 / hr
MindCraft target: $30–50 / hr equivalent  ✓  No quality compromise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7 / 10</a:t>
            </a:r>
          </a:p>
        </p:txBody>
      </p:sp>
      <p:sp>
        <p:nvSpPr>
          <p:cNvPr id="5" name="TextBox 4"/>
          <p:cNvSpPr txBox="1"/>
          <p:nvPr/>
        </p:nvSpPr>
        <p:spPr>
          <a:xfrm>
            <a:off x="640080" y="365760"/>
            <a:ext cx="6400800" cy="457200"/>
          </a:xfrm>
          <a:prstGeom prst="rect">
            <a:avLst/>
          </a:prstGeom>
          <a:noFill/>
        </p:spPr>
        <p:txBody>
          <a:bodyPr wrap="square">
            <a:spAutoFit/>
          </a:bodyPr>
          <a:lstStyle/>
          <a:p>
            <a:pPr algn="l"/>
            <a:r>
              <a:rPr sz="1200" b="1" i="0">
                <a:solidFill>
                  <a:srgbClr val="2D9C9C"/>
                </a:solidFill>
              </a:rPr>
              <a:t>TRACTION &amp; VALIDATION</a:t>
            </a:r>
          </a:p>
        </p:txBody>
      </p:sp>
      <p:sp>
        <p:nvSpPr>
          <p:cNvPr id="6" name="TextBox 5"/>
          <p:cNvSpPr txBox="1"/>
          <p:nvPr/>
        </p:nvSpPr>
        <p:spPr>
          <a:xfrm>
            <a:off x="640080" y="777240"/>
            <a:ext cx="8229600" cy="640080"/>
          </a:xfrm>
          <a:prstGeom prst="rect">
            <a:avLst/>
          </a:prstGeom>
          <a:noFill/>
        </p:spPr>
        <p:txBody>
          <a:bodyPr wrap="square">
            <a:spAutoFit/>
          </a:bodyPr>
          <a:lstStyle/>
          <a:p>
            <a:pPr algn="l"/>
            <a:r>
              <a:rPr sz="3000" b="1" i="0">
                <a:solidFill>
                  <a:srgbClr val="FFFFFF"/>
                </a:solidFill>
              </a:rPr>
              <a:t>Early signal. Real conversations.</a:t>
            </a:r>
          </a:p>
        </p:txBody>
      </p:sp>
      <p:sp>
        <p:nvSpPr>
          <p:cNvPr id="7" name="Rectangle 6"/>
          <p:cNvSpPr/>
          <p:nvPr/>
        </p:nvSpPr>
        <p:spPr>
          <a:xfrm>
            <a:off x="548640" y="1828800"/>
            <a:ext cx="5486400" cy="169164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109728" cy="1691640"/>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965960"/>
            <a:ext cx="5029200" cy="365760"/>
          </a:xfrm>
          <a:prstGeom prst="rect">
            <a:avLst/>
          </a:prstGeom>
          <a:noFill/>
        </p:spPr>
        <p:txBody>
          <a:bodyPr wrap="square">
            <a:spAutoFit/>
          </a:bodyPr>
          <a:lstStyle/>
          <a:p>
            <a:pPr algn="l"/>
            <a:r>
              <a:rPr sz="1400" b="1" i="0">
                <a:solidFill>
                  <a:srgbClr val="2D9C9C"/>
                </a:solidFill>
              </a:rPr>
              <a:t>Product</a:t>
            </a:r>
          </a:p>
        </p:txBody>
      </p:sp>
      <p:sp>
        <p:nvSpPr>
          <p:cNvPr id="10" name="TextBox 9"/>
          <p:cNvSpPr txBox="1"/>
          <p:nvPr/>
        </p:nvSpPr>
        <p:spPr>
          <a:xfrm>
            <a:off x="804672" y="2377440"/>
            <a:ext cx="5029200" cy="1005840"/>
          </a:xfrm>
          <a:prstGeom prst="rect">
            <a:avLst/>
          </a:prstGeom>
          <a:noFill/>
        </p:spPr>
        <p:txBody>
          <a:bodyPr wrap="square">
            <a:spAutoFit/>
          </a:bodyPr>
          <a:lstStyle/>
          <a:p>
            <a:pPr algn="l"/>
            <a:r>
              <a:rPr sz="1300" b="0" i="0">
                <a:solidFill>
                  <a:srgbClr val="D0D8E8"/>
                </a:solidFill>
              </a:rPr>
              <a:t>Working MVP: adaptive tutoring, practice generation,
student constellation dashboard — deployed.</a:t>
            </a:r>
          </a:p>
        </p:txBody>
      </p:sp>
      <p:sp>
        <p:nvSpPr>
          <p:cNvPr id="11" name="Rectangle 10"/>
          <p:cNvSpPr/>
          <p:nvPr/>
        </p:nvSpPr>
        <p:spPr>
          <a:xfrm>
            <a:off x="6400800" y="1828800"/>
            <a:ext cx="5486400" cy="169164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828800"/>
            <a:ext cx="109728" cy="1691640"/>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2" y="1965960"/>
            <a:ext cx="5029200" cy="365760"/>
          </a:xfrm>
          <a:prstGeom prst="rect">
            <a:avLst/>
          </a:prstGeom>
          <a:noFill/>
        </p:spPr>
        <p:txBody>
          <a:bodyPr wrap="square">
            <a:spAutoFit/>
          </a:bodyPr>
          <a:lstStyle/>
          <a:p>
            <a:pPr algn="l"/>
            <a:r>
              <a:rPr sz="1400" b="1" i="0">
                <a:solidFill>
                  <a:srgbClr val="E8C46A"/>
                </a:solidFill>
              </a:rPr>
              <a:t>Mentorship</a:t>
            </a:r>
          </a:p>
        </p:txBody>
      </p:sp>
      <p:sp>
        <p:nvSpPr>
          <p:cNvPr id="14" name="TextBox 13"/>
          <p:cNvSpPr txBox="1"/>
          <p:nvPr/>
        </p:nvSpPr>
        <p:spPr>
          <a:xfrm>
            <a:off x="6656832" y="2377440"/>
            <a:ext cx="5029200" cy="1005840"/>
          </a:xfrm>
          <a:prstGeom prst="rect">
            <a:avLst/>
          </a:prstGeom>
          <a:noFill/>
        </p:spPr>
        <p:txBody>
          <a:bodyPr wrap="square">
            <a:spAutoFit/>
          </a:bodyPr>
          <a:lstStyle/>
          <a:p>
            <a:pPr algn="l"/>
            <a:r>
              <a:rPr sz="1300" b="0" i="0">
                <a:solidFill>
                  <a:srgbClr val="D0D8E8"/>
                </a:solidFill>
              </a:rPr>
              <a:t>Advising from Allan Martinez (Director, Macalester
Entrepreneurship &amp; Idea Lab) and Erik Halaas.</a:t>
            </a:r>
          </a:p>
        </p:txBody>
      </p:sp>
      <p:sp>
        <p:nvSpPr>
          <p:cNvPr id="15" name="Rectangle 14"/>
          <p:cNvSpPr/>
          <p:nvPr/>
        </p:nvSpPr>
        <p:spPr>
          <a:xfrm>
            <a:off x="548640" y="3794760"/>
            <a:ext cx="5486400" cy="169164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94760"/>
            <a:ext cx="109728" cy="169164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31920"/>
            <a:ext cx="5029200" cy="365760"/>
          </a:xfrm>
          <a:prstGeom prst="rect">
            <a:avLst/>
          </a:prstGeom>
          <a:noFill/>
        </p:spPr>
        <p:txBody>
          <a:bodyPr wrap="square">
            <a:spAutoFit/>
          </a:bodyPr>
          <a:lstStyle/>
          <a:p>
            <a:pPr algn="l"/>
            <a:r>
              <a:rPr sz="1400" b="1" i="0">
                <a:solidFill>
                  <a:srgbClr val="7B5EA7"/>
                </a:solidFill>
              </a:rPr>
              <a:t>Discovery</a:t>
            </a:r>
          </a:p>
        </p:txBody>
      </p:sp>
      <p:sp>
        <p:nvSpPr>
          <p:cNvPr id="18" name="TextBox 17"/>
          <p:cNvSpPr txBox="1"/>
          <p:nvPr/>
        </p:nvSpPr>
        <p:spPr>
          <a:xfrm>
            <a:off x="804672" y="4343400"/>
            <a:ext cx="5029200" cy="1005840"/>
          </a:xfrm>
          <a:prstGeom prst="rect">
            <a:avLst/>
          </a:prstGeom>
          <a:noFill/>
        </p:spPr>
        <p:txBody>
          <a:bodyPr wrap="square">
            <a:spAutoFit/>
          </a:bodyPr>
          <a:lstStyle/>
          <a:p>
            <a:pPr algn="l"/>
            <a:r>
              <a:rPr sz="1300" b="0" i="0">
                <a:solidFill>
                  <a:srgbClr val="D0D8E8"/>
                </a:solidFill>
              </a:rPr>
              <a:t>Direct interviews with parents and tutors —
practical and emotional needs documented.</a:t>
            </a:r>
          </a:p>
        </p:txBody>
      </p:sp>
      <p:sp>
        <p:nvSpPr>
          <p:cNvPr id="19" name="Rectangle 18"/>
          <p:cNvSpPr/>
          <p:nvPr/>
        </p:nvSpPr>
        <p:spPr>
          <a:xfrm>
            <a:off x="6400800" y="3794760"/>
            <a:ext cx="5486400" cy="169164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3794760"/>
            <a:ext cx="109728" cy="1691640"/>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3931920"/>
            <a:ext cx="5029200" cy="365760"/>
          </a:xfrm>
          <a:prstGeom prst="rect">
            <a:avLst/>
          </a:prstGeom>
          <a:noFill/>
        </p:spPr>
        <p:txBody>
          <a:bodyPr wrap="square">
            <a:spAutoFit/>
          </a:bodyPr>
          <a:lstStyle/>
          <a:p>
            <a:pPr algn="l"/>
            <a:r>
              <a:rPr sz="1400" b="1" i="0">
                <a:solidFill>
                  <a:srgbClr val="2D9C9C"/>
                </a:solidFill>
              </a:rPr>
              <a:t>Learning</a:t>
            </a:r>
          </a:p>
        </p:txBody>
      </p:sp>
      <p:sp>
        <p:nvSpPr>
          <p:cNvPr id="22" name="TextBox 21"/>
          <p:cNvSpPr txBox="1"/>
          <p:nvPr/>
        </p:nvSpPr>
        <p:spPr>
          <a:xfrm>
            <a:off x="6656832" y="4343400"/>
            <a:ext cx="5029200" cy="1005840"/>
          </a:xfrm>
          <a:prstGeom prst="rect">
            <a:avLst/>
          </a:prstGeom>
          <a:noFill/>
        </p:spPr>
        <p:txBody>
          <a:bodyPr wrap="square">
            <a:spAutoFit/>
          </a:bodyPr>
          <a:lstStyle/>
          <a:p>
            <a:pPr algn="l"/>
            <a:r>
              <a:rPr sz="1300" b="0" i="0">
                <a:solidFill>
                  <a:srgbClr val="D0D8E8"/>
                </a:solidFill>
              </a:rPr>
              <a:t>Core insight: strong companies are built by listening
closely, not by chasing the coolest features.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8 / 10</a:t>
            </a:r>
          </a:p>
        </p:txBody>
      </p:sp>
      <p:sp>
        <p:nvSpPr>
          <p:cNvPr id="5" name="TextBox 4"/>
          <p:cNvSpPr txBox="1"/>
          <p:nvPr/>
        </p:nvSpPr>
        <p:spPr>
          <a:xfrm>
            <a:off x="640080" y="365760"/>
            <a:ext cx="4572000" cy="457200"/>
          </a:xfrm>
          <a:prstGeom prst="rect">
            <a:avLst/>
          </a:prstGeom>
          <a:noFill/>
        </p:spPr>
        <p:txBody>
          <a:bodyPr wrap="square">
            <a:spAutoFit/>
          </a:bodyPr>
          <a:lstStyle/>
          <a:p>
            <a:pPr algn="l"/>
            <a:r>
              <a:rPr sz="1200" b="1" i="0">
                <a:solidFill>
                  <a:srgbClr val="E8C46A"/>
                </a:solidFill>
              </a:rPr>
              <a:t>THE FOUNDERS</a:t>
            </a:r>
          </a:p>
        </p:txBody>
      </p:sp>
      <p:sp>
        <p:nvSpPr>
          <p:cNvPr id="6" name="TextBox 5"/>
          <p:cNvSpPr txBox="1"/>
          <p:nvPr/>
        </p:nvSpPr>
        <p:spPr>
          <a:xfrm>
            <a:off x="640080" y="777240"/>
            <a:ext cx="10058400" cy="640080"/>
          </a:xfrm>
          <a:prstGeom prst="rect">
            <a:avLst/>
          </a:prstGeom>
          <a:noFill/>
        </p:spPr>
        <p:txBody>
          <a:bodyPr wrap="square">
            <a:spAutoFit/>
          </a:bodyPr>
          <a:lstStyle/>
          <a:p>
            <a:pPr algn="l"/>
            <a:r>
              <a:rPr sz="3000" b="1" i="0">
                <a:solidFill>
                  <a:srgbClr val="FFFFFF"/>
                </a:solidFill>
              </a:rPr>
              <a:t>Built from lived experience in education.</a:t>
            </a:r>
          </a:p>
        </p:txBody>
      </p:sp>
      <p:sp>
        <p:nvSpPr>
          <p:cNvPr id="7" name="Oval 6"/>
          <p:cNvSpPr/>
          <p:nvPr/>
        </p:nvSpPr>
        <p:spPr>
          <a:xfrm>
            <a:off x="731520" y="1691640"/>
            <a:ext cx="1371600" cy="1371600"/>
          </a:xfrm>
          <a:prstGeom prst="ellipse">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20240"/>
            <a:ext cx="822960" cy="822960"/>
          </a:xfrm>
          <a:prstGeom prst="rect">
            <a:avLst/>
          </a:prstGeom>
          <a:noFill/>
        </p:spPr>
        <p:txBody>
          <a:bodyPr wrap="square">
            <a:spAutoFit/>
          </a:bodyPr>
          <a:lstStyle/>
          <a:p>
            <a:pPr algn="ctr"/>
            <a:r>
              <a:rPr sz="3600" b="1" i="0">
                <a:solidFill>
                  <a:srgbClr val="0D1B2A"/>
                </a:solidFill>
              </a:rPr>
              <a:t>A</a:t>
            </a:r>
          </a:p>
        </p:txBody>
      </p:sp>
      <p:sp>
        <p:nvSpPr>
          <p:cNvPr id="9" name="TextBox 8"/>
          <p:cNvSpPr txBox="1"/>
          <p:nvPr/>
        </p:nvSpPr>
        <p:spPr>
          <a:xfrm>
            <a:off x="2286000" y="1737360"/>
            <a:ext cx="3657600" cy="502920"/>
          </a:xfrm>
          <a:prstGeom prst="rect">
            <a:avLst/>
          </a:prstGeom>
          <a:noFill/>
        </p:spPr>
        <p:txBody>
          <a:bodyPr wrap="square">
            <a:spAutoFit/>
          </a:bodyPr>
          <a:lstStyle/>
          <a:p>
            <a:pPr algn="l"/>
            <a:r>
              <a:rPr sz="2000" b="1" i="0">
                <a:solidFill>
                  <a:srgbClr val="FFFFFF"/>
                </a:solidFill>
              </a:rPr>
              <a:t>Akshat Koirala</a:t>
            </a:r>
          </a:p>
        </p:txBody>
      </p:sp>
      <p:sp>
        <p:nvSpPr>
          <p:cNvPr id="10" name="TextBox 9"/>
          <p:cNvSpPr txBox="1"/>
          <p:nvPr/>
        </p:nvSpPr>
        <p:spPr>
          <a:xfrm>
            <a:off x="2286000" y="2240280"/>
            <a:ext cx="3657600" cy="365760"/>
          </a:xfrm>
          <a:prstGeom prst="rect">
            <a:avLst/>
          </a:prstGeom>
          <a:noFill/>
        </p:spPr>
        <p:txBody>
          <a:bodyPr wrap="square">
            <a:spAutoFit/>
          </a:bodyPr>
          <a:lstStyle/>
          <a:p>
            <a:pPr algn="l"/>
            <a:r>
              <a:rPr sz="1300" b="0" i="1">
                <a:solidFill>
                  <a:srgbClr val="E8C46A"/>
                </a:solidFill>
              </a:rPr>
              <a:t>Co-Founder</a:t>
            </a:r>
          </a:p>
        </p:txBody>
      </p:sp>
      <p:sp>
        <p:nvSpPr>
          <p:cNvPr id="11" name="TextBox 10"/>
          <p:cNvSpPr txBox="1"/>
          <p:nvPr/>
        </p:nvSpPr>
        <p:spPr>
          <a:xfrm>
            <a:off x="731520" y="3246120"/>
            <a:ext cx="5394960" cy="594360"/>
          </a:xfrm>
          <a:prstGeom prst="rect">
            <a:avLst/>
          </a:prstGeom>
          <a:noFill/>
        </p:spPr>
        <p:txBody>
          <a:bodyPr wrap="square">
            <a:spAutoFit/>
          </a:bodyPr>
          <a:lstStyle/>
          <a:p>
            <a:pPr algn="l"/>
            <a:r>
              <a:rPr sz="1200" b="0" i="0">
                <a:solidFill>
                  <a:srgbClr val="D0D8E8"/>
                </a:solidFill>
              </a:rPr>
              <a:t>• Macalester College — Economics &amp; Statistics</a:t>
            </a:r>
          </a:p>
        </p:txBody>
      </p:sp>
      <p:sp>
        <p:nvSpPr>
          <p:cNvPr id="12" name="TextBox 11"/>
          <p:cNvSpPr txBox="1"/>
          <p:nvPr/>
        </p:nvSpPr>
        <p:spPr>
          <a:xfrm>
            <a:off x="731520" y="3904487"/>
            <a:ext cx="5394960" cy="594360"/>
          </a:xfrm>
          <a:prstGeom prst="rect">
            <a:avLst/>
          </a:prstGeom>
          <a:noFill/>
        </p:spPr>
        <p:txBody>
          <a:bodyPr wrap="square">
            <a:spAutoFit/>
          </a:bodyPr>
          <a:lstStyle/>
          <a:p>
            <a:pPr algn="l"/>
            <a:r>
              <a:rPr sz="1200" b="0" i="0">
                <a:solidFill>
                  <a:srgbClr val="D0D8E8"/>
                </a:solidFill>
              </a:rPr>
              <a:t>• Product &amp; engineering lead for MindCraft</a:t>
            </a:r>
          </a:p>
        </p:txBody>
      </p:sp>
      <p:sp>
        <p:nvSpPr>
          <p:cNvPr id="13" name="TextBox 12"/>
          <p:cNvSpPr txBox="1"/>
          <p:nvPr/>
        </p:nvSpPr>
        <p:spPr>
          <a:xfrm>
            <a:off x="731520" y="4562856"/>
            <a:ext cx="5394960" cy="594360"/>
          </a:xfrm>
          <a:prstGeom prst="rect">
            <a:avLst/>
          </a:prstGeom>
          <a:noFill/>
        </p:spPr>
        <p:txBody>
          <a:bodyPr wrap="square">
            <a:spAutoFit/>
          </a:bodyPr>
          <a:lstStyle/>
          <a:p>
            <a:pPr algn="l"/>
            <a:r>
              <a:rPr sz="1200" b="0" i="0">
                <a:solidFill>
                  <a:srgbClr val="D0D8E8"/>
                </a:solidFill>
              </a:rPr>
              <a:t>• Built the MVP: tutoring flow, practice engine,
constellation dashboard</a:t>
            </a:r>
          </a:p>
        </p:txBody>
      </p:sp>
      <p:sp>
        <p:nvSpPr>
          <p:cNvPr id="14" name="TextBox 13"/>
          <p:cNvSpPr txBox="1"/>
          <p:nvPr/>
        </p:nvSpPr>
        <p:spPr>
          <a:xfrm>
            <a:off x="731520" y="5221224"/>
            <a:ext cx="5394960" cy="594360"/>
          </a:xfrm>
          <a:prstGeom prst="rect">
            <a:avLst/>
          </a:prstGeom>
          <a:noFill/>
        </p:spPr>
        <p:txBody>
          <a:bodyPr wrap="square">
            <a:spAutoFit/>
          </a:bodyPr>
          <a:lstStyle/>
          <a:p>
            <a:pPr algn="l"/>
            <a:r>
              <a:rPr sz="1200" b="0" i="0">
                <a:solidFill>
                  <a:srgbClr val="D0D8E8"/>
                </a:solidFill>
              </a:rPr>
              <a:t>• Motivated by watching talented students fall
behind not from lack of effort, but lack of
the right support structure</a:t>
            </a:r>
          </a:p>
        </p:txBody>
      </p:sp>
      <p:sp>
        <p:nvSpPr>
          <p:cNvPr id="15" name="Oval 14"/>
          <p:cNvSpPr/>
          <p:nvPr/>
        </p:nvSpPr>
        <p:spPr>
          <a:xfrm>
            <a:off x="6675120" y="1691640"/>
            <a:ext cx="1371600" cy="1371600"/>
          </a:xfrm>
          <a:prstGeom prst="ellipse">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1920240"/>
            <a:ext cx="822960" cy="822960"/>
          </a:xfrm>
          <a:prstGeom prst="rect">
            <a:avLst/>
          </a:prstGeom>
          <a:noFill/>
        </p:spPr>
        <p:txBody>
          <a:bodyPr wrap="square">
            <a:spAutoFit/>
          </a:bodyPr>
          <a:lstStyle/>
          <a:p>
            <a:pPr algn="ctr"/>
            <a:r>
              <a:rPr sz="3600" b="1" i="0">
                <a:solidFill>
                  <a:srgbClr val="0D1B2A"/>
                </a:solidFill>
              </a:rPr>
              <a:t>K</a:t>
            </a:r>
          </a:p>
        </p:txBody>
      </p:sp>
      <p:sp>
        <p:nvSpPr>
          <p:cNvPr id="17" name="TextBox 16"/>
          <p:cNvSpPr txBox="1"/>
          <p:nvPr/>
        </p:nvSpPr>
        <p:spPr>
          <a:xfrm>
            <a:off x="8229600" y="1737360"/>
            <a:ext cx="3657600" cy="502920"/>
          </a:xfrm>
          <a:prstGeom prst="rect">
            <a:avLst/>
          </a:prstGeom>
          <a:noFill/>
        </p:spPr>
        <p:txBody>
          <a:bodyPr wrap="square">
            <a:spAutoFit/>
          </a:bodyPr>
          <a:lstStyle/>
          <a:p>
            <a:pPr algn="l"/>
            <a:r>
              <a:rPr sz="2000" b="1" i="0">
                <a:solidFill>
                  <a:srgbClr val="FFFFFF"/>
                </a:solidFill>
              </a:rPr>
              <a:t>Kaif</a:t>
            </a:r>
          </a:p>
        </p:txBody>
      </p:sp>
      <p:sp>
        <p:nvSpPr>
          <p:cNvPr id="18" name="TextBox 17"/>
          <p:cNvSpPr txBox="1"/>
          <p:nvPr/>
        </p:nvSpPr>
        <p:spPr>
          <a:xfrm>
            <a:off x="8229600" y="2240280"/>
            <a:ext cx="3657600" cy="365760"/>
          </a:xfrm>
          <a:prstGeom prst="rect">
            <a:avLst/>
          </a:prstGeom>
          <a:noFill/>
        </p:spPr>
        <p:txBody>
          <a:bodyPr wrap="square">
            <a:spAutoFit/>
          </a:bodyPr>
          <a:lstStyle/>
          <a:p>
            <a:pPr algn="l"/>
            <a:r>
              <a:rPr sz="1300" b="0" i="1">
                <a:solidFill>
                  <a:srgbClr val="E8C46A"/>
                </a:solidFill>
              </a:rPr>
              <a:t>Co-Founder</a:t>
            </a:r>
          </a:p>
        </p:txBody>
      </p:sp>
      <p:sp>
        <p:nvSpPr>
          <p:cNvPr id="19" name="TextBox 18"/>
          <p:cNvSpPr txBox="1"/>
          <p:nvPr/>
        </p:nvSpPr>
        <p:spPr>
          <a:xfrm>
            <a:off x="6675120" y="3246120"/>
            <a:ext cx="5394960" cy="594360"/>
          </a:xfrm>
          <a:prstGeom prst="rect">
            <a:avLst/>
          </a:prstGeom>
          <a:noFill/>
        </p:spPr>
        <p:txBody>
          <a:bodyPr wrap="square">
            <a:spAutoFit/>
          </a:bodyPr>
          <a:lstStyle/>
          <a:p>
            <a:pPr algn="l"/>
            <a:r>
              <a:rPr sz="1200" b="0" i="0">
                <a:solidFill>
                  <a:srgbClr val="D0D8E8"/>
                </a:solidFill>
              </a:rPr>
              <a:t>• Macalester College</a:t>
            </a:r>
          </a:p>
        </p:txBody>
      </p:sp>
      <p:sp>
        <p:nvSpPr>
          <p:cNvPr id="20" name="TextBox 19"/>
          <p:cNvSpPr txBox="1"/>
          <p:nvPr/>
        </p:nvSpPr>
        <p:spPr>
          <a:xfrm>
            <a:off x="6675120" y="3904487"/>
            <a:ext cx="5394960" cy="594360"/>
          </a:xfrm>
          <a:prstGeom prst="rect">
            <a:avLst/>
          </a:prstGeom>
          <a:noFill/>
        </p:spPr>
        <p:txBody>
          <a:bodyPr wrap="square">
            <a:spAutoFit/>
          </a:bodyPr>
          <a:lstStyle/>
          <a:p>
            <a:pPr algn="l"/>
            <a:r>
              <a:rPr sz="1200" b="0" i="0">
                <a:solidFill>
                  <a:srgbClr val="D0D8E8"/>
                </a:solidFill>
              </a:rPr>
              <a:t>• Strategy, operations &amp; customer discovery lead</a:t>
            </a:r>
          </a:p>
        </p:txBody>
      </p:sp>
      <p:sp>
        <p:nvSpPr>
          <p:cNvPr id="21" name="TextBox 20"/>
          <p:cNvSpPr txBox="1"/>
          <p:nvPr/>
        </p:nvSpPr>
        <p:spPr>
          <a:xfrm>
            <a:off x="6675120" y="4562856"/>
            <a:ext cx="5394960" cy="594360"/>
          </a:xfrm>
          <a:prstGeom prst="rect">
            <a:avLst/>
          </a:prstGeom>
          <a:noFill/>
        </p:spPr>
        <p:txBody>
          <a:bodyPr wrap="square">
            <a:spAutoFit/>
          </a:bodyPr>
          <a:lstStyle/>
          <a:p>
            <a:pPr algn="l"/>
            <a:r>
              <a:rPr sz="1200" b="0" i="0">
                <a:solidFill>
                  <a:srgbClr val="D0D8E8"/>
                </a:solidFill>
              </a:rPr>
              <a:t>• Conducted in-depth interviews with parents
and tutors across income brackets</a:t>
            </a:r>
          </a:p>
        </p:txBody>
      </p:sp>
      <p:sp>
        <p:nvSpPr>
          <p:cNvPr id="22" name="TextBox 21"/>
          <p:cNvSpPr txBox="1"/>
          <p:nvPr/>
        </p:nvSpPr>
        <p:spPr>
          <a:xfrm>
            <a:off x="6675120" y="5221224"/>
            <a:ext cx="5394960" cy="594360"/>
          </a:xfrm>
          <a:prstGeom prst="rect">
            <a:avLst/>
          </a:prstGeom>
          <a:noFill/>
        </p:spPr>
        <p:txBody>
          <a:bodyPr wrap="square">
            <a:spAutoFit/>
          </a:bodyPr>
          <a:lstStyle/>
          <a:p>
            <a:pPr algn="l"/>
            <a:r>
              <a:rPr sz="1200" b="0" i="0">
                <a:solidFill>
                  <a:srgbClr val="D0D8E8"/>
                </a:solidFill>
              </a:rPr>
              <a:t>• Passionate about closing the opportunity gap
in academic support for underserved families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73152"/>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0" y="6492240"/>
            <a:ext cx="914400" cy="320040"/>
          </a:xfrm>
          <a:prstGeom prst="rect">
            <a:avLst/>
          </a:prstGeom>
          <a:noFill/>
        </p:spPr>
        <p:txBody>
          <a:bodyPr wrap="square">
            <a:spAutoFit/>
          </a:bodyPr>
          <a:lstStyle/>
          <a:p>
            <a:pPr algn="r"/>
            <a:r>
              <a:rPr sz="1000" b="0" i="0">
                <a:solidFill>
                  <a:srgbClr val="D0D8E8"/>
                </a:solidFill>
              </a:rPr>
              <a:t>9 / 10</a:t>
            </a:r>
          </a:p>
        </p:txBody>
      </p:sp>
      <p:sp>
        <p:nvSpPr>
          <p:cNvPr id="5" name="TextBox 4"/>
          <p:cNvSpPr txBox="1"/>
          <p:nvPr/>
        </p:nvSpPr>
        <p:spPr>
          <a:xfrm>
            <a:off x="640080" y="365760"/>
            <a:ext cx="4572000" cy="457200"/>
          </a:xfrm>
          <a:prstGeom prst="rect">
            <a:avLst/>
          </a:prstGeom>
          <a:noFill/>
        </p:spPr>
        <p:txBody>
          <a:bodyPr wrap="square">
            <a:spAutoFit/>
          </a:bodyPr>
          <a:lstStyle/>
          <a:p>
            <a:pPr algn="l"/>
            <a:r>
              <a:rPr sz="1200" b="1" i="0">
                <a:solidFill>
                  <a:srgbClr val="2D9C9C"/>
                </a:solidFill>
              </a:rPr>
              <a:t>WHY BETA?</a:t>
            </a:r>
          </a:p>
        </p:txBody>
      </p:sp>
      <p:sp>
        <p:nvSpPr>
          <p:cNvPr id="6" name="TextBox 5"/>
          <p:cNvSpPr txBox="1"/>
          <p:nvPr/>
        </p:nvSpPr>
        <p:spPr>
          <a:xfrm>
            <a:off x="640080" y="777240"/>
            <a:ext cx="6400800" cy="1188720"/>
          </a:xfrm>
          <a:prstGeom prst="rect">
            <a:avLst/>
          </a:prstGeom>
          <a:noFill/>
        </p:spPr>
        <p:txBody>
          <a:bodyPr wrap="square">
            <a:spAutoFit/>
          </a:bodyPr>
          <a:lstStyle/>
          <a:p>
            <a:pPr algn="l"/>
            <a:r>
              <a:rPr sz="3400" b="1" i="0">
                <a:solidFill>
                  <a:srgbClr val="FFFFFF"/>
                </a:solidFill>
              </a:rPr>
              <a:t>We are eager to learn,
eager to build.</a:t>
            </a:r>
          </a:p>
        </p:txBody>
      </p:sp>
      <p:sp>
        <p:nvSpPr>
          <p:cNvPr id="7" name="Rectangle 6"/>
          <p:cNvSpPr/>
          <p:nvPr/>
        </p:nvSpPr>
        <p:spPr>
          <a:xfrm>
            <a:off x="548640" y="2286000"/>
            <a:ext cx="3520440" cy="365760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86000"/>
            <a:ext cx="3520440" cy="91440"/>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514600"/>
            <a:ext cx="3108960" cy="731520"/>
          </a:xfrm>
          <a:prstGeom prst="rect">
            <a:avLst/>
          </a:prstGeom>
          <a:noFill/>
        </p:spPr>
        <p:txBody>
          <a:bodyPr wrap="square">
            <a:spAutoFit/>
          </a:bodyPr>
          <a:lstStyle/>
          <a:p>
            <a:pPr algn="l"/>
            <a:r>
              <a:rPr sz="1600" b="1" i="0">
                <a:solidFill>
                  <a:srgbClr val="2D9C9C"/>
                </a:solidFill>
              </a:rPr>
              <a:t>Design Thinking
&amp; Customer Feedback</a:t>
            </a:r>
          </a:p>
        </p:txBody>
      </p:sp>
      <p:sp>
        <p:nvSpPr>
          <p:cNvPr id="10" name="TextBox 9"/>
          <p:cNvSpPr txBox="1"/>
          <p:nvPr/>
        </p:nvSpPr>
        <p:spPr>
          <a:xfrm>
            <a:off x="731520" y="3337560"/>
            <a:ext cx="3108960" cy="2286000"/>
          </a:xfrm>
          <a:prstGeom prst="rect">
            <a:avLst/>
          </a:prstGeom>
          <a:noFill/>
        </p:spPr>
        <p:txBody>
          <a:bodyPr wrap="square">
            <a:spAutoFit/>
          </a:bodyPr>
          <a:lstStyle/>
          <a:p>
            <a:pPr algn="l"/>
            <a:r>
              <a:rPr sz="1300" b="0" i="0">
                <a:solidFill>
                  <a:srgbClr val="D0D8E8"/>
                </a:solidFill>
              </a:rPr>
              <a:t>We want to keep shaping MindCraft around real user needs — BETA's curriculum gives us the tools to do that rigorously.</a:t>
            </a:r>
          </a:p>
        </p:txBody>
      </p:sp>
      <p:sp>
        <p:nvSpPr>
          <p:cNvPr id="11" name="Rectangle 10"/>
          <p:cNvSpPr/>
          <p:nvPr/>
        </p:nvSpPr>
        <p:spPr>
          <a:xfrm>
            <a:off x="4389120" y="2286000"/>
            <a:ext cx="3520440" cy="365760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286000"/>
            <a:ext cx="3520440" cy="91440"/>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514600"/>
            <a:ext cx="3108960" cy="731520"/>
          </a:xfrm>
          <a:prstGeom prst="rect">
            <a:avLst/>
          </a:prstGeom>
          <a:noFill/>
        </p:spPr>
        <p:txBody>
          <a:bodyPr wrap="square">
            <a:spAutoFit/>
          </a:bodyPr>
          <a:lstStyle/>
          <a:p>
            <a:pPr algn="l"/>
            <a:r>
              <a:rPr sz="1600" b="1" i="0">
                <a:solidFill>
                  <a:srgbClr val="E8C46A"/>
                </a:solidFill>
              </a:rPr>
              <a:t>Financial Models
&amp; Valuation</a:t>
            </a:r>
          </a:p>
        </p:txBody>
      </p:sp>
      <p:sp>
        <p:nvSpPr>
          <p:cNvPr id="14" name="TextBox 13"/>
          <p:cNvSpPr txBox="1"/>
          <p:nvPr/>
        </p:nvSpPr>
        <p:spPr>
          <a:xfrm>
            <a:off x="4572000" y="3337560"/>
            <a:ext cx="3108960" cy="2286000"/>
          </a:xfrm>
          <a:prstGeom prst="rect">
            <a:avLst/>
          </a:prstGeom>
          <a:noFill/>
        </p:spPr>
        <p:txBody>
          <a:bodyPr wrap="square">
            <a:spAutoFit/>
          </a:bodyPr>
          <a:lstStyle/>
          <a:p>
            <a:pPr algn="l"/>
            <a:r>
              <a:rPr sz="1300" b="0" i="0">
                <a:solidFill>
                  <a:srgbClr val="D0D8E8"/>
                </a:solidFill>
              </a:rPr>
              <a:t>We don't yet have deep experience thinking through capital and long-term sustainability. We need that foundation.</a:t>
            </a:r>
          </a:p>
        </p:txBody>
      </p:sp>
      <p:sp>
        <p:nvSpPr>
          <p:cNvPr id="15" name="Rectangle 14"/>
          <p:cNvSpPr/>
          <p:nvPr/>
        </p:nvSpPr>
        <p:spPr>
          <a:xfrm>
            <a:off x="8229600" y="2286000"/>
            <a:ext cx="3520440" cy="3657600"/>
          </a:xfrm>
          <a:prstGeom prst="rect">
            <a:avLst/>
          </a:prstGeom>
          <a:solidFill>
            <a:srgbClr val="14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286000"/>
            <a:ext cx="3520440" cy="9144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514600"/>
            <a:ext cx="3108960" cy="731520"/>
          </a:xfrm>
          <a:prstGeom prst="rect">
            <a:avLst/>
          </a:prstGeom>
          <a:noFill/>
        </p:spPr>
        <p:txBody>
          <a:bodyPr wrap="square">
            <a:spAutoFit/>
          </a:bodyPr>
          <a:lstStyle/>
          <a:p>
            <a:pPr algn="l"/>
            <a:r>
              <a:rPr sz="1600" b="1" i="0">
                <a:solidFill>
                  <a:srgbClr val="7B5EA7"/>
                </a:solidFill>
              </a:rPr>
              <a:t>Mentor Network</a:t>
            </a:r>
          </a:p>
        </p:txBody>
      </p:sp>
      <p:sp>
        <p:nvSpPr>
          <p:cNvPr id="18" name="TextBox 17"/>
          <p:cNvSpPr txBox="1"/>
          <p:nvPr/>
        </p:nvSpPr>
        <p:spPr>
          <a:xfrm>
            <a:off x="8412480" y="3337560"/>
            <a:ext cx="3108960" cy="2286000"/>
          </a:xfrm>
          <a:prstGeom prst="rect">
            <a:avLst/>
          </a:prstGeom>
          <a:noFill/>
        </p:spPr>
        <p:txBody>
          <a:bodyPr wrap="square">
            <a:spAutoFit/>
          </a:bodyPr>
          <a:lstStyle/>
          <a:p>
            <a:pPr algn="l"/>
            <a:r>
              <a:rPr sz="1300" b="0" i="0">
                <a:solidFill>
                  <a:srgbClr val="D0D8E8"/>
                </a:solidFill>
              </a:rPr>
              <a:t>Pressure-testing our thinking with experienced operators will sharpen us in ways we cannot replicate on our own.</a:t>
            </a:r>
          </a:p>
        </p:txBody>
      </p:sp>
      <p:sp>
        <p:nvSpPr>
          <p:cNvPr id="19" name="TextBox 18"/>
          <p:cNvSpPr txBox="1"/>
          <p:nvPr/>
        </p:nvSpPr>
        <p:spPr>
          <a:xfrm>
            <a:off x="640080" y="5943600"/>
            <a:ext cx="10972800" cy="777240"/>
          </a:xfrm>
          <a:prstGeom prst="rect">
            <a:avLst/>
          </a:prstGeom>
          <a:noFill/>
        </p:spPr>
        <p:txBody>
          <a:bodyPr wrap="square">
            <a:spAutoFit/>
          </a:bodyPr>
          <a:lstStyle/>
          <a:p>
            <a:pPr algn="l"/>
            <a:r>
              <a:rPr sz="1300" b="0" i="1">
                <a:solidFill>
                  <a:srgbClr val="E8C46A"/>
                </a:solidFill>
              </a:rPr>
              <a:t>"Strong companies are not built by chasing the coolest features,
but by listening closely, learning quickly, and being willing to revise your thinking."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377440"/>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972800" cy="640080"/>
          </a:xfrm>
          <a:prstGeom prst="rect">
            <a:avLst/>
          </a:prstGeom>
          <a:noFill/>
        </p:spPr>
        <p:txBody>
          <a:bodyPr wrap="square">
            <a:spAutoFit/>
          </a:bodyPr>
          <a:lstStyle/>
          <a:p>
            <a:pPr algn="l"/>
            <a:r>
              <a:rPr sz="2400" b="1" i="0">
                <a:solidFill>
                  <a:srgbClr val="0D1B2A"/>
                </a:solidFill>
              </a:rPr>
              <a:t>Our goal is not simply to help students keep up —</a:t>
            </a:r>
          </a:p>
        </p:txBody>
      </p:sp>
      <p:sp>
        <p:nvSpPr>
          <p:cNvPr id="5" name="TextBox 4"/>
          <p:cNvSpPr txBox="1"/>
          <p:nvPr/>
        </p:nvSpPr>
        <p:spPr>
          <a:xfrm>
            <a:off x="731520" y="868680"/>
            <a:ext cx="10972800" cy="640080"/>
          </a:xfrm>
          <a:prstGeom prst="rect">
            <a:avLst/>
          </a:prstGeom>
          <a:noFill/>
        </p:spPr>
        <p:txBody>
          <a:bodyPr wrap="square">
            <a:spAutoFit/>
          </a:bodyPr>
          <a:lstStyle/>
          <a:p>
            <a:pPr algn="l"/>
            <a:r>
              <a:rPr sz="2400" b="1" i="0">
                <a:solidFill>
                  <a:srgbClr val="0D1B2A"/>
                </a:solidFill>
              </a:rPr>
              <a:t>but to help more of them genuinely thrive.</a:t>
            </a:r>
          </a:p>
        </p:txBody>
      </p:sp>
      <p:sp>
        <p:nvSpPr>
          <p:cNvPr id="6" name="TextBox 5"/>
          <p:cNvSpPr txBox="1"/>
          <p:nvPr/>
        </p:nvSpPr>
        <p:spPr>
          <a:xfrm>
            <a:off x="731520" y="1463040"/>
            <a:ext cx="10972800" cy="548640"/>
          </a:xfrm>
          <a:prstGeom prst="rect">
            <a:avLst/>
          </a:prstGeom>
          <a:noFill/>
        </p:spPr>
        <p:txBody>
          <a:bodyPr wrap="square">
            <a:spAutoFit/>
          </a:bodyPr>
          <a:lstStyle/>
          <a:p>
            <a:pPr algn="l"/>
            <a:r>
              <a:rPr sz="1600" b="0" i="1">
                <a:solidFill>
                  <a:srgbClr val="0D1B2A"/>
                </a:solidFill>
              </a:rPr>
              <a:t>Especially those who may not otherwise have access to high-quality academic support.</a:t>
            </a:r>
          </a:p>
        </p:txBody>
      </p:sp>
      <p:sp>
        <p:nvSpPr>
          <p:cNvPr id="7" name="TextBox 6"/>
          <p:cNvSpPr txBox="1"/>
          <p:nvPr/>
        </p:nvSpPr>
        <p:spPr>
          <a:xfrm>
            <a:off x="731520" y="2926080"/>
            <a:ext cx="5486400" cy="822960"/>
          </a:xfrm>
          <a:prstGeom prst="rect">
            <a:avLst/>
          </a:prstGeom>
          <a:noFill/>
        </p:spPr>
        <p:txBody>
          <a:bodyPr wrap="square">
            <a:spAutoFit/>
          </a:bodyPr>
          <a:lstStyle/>
          <a:p>
            <a:pPr algn="l"/>
            <a:r>
              <a:rPr sz="5200" b="1" i="0">
                <a:solidFill>
                  <a:srgbClr val="FFFFFF"/>
                </a:solidFill>
              </a:rPr>
              <a:t>MindCraft</a:t>
            </a:r>
          </a:p>
        </p:txBody>
      </p:sp>
      <p:sp>
        <p:nvSpPr>
          <p:cNvPr id="8" name="TextBox 7"/>
          <p:cNvSpPr txBox="1"/>
          <p:nvPr/>
        </p:nvSpPr>
        <p:spPr>
          <a:xfrm>
            <a:off x="731520" y="3749039"/>
            <a:ext cx="7315200" cy="548640"/>
          </a:xfrm>
          <a:prstGeom prst="rect">
            <a:avLst/>
          </a:prstGeom>
          <a:noFill/>
        </p:spPr>
        <p:txBody>
          <a:bodyPr wrap="square">
            <a:spAutoFit/>
          </a:bodyPr>
          <a:lstStyle/>
          <a:p>
            <a:pPr algn="l"/>
            <a:r>
              <a:rPr sz="2200" b="0" i="0">
                <a:solidFill>
                  <a:srgbClr val="E8C46A"/>
                </a:solidFill>
              </a:rPr>
              <a:t>Let's build it together.</a:t>
            </a:r>
          </a:p>
        </p:txBody>
      </p:sp>
      <p:sp>
        <p:nvSpPr>
          <p:cNvPr id="9" name="Rectangle 8"/>
          <p:cNvSpPr/>
          <p:nvPr/>
        </p:nvSpPr>
        <p:spPr>
          <a:xfrm>
            <a:off x="731520" y="4434840"/>
            <a:ext cx="3657600" cy="54864"/>
          </a:xfrm>
          <a:prstGeom prst="rect">
            <a:avLst/>
          </a:prstGeom>
          <a:solidFill>
            <a:srgbClr val="2D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663440"/>
            <a:ext cx="8229600" cy="411480"/>
          </a:xfrm>
          <a:prstGeom prst="rect">
            <a:avLst/>
          </a:prstGeom>
          <a:noFill/>
        </p:spPr>
        <p:txBody>
          <a:bodyPr wrap="square">
            <a:spAutoFit/>
          </a:bodyPr>
          <a:lstStyle/>
          <a:p>
            <a:pPr algn="l"/>
            <a:r>
              <a:rPr sz="1400" b="0" i="0">
                <a:solidFill>
                  <a:srgbClr val="D0D8E8"/>
                </a:solidFill>
              </a:rPr>
              <a:t>Akshat Koirala   |   akoirala@macalester.edu</a:t>
            </a:r>
          </a:p>
        </p:txBody>
      </p:sp>
      <p:sp>
        <p:nvSpPr>
          <p:cNvPr id="11" name="TextBox 10"/>
          <p:cNvSpPr txBox="1"/>
          <p:nvPr/>
        </p:nvSpPr>
        <p:spPr>
          <a:xfrm>
            <a:off x="731520" y="5074920"/>
            <a:ext cx="3657600" cy="365760"/>
          </a:xfrm>
          <a:prstGeom prst="rect">
            <a:avLst/>
          </a:prstGeom>
          <a:noFill/>
        </p:spPr>
        <p:txBody>
          <a:bodyPr wrap="square">
            <a:spAutoFit/>
          </a:bodyPr>
          <a:lstStyle/>
          <a:p>
            <a:pPr algn="l"/>
            <a:r>
              <a:rPr sz="1400" b="0" i="0">
                <a:solidFill>
                  <a:srgbClr val="2D9C9C"/>
                </a:solidFill>
              </a:rPr>
              <a:t>mindcraft.study</a:t>
            </a:r>
          </a:p>
        </p:txBody>
      </p:sp>
      <p:sp>
        <p:nvSpPr>
          <p:cNvPr id="12" name="TextBox 11"/>
          <p:cNvSpPr txBox="1"/>
          <p:nvPr/>
        </p:nvSpPr>
        <p:spPr>
          <a:xfrm>
            <a:off x="8686800" y="2286000"/>
            <a:ext cx="3200400" cy="4114800"/>
          </a:xfrm>
          <a:prstGeom prst="rect">
            <a:avLst/>
          </a:prstGeom>
          <a:noFill/>
        </p:spPr>
        <p:txBody>
          <a:bodyPr wrap="square">
            <a:spAutoFit/>
          </a:bodyPr>
          <a:lstStyle/>
          <a:p>
            <a:pPr algn="ctr"/>
            <a:r>
              <a:rPr sz="26000" b="1" i="0">
                <a:solidFill>
                  <a:srgbClr val="1A3550"/>
                </a:solidFill>
              </a:rPr>
              <a:t>M</a:t>
            </a:r>
          </a:p>
        </p:txBody>
      </p:sp>
      <p:sp>
        <p:nvSpPr>
          <p:cNvPr id="13" name="Rectangle 12"/>
          <p:cNvSpPr/>
          <p:nvPr/>
        </p:nvSpPr>
        <p:spPr>
          <a:xfrm>
            <a:off x="0" y="6309360"/>
            <a:ext cx="12188952" cy="73152"/>
          </a:xfrm>
          <a:prstGeom prst="rect">
            <a:avLst/>
          </a:prstGeom>
          <a:solidFill>
            <a:srgbClr val="E8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